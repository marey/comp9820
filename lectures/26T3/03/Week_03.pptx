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  <p:sldMasterId id="2147483648" r:id="rId2"/>
  </p:sldMasterIdLst>
  <p:notesMasterIdLst>
    <p:notesMasterId r:id="rId17"/>
  </p:notesMasterIdLst>
  <p:sldIdLst>
    <p:sldId id="258" r:id="rId3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8"/>
    <p:sldId id="268" r:id="rId7"/>
    <p:sldId id="269" r:id="rId6"/>
    <p:sldId id="270" r:id="rId5"/>
    <p:sldId id="271" r:id="rId4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74B58"/>
    <a:srgbClr val="B9BC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160"/>
    <p:restoredTop sz="95187"/>
  </p:normalViewPr>
  <p:slideViewPr>
    <p:cSldViewPr snapToGrid="0" snapToObjects="1">
      <p:cViewPr varScale="1">
        <p:scale>
          <a:sx n="125" d="100"/>
          <a:sy n="125" d="100"/>
        </p:scale>
        <p:origin x="512" y="1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14.xml"/><Relationship Id="rId5" Type="http://schemas.openxmlformats.org/officeDocument/2006/relationships/slide" Target="slides/slide13.xml"/><Relationship Id="rId6" Type="http://schemas.openxmlformats.org/officeDocument/2006/relationships/slide" Target="slides/slide12.xml"/><Relationship Id="rId7" Type="http://schemas.openxmlformats.org/officeDocument/2006/relationships/slide" Target="slides/slide11.xml"/><Relationship Id="rId8" Type="http://schemas.openxmlformats.org/officeDocument/2006/relationships/slide" Target="slides/slide10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070052-2F0F-4341-AB59-DFAC45B6DC5E}" type="datetimeFigureOut">
              <a:rPr kumimoji="1" lang="zh-CN" altLang="en-US" smtClean="0"/>
              <a:t>2025/9/27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754330-464F-6C48-9E0A-0BE5231228A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8590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5581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474B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775C9F9-72EB-0844-B732-A9C529678127}"/>
              </a:ext>
            </a:extLst>
          </p:cNvPr>
          <p:cNvSpPr txBox="1"/>
          <p:nvPr userDrawn="1"/>
        </p:nvSpPr>
        <p:spPr>
          <a:xfrm>
            <a:off x="3846890" y="6509952"/>
            <a:ext cx="44982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zh-CN" alt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US" altLang="zh-CN" sz="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zh-CN" altLang="en-US" sz="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n-US" altLang="zh-CN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zh-CN" alt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US" altLang="zh-CN" sz="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zh-CN" altLang="en-US" sz="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zh-CN" alt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altLang="zh-CN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zh-CN" alt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US" altLang="zh-CN" sz="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zh-CN" altLang="en-US" sz="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n-US" altLang="zh-CN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zh-CN" alt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US" altLang="zh-CN" sz="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zh-CN" alt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US" altLang="zh-CN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zh-CN" alt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US" altLang="zh-CN" sz="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zh-CN" altLang="en-US" sz="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n-US" altLang="zh-CN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endParaRPr lang="en-US" sz="11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30008E94-2193-3640-9D78-22B8400610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1342" t="35858" r="20439" b="39368"/>
          <a:stretch/>
        </p:blipFill>
        <p:spPr>
          <a:xfrm>
            <a:off x="10348096" y="205833"/>
            <a:ext cx="1527712" cy="650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86519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74B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079B535-F7E1-874F-A7C3-F7FAEBB80495}"/>
              </a:ext>
            </a:extLst>
          </p:cNvPr>
          <p:cNvCxnSpPr/>
          <p:nvPr userDrawn="1"/>
        </p:nvCxnSpPr>
        <p:spPr>
          <a:xfrm>
            <a:off x="6194325" y="2359742"/>
            <a:ext cx="0" cy="1681316"/>
          </a:xfrm>
          <a:prstGeom prst="line">
            <a:avLst/>
          </a:prstGeom>
          <a:ln w="19050">
            <a:solidFill>
              <a:srgbClr val="B9BC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EF69816-A42C-B343-AAB8-301E41F3BBE5}"/>
              </a:ext>
            </a:extLst>
          </p:cNvPr>
          <p:cNvGrpSpPr/>
          <p:nvPr userDrawn="1"/>
        </p:nvGrpSpPr>
        <p:grpSpPr>
          <a:xfrm>
            <a:off x="7124176" y="2244588"/>
            <a:ext cx="1531188" cy="1996374"/>
            <a:chOff x="6982134" y="2561813"/>
            <a:chExt cx="1531188" cy="1996374"/>
          </a:xfrm>
        </p:grpSpPr>
        <p:pic>
          <p:nvPicPr>
            <p:cNvPr id="9" name="Picture 8" descr="Qr code&#10;&#10;Description automatically generated">
              <a:extLst>
                <a:ext uri="{FF2B5EF4-FFF2-40B4-BE49-F238E27FC236}">
                  <a16:creationId xmlns:a16="http://schemas.microsoft.com/office/drawing/2014/main" id="{21F5D0C7-795B-5E49-8E19-F705DBD2C5F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7109142" y="2561813"/>
              <a:ext cx="1277173" cy="1277173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2C5C4B6-085E-0D43-83F6-208E5A375552}"/>
                </a:ext>
              </a:extLst>
            </p:cNvPr>
            <p:cNvSpPr txBox="1"/>
            <p:nvPr userDrawn="1"/>
          </p:nvSpPr>
          <p:spPr>
            <a:xfrm>
              <a:off x="6982134" y="4041058"/>
              <a:ext cx="1531188" cy="5171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200" b="1" spc="300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扫码添加小助手</a:t>
              </a:r>
            </a:p>
            <a:p>
              <a:pPr algn="ctr">
                <a:lnSpc>
                  <a:spcPct val="120000"/>
                </a:lnSpc>
              </a:pPr>
              <a:r>
                <a:rPr lang="en-US" sz="1200" b="1" spc="300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获取更多内容</a:t>
              </a:r>
            </a:p>
          </p:txBody>
        </p:sp>
      </p:grpSp>
      <p:pic>
        <p:nvPicPr>
          <p:cNvPr id="11" name="Picture 10" descr="Text&#10;&#10;Description automatically generated">
            <a:extLst>
              <a:ext uri="{FF2B5EF4-FFF2-40B4-BE49-F238E27FC236}">
                <a16:creationId xmlns:a16="http://schemas.microsoft.com/office/drawing/2014/main" id="{9F45D70B-5AC5-2345-B30B-352D5A4689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21342" t="35858" r="20439" b="39368"/>
          <a:stretch/>
        </p:blipFill>
        <p:spPr>
          <a:xfrm>
            <a:off x="1315897" y="2444493"/>
            <a:ext cx="3751929" cy="1596565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90057085-827A-E444-A3F9-E7493FCBF113}"/>
              </a:ext>
            </a:extLst>
          </p:cNvPr>
          <p:cNvGrpSpPr/>
          <p:nvPr userDrawn="1"/>
        </p:nvGrpSpPr>
        <p:grpSpPr>
          <a:xfrm>
            <a:off x="9112449" y="2244588"/>
            <a:ext cx="1338828" cy="1996374"/>
            <a:chOff x="9570323" y="2561813"/>
            <a:chExt cx="1338828" cy="1996374"/>
          </a:xfrm>
        </p:grpSpPr>
        <p:pic>
          <p:nvPicPr>
            <p:cNvPr id="3" name="Picture 2" descr="Qr code&#10;&#10;Description automatically generated">
              <a:extLst>
                <a:ext uri="{FF2B5EF4-FFF2-40B4-BE49-F238E27FC236}">
                  <a16:creationId xmlns:a16="http://schemas.microsoft.com/office/drawing/2014/main" id="{BD81C656-79CB-A841-933E-F88494E4A5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9570323" y="2561813"/>
              <a:ext cx="1277173" cy="1277173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C0BA601-909E-B745-BE62-17C4BB756909}"/>
                </a:ext>
              </a:extLst>
            </p:cNvPr>
            <p:cNvSpPr txBox="1"/>
            <p:nvPr userDrawn="1"/>
          </p:nvSpPr>
          <p:spPr>
            <a:xfrm>
              <a:off x="9570323" y="4041058"/>
              <a:ext cx="1338828" cy="5171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200" b="1" spc="300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扫码关注B站</a:t>
              </a:r>
            </a:p>
            <a:p>
              <a:pPr algn="ctr">
                <a:lnSpc>
                  <a:spcPct val="120000"/>
                </a:lnSpc>
              </a:pPr>
              <a:r>
                <a:rPr lang="en-US" sz="1200" b="1" spc="300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了解更多课程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18637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74B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5041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1">
            <a:extLst>
              <a:ext uri="{FF2B5EF4-FFF2-40B4-BE49-F238E27FC236}">
                <a16:creationId xmlns:a16="http://schemas.microsoft.com/office/drawing/2014/main" id="{7EE3692F-8E5E-DC21-38B2-2BEAD6B8A428}"/>
              </a:ext>
            </a:extLst>
          </p:cNvPr>
          <p:cNvSpPr txBox="1"/>
          <p:nvPr/>
        </p:nvSpPr>
        <p:spPr>
          <a:xfrm>
            <a:off x="1764802" y="4433297"/>
            <a:ext cx="30002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</a:rPr>
              <a:t>COMP9820 Week 3</a:t>
            </a:r>
            <a:r>
              <a:rPr lang="zh-CN" altLang="en-US" sz="3200" b="1" dirty="0">
                <a:solidFill>
                  <a:schemeClr val="bg1"/>
                </a:solidFill>
              </a:rPr>
              <a:t/>
            </a:r>
            <a:r>
              <a:rPr lang="en-US" altLang="zh-CN" sz="3200" b="1" dirty="0">
                <a:solidFill>
                  <a:schemeClr val="bg1"/>
                </a:solidFill>
              </a:rPr>
              <a:t/>
            </a:r>
            <a:r>
              <a:rPr lang="zh-CN" altLang="en-US" sz="3200" b="1" dirty="0">
                <a:solidFill>
                  <a:schemeClr val="bg1"/>
                </a:solidFill>
              </a:rPr>
              <a:t/>
            </a:r>
            <a:r>
              <a:rPr lang="en-US" altLang="zh-CN" sz="3200" b="1" dirty="0">
                <a:solidFill>
                  <a:schemeClr val="bg1"/>
                </a:solidFill>
              </a:rPr>
              <a:t/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2444763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本节班课内容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71600"/>
            <a:ext cx="9966960" cy="47548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zh-CN" sz="1900" b="1" dirty="0">
                <a:solidFill>
                  <a:srgbClr val="FFFFFF"/>
                </a:solidFill>
                <a:latin typeface="Arial"/>
              </a:rPr>
              <a:t>Key Principles: Software Architecture and Design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软件架构与设计的核心原则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zh-CN" sz="1900" b="1" dirty="0">
                <a:solidFill>
                  <a:srgbClr val="FFFFFF"/>
                </a:solidFill>
                <a:latin typeface="Arial"/>
              </a:rPr>
              <a:t>How engineers think about and communicate design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工程师怎么思考设计、怎么用图来沟通设计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zh-CN" sz="1900" b="1" dirty="0">
                <a:solidFill>
                  <a:srgbClr val="FFFFFF"/>
                </a:solidFill>
                <a:latin typeface="Arial"/>
              </a:rPr>
              <a:t>Agile design: connecting principles to architecture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敏捷设计：把敏捷原则落到架构上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zh-CN" sz="1900" b="1" dirty="0">
                <a:solidFill>
                  <a:srgbClr val="FFFFFF"/>
                </a:solidFill>
                <a:latin typeface="Arial"/>
              </a:rPr>
              <a:t>Web application components: front end, API, back end and data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Web 应用的四块：前端、API、后端、数据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zh-CN" sz="1900" b="1" dirty="0">
                <a:solidFill>
                  <a:srgbClr val="FFFFFF"/>
                </a:solidFill>
                <a:latin typeface="Arial"/>
              </a:rPr>
              <a:t>Design principles for non-functional requirements / qualities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面向非功能需求（安全、性能、可维护…）的设计原则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zh-CN" sz="1900" b="1" dirty="0">
                <a:solidFill>
                  <a:srgbClr val="FFFFFF"/>
                </a:solidFill>
                <a:latin typeface="Arial"/>
              </a:rPr>
              <a:t>Typical Software Architectural Patterns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常见架构模式：分层、MVC、微服务（事件驱动一页课上跳过了）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zh-CN" sz="1900" b="1" dirty="0">
                <a:solidFill>
                  <a:srgbClr val="FFFFFF"/>
                </a:solidFill>
                <a:latin typeface="Arial"/>
              </a:rPr>
              <a:t>Design decisions within Scrum and CI/CD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在 Scrum 和 CI/CD 里怎么做设计决策（垂直切片）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zh-CN" sz="1900" b="1" dirty="0">
                <a:solidFill>
                  <a:srgbClr val="FFFFFF"/>
                </a:solidFill>
                <a:latin typeface="Arial"/>
              </a:rPr>
              <a:t>Architecture and design choices and its implications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架构选择的取舍和后果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zh-CN" sz="1900" b="1" dirty="0">
                <a:solidFill>
                  <a:srgbClr val="FFFFFF"/>
                </a:solidFill>
                <a:latin typeface="Arial"/>
              </a:rPr>
              <a:t>Project Work – </a:t>
            </a:r>
            <a:r>
              <a:rPr lang="en-US" altLang="zh-CN" sz="1900" b="1" dirty="0">
                <a:solidFill>
                  <a:srgbClr val="F4B183"/>
                </a:solidFill>
                <a:latin typeface="Arial"/>
              </a:rPr>
              <a:t>Sprint 1 Assessment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Sprint 1 评估：下周 Demo + 三份报告的要求（本周必看）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2377440"/>
            <a:ext cx="9692640" cy="2011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4000" b="1" dirty="0">
                <a:solidFill>
                  <a:srgbClr val="FFFFFF"/>
                </a:solidFill>
                <a:latin typeface="Arial"/>
              </a:rPr>
              <a:t>Software Architecture and Design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altLang="zh-CN" sz="2600" b="0" dirty="0">
                <a:solidFill>
                  <a:srgbClr val="BDD7EE"/>
                </a:solidFill>
                <a:latin typeface="Arial"/>
              </a:rPr>
              <a:t>软件架构与设计：核心原则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这章讲清"架构、设计、模式、代码"各是什么层级的事——本 Sprint 不评估设计与架构，但要带着这套思维做项目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4663440"/>
            <a:ext cx="9966960" cy="45720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讲师的定位：这个主题本身可以是一门课，今天只是让你们"接触"这些概念，不指望在项目里大量应用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" y="5029200"/>
            <a:ext cx="9966960" cy="45720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设计与架构在 Sprint 1 不评估（讲师认为 Sprint 2、3 也不会），但 COMP9900 的 proposal / final report 会大比重考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600" b="1" dirty="0">
                <a:solidFill>
                  <a:srgbClr val="FFFFFF"/>
                </a:solidFill>
                <a:latin typeface="Arial"/>
              </a:rPr>
              <a:t>Software architecture, design and patterns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架构、设计与模式：同一个推理过程的不同层级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25880"/>
            <a:ext cx="9966960" cy="484632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Different levels of the same reasoning process</a:t>
            </a:r>
          </a:p>
          <a:p>
            <a:pPr marL="3429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Architecture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 — Major parts of the system and their relationships.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架构：系统由哪几大块组成、它们怎么连接（比如前端 / API / 数据库）</a:t>
            </a:r>
          </a:p>
          <a:p>
            <a:pPr marL="3429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Application design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 — Responsibilities, modules, interfaces and dependencies.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应用设计：每块负责什么、模块怎么划分、接口和依赖是什么</a:t>
            </a:r>
          </a:p>
          <a:p>
            <a:pPr marL="3429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Design patterns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 — Reusable structures for recurring design problems.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设计模式：针对反复出现的问题的"现成套路"（讲师的例子：登录 / 认证，不必重新发明轮子）</a:t>
            </a:r>
          </a:p>
          <a:p>
            <a:pPr marL="3429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Implementation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 — Functions, classes, data structures, code and tests.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实现：真正写出来的函数、类、数据结构、代码和测试</a:t>
            </a:r>
          </a:p>
          <a:p>
            <a:pPr marL="3429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The boundary is not rigid.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这几层的边界不是死的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Architecture focuses on the decisions that are expensive or risky to change later. Design continues inside those architectural boundaries.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架构 = 决策而不只是图，早期决策会跟很久——讲师举例：Facebook 信息流撑不住后被迫根本性重构架构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Design operates at different levels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设计在不同层级上进行</a:t>
            </a:r>
          </a:p>
        </p:txBody>
      </p:sp>
      <p:pic>
        <p:nvPicPr>
          <p:cNvPr id="3" name="Picture 2" descr="lev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68438"/>
            <a:ext cx="6400800" cy="35040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78040" y="1280160"/>
            <a:ext cx="4526280" cy="47548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Architecture</a:t>
            </a: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 — Major parts and communication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最上层：大块划分及它们之间怎么通信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Application structure</a:t>
            </a: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 — Responsibilities and boundaries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应用结构：职责与边界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Component design</a:t>
            </a: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 — Interfaces and dependencies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组件设计：接口与依赖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Implementation</a:t>
            </a: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 — Functions, classes and tests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最底层：函数、类、测试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Move between levels as needed. Do not start with code-level detail when the system boundary is unclear.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按需在层级间切换；系统边界还没定清楚之前，别急着抠代码细节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600" b="1" dirty="0">
                <a:solidFill>
                  <a:srgbClr val="FFFFFF"/>
                </a:solidFill>
                <a:latin typeface="Arial"/>
              </a:rPr>
              <a:t>How software engineers think about design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工程师思考设计时会问自己的 6 个问题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71600"/>
            <a:ext cx="5120640" cy="47548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en-US" altLang="zh-CN" sz="1900" b="1" dirty="0">
                <a:solidFill>
                  <a:srgbClr val="FFFFFF"/>
                </a:solidFill>
                <a:latin typeface="Arial"/>
              </a:rPr>
              <a:t>What problem are we solving?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500" b="0" dirty="0">
                <a:solidFill>
                  <a:srgbClr val="BDD7EE"/>
                </a:solidFill>
                <a:latin typeface="Arial"/>
              </a:rPr>
              <a:t>我们到底在解决什么问题？（先回到用户故事）</a:t>
            </a:r>
          </a:p>
          <a:p>
            <a:pPr marL="342900" indent="-342900"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en-US" altLang="zh-CN" sz="1900" b="1" dirty="0">
                <a:solidFill>
                  <a:srgbClr val="FFFFFF"/>
                </a:solidFill>
                <a:latin typeface="Arial"/>
              </a:rPr>
              <a:t>What must change later?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500" b="0" dirty="0">
                <a:solidFill>
                  <a:srgbClr val="BDD7EE"/>
                </a:solidFill>
                <a:latin typeface="Arial"/>
              </a:rPr>
              <a:t>以后哪些地方可能会变？（要给它留改动空间）</a:t>
            </a:r>
          </a:p>
          <a:p>
            <a:pPr marL="342900" indent="-342900"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en-US" altLang="zh-CN" sz="1900" b="1" dirty="0">
                <a:solidFill>
                  <a:srgbClr val="FFFFFF"/>
                </a:solidFill>
                <a:latin typeface="Arial"/>
              </a:rPr>
              <a:t>What belongs together?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500" b="0" dirty="0">
                <a:solidFill>
                  <a:srgbClr val="BDD7EE"/>
                </a:solidFill>
                <a:latin typeface="Arial"/>
              </a:rPr>
              <a:t>哪些东西应该放在一起？（高内聚）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3095" y="1371600"/>
            <a:ext cx="5303520" cy="47548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en-US" altLang="zh-CN" sz="1900" b="1" dirty="0">
                <a:solidFill>
                  <a:srgbClr val="FFFFFF"/>
                </a:solidFill>
                <a:latin typeface="Arial"/>
              </a:rPr>
              <a:t>What should stay separate?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500" b="0" dirty="0">
                <a:solidFill>
                  <a:srgbClr val="BDD7EE"/>
                </a:solidFill>
                <a:latin typeface="Arial"/>
              </a:rPr>
              <a:t>哪些应该分开？（低耦合、关注点分离）</a:t>
            </a:r>
          </a:p>
          <a:p>
            <a:pPr marL="342900" indent="-342900"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en-US" altLang="zh-CN" sz="1900" b="1" dirty="0">
                <a:solidFill>
                  <a:srgbClr val="FFFFFF"/>
                </a:solidFill>
                <a:latin typeface="Arial"/>
              </a:rPr>
              <a:t>How will we test it?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500" b="0" dirty="0">
                <a:solidFill>
                  <a:srgbClr val="BDD7EE"/>
                </a:solidFill>
                <a:latin typeface="Arial"/>
              </a:rPr>
              <a:t>怎么测试？（设计时就要考虑可测试性，第 4 周 TDD 会用到）</a:t>
            </a:r>
          </a:p>
          <a:p>
            <a:pPr marL="342900" indent="-342900"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en-US" altLang="zh-CN" sz="1900" b="1" dirty="0">
                <a:solidFill>
                  <a:srgbClr val="FFFFFF"/>
                </a:solidFill>
                <a:latin typeface="Arial"/>
              </a:rPr>
              <a:t>What could fail?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500" b="0" dirty="0">
                <a:solidFill>
                  <a:srgbClr val="BDD7EE"/>
                </a:solidFill>
                <a:latin typeface="Arial"/>
              </a:rPr>
              <a:t>哪里可能出错？（依赖挂了、用户乱输入怎么办）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600" b="1" dirty="0">
                <a:solidFill>
                  <a:srgbClr val="FFFFFF"/>
                </a:solidFill>
                <a:latin typeface="Arial"/>
              </a:rPr>
              <a:t>Architecture diagrams support communication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架构图是用来沟通的，图不等于架构：C4 模型的 4 个层级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25880"/>
            <a:ext cx="9966960" cy="484632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1  Context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 — Who uses the system?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语境图：谁在用这个系统、跟哪些外部系统打交道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2  Containers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 — What applications and data stores exist?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容器图：有哪些应用和数据存储（前端、API、数据库）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3  Components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 — What responsibilities sit inside an application?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组件图：一个应用内部有哪些职责模块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4  Flow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 — How does a request move through the system?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流程图：一个请求怎么在系统里流转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Tools: whiteboard • diagrams.net • Mermaid • PlantUML • C4-based tools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工具随便选：白板、diagrams.net、Mermaid、PlantUML；别陷进工具里把图做得完美——决策才重要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600" b="1" dirty="0">
                <a:solidFill>
                  <a:srgbClr val="FFFFFF"/>
                </a:solidFill>
                <a:latin typeface="Arial"/>
              </a:rPr>
              <a:t>How software engineers think about design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从需求出发：先定职责，再定边界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25880"/>
            <a:ext cx="9966960" cy="484632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Start from a need, then assign responsibilities and boundaries</a:t>
            </a:r>
          </a:p>
          <a:p>
            <a:pPr marL="3429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User story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 — What value must we deliver?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用户故事：要交付什么价值</a:t>
            </a:r>
          </a:p>
          <a:p>
            <a:pPr marL="3429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Responsibilities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 — What must the system do?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职责：系统必须做什么</a:t>
            </a:r>
          </a:p>
          <a:p>
            <a:pPr marL="3429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Components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 — Where should each responsibility live?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组件：每个职责放在哪个模块</a:t>
            </a:r>
          </a:p>
          <a:p>
            <a:pPr marL="3429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Interfaces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 — How do components communicate?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接口：组件之间怎么通信</a:t>
            </a:r>
          </a:p>
          <a:p>
            <a:pPr marL="3429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Quality checks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 — Will it remain secure, testable and changeable?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质量检查：是否安全、可测试、可修改</a:t>
            </a:r>
          </a:p>
          <a:p>
            <a:pPr marL="3429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Example user story: As a group member, I want to record an expense so that the group knows who paid and what everyone owes.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示例故事（就是你们的 Shared Expense Splitter）：作为群组成员，我想记录一笔开销，让大家知道谁付了钱、每人欠多少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2377440"/>
            <a:ext cx="9692640" cy="2011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4000" b="1" dirty="0">
                <a:solidFill>
                  <a:srgbClr val="FFFFFF"/>
                </a:solidFill>
                <a:latin typeface="Arial"/>
              </a:rPr>
              <a:t>From Agile to Design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altLang="zh-CN" sz="2600" b="0" dirty="0">
                <a:solidFill>
                  <a:srgbClr val="BDD7EE"/>
                </a:solidFill>
                <a:latin typeface="Arial"/>
              </a:rPr>
              <a:t>从敏捷到设计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先做个课堂活动、回顾敏捷宣言，再看第 9 / 10 / 11 条原则怎么变成"技术设计责任"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From Agile to Design – Class Activity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课堂活动：先想两个问题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25880"/>
            <a:ext cx="9966960" cy="484632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FFFFFF"/>
                </a:solidFill>
                <a:latin typeface="Arial"/>
              </a:rPr>
              <a:t>What guides Agile teams in creating software architecture and design?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什么在指导敏捷团队做架构和设计？（提示：敏捷宣言的 4 条价值观和 12 条原则）</a:t>
            </a:r>
          </a:p>
          <a:p>
            <a:pPr marL="342900" indent="-3429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FFFFFF"/>
                </a:solidFill>
                <a:latin typeface="Arial"/>
              </a:rPr>
              <a:t>How does the Agile methodology approach software architecture and design?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敏捷方法怎么对待架构和设计？（提示：不是一开始画完整蓝图，而是每个 Sprint 迭代演进）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课堂答案：学生答"简单"和"软件架构师"；讲师：架构师牵头但不单干——客户带来领域知识（股票交易要事件驱动的例子）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讲师提醒：面试被问"怎么看设计和架构"时，就引用这 4 条价值观和 12 条原则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Agile Manifesto – Values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敏捷宣言：4 条价值观（第 2 周讲过，快速回顾）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25880"/>
            <a:ext cx="9966960" cy="484632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“We are uncovering better ways of developing software by doing it and helping others do it. Through this work we have come to value:”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我们在实践中总结出更好的开发方式，并看重下面 4 点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Individuals and interactions</a:t>
            </a: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 over processes and tools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人和沟通 &gt; 流程和工具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Working software</a:t>
            </a: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 over comprehensive documentation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能跑的软件 &gt; 大而全的文档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Customer collaboration</a:t>
            </a: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 over contract negotiation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和客户合作 &gt; 合同谈判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Responding to change</a:t>
            </a: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 over following a plan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响应变化 &gt; 死守计划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The items on the left are more valued than those at the right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右边的也有价值，只是左边更重要——本周的设计原则就是从这 4 条推出来的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Agile Manifesto: http://agilemanifesto.org/  © 2001, the above authors. This declaration may be freely copied in any form, but only in its entirety through this notice.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Agile Principles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敏捷 12 原则：本周只盯跟"设计"直接相关的三条</a:t>
            </a:r>
          </a:p>
        </p:txBody>
      </p:sp>
      <p:pic>
        <p:nvPicPr>
          <p:cNvPr id="3" name="Picture 2" descr="principle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03379"/>
            <a:ext cx="7315200" cy="314268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92440" y="1280160"/>
            <a:ext cx="3611879" cy="47548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9. Continuous attention to technical excellence and good design enhances agility.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第 9 条：持续关注技术卓越和好设计——这是本周整节课的出发点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10. Simplicity – the art of maximizing the amount of work not done – is essential.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第 10 条：简单——别为想象中的需求造复杂架构（后面讲的 YAGNI）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11. The best architectures, requirements, and designs emerge from self-organizing teams.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第 11 条：好架构是团队自己"长"出来的（涌现式架构）；课上学生答出第 9 条，第 11 条是讲师补的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Agile Alliance: http://www.agilealliance.org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完整 12 条的逐条解释见第 2 周课件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Agile values and design decisions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敏捷价值观 → 设计决策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25880"/>
            <a:ext cx="9966960" cy="484632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Agile principles create technical design responsibilities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敏捷原则会带来技术设计责任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Working software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 → Design enough structure to deliver a usable increment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能跑的软件：设计"刚好够"的结构来交付一个可用的增量，不多不少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Responding to change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 → Keep responsibilities and dependencies easy to change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响应变化：让职责和依赖容易改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Technical excellence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 → Use testing, refactoring and clear interfaces to sustain speed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技术卓越：靠测试、重构、清晰的接口来保持长期开发速度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Customer collaboration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 → Use feedback to validate both behaviour and priorities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客户协作：用反馈验证功能对不对、优先级对不对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The technical choices behind an increment affect how easily the team can respond to change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每个增量背后的技术选择，决定了团队以后响应变化有多容易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600" b="1" dirty="0">
                <a:solidFill>
                  <a:srgbClr val="FFFFFF"/>
                </a:solidFill>
                <a:latin typeface="Arial"/>
              </a:rPr>
              <a:t>From Agile to Software Design &amp; Architecture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从敏捷到软件设计与架构：三步桥梁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25880"/>
            <a:ext cx="9966960" cy="484632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Agile → Scrum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: User stories, acceptance criteria, Sprint planning, iterative delivery.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敏捷 → Scrum：用户故事、验收标准、Sprint 计划、迭代交付（第 2 周）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Design → Architecture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: Translate stories and quality needs into components, responsibilities and boundaries.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设计 → 架构：把故事和质量要求翻译成组件、职责、边界（本周）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Build quality in → Software Features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: Build, Test, Integrate, Refactoring, Deployment (DevOps).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内建质量 → 软件功能：构建、测试、集成、重构、部署（第 4–6 周）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Turning Agile planning into technical design decisions, and software features to be delivered and deployed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一句话：把敏捷计划变成技术设计决策，再变成能交付、能部署的功能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Agile principles make the bridge explicit: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敏捷原则把这座桥说得很明白：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Continuous attention to technical excellence and good design enhances agility.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Simplicity helps teams avoid unnecessary work.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Architectures and designs can emerge through collaboration and feedback.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What you should be able to learn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本周学完你应该能做到的 6 件事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25880"/>
            <a:ext cx="9966960" cy="484632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Identify the main components of a web application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说出一个 Web 应用的主要组成部分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Explain the difference between architecture, design principles and design patterns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分清架构、设计原则、设计模式的区别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Draw a simple architecture or request-flow diagram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画一张简单的架构图或请求流程图（简单就好，你们的应用本来就简单）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Use separation of concerns, cohesion and coupling to discuss a design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用关注点分离、内聚、耦合这些词来讨论一个设计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Relate design decisions to maintainability, testability and extensibility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把设计决策和可维护、可测试、可扩展联系起来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Explain how design evolves within Scrum and CI/CD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解释设计在 Scrum 和 CI/CD 里是怎么一步步演进的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How to draw architecture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怎么画架构图：画到能回答问题就够，不用画全部细节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71600"/>
            <a:ext cx="5486400" cy="47548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Draw enough to answer a question, not every detail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A useful zoom model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一个有用的"缩放模型"（C4）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1. Context</a:t>
            </a: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 — Who uses the system? What external systems matter?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谁在用、跟哪些外部系统有关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2. Containers</a:t>
            </a: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 — Web app, API, database, worker, external service.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有哪些可部署的部分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3. Components</a:t>
            </a: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 — Modules and responsibilities inside an application.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应用内部的模块和职责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4. Code</a:t>
            </a: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 — Classes/functions only when that detail adds value.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类 / 函数级别，只在有价值时才画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48855" y="1371600"/>
            <a:ext cx="4937759" cy="47548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Tools: Whiteboard, diagrams.net, Lucidchart, Miro, Mermaid, PlantUML, Structurizr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工具：白板或任何画图工具都行，Mermaid 可以直接写在 GitLab 的 Markdown 里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For most student web projects, a context diagram + a container diagram is usually enough to start.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你们的项目：一张 Context 图 + 一张 Container 图就够起步了——全组动手前画这两张对齐边界即可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Reference: C4 model for visualising software architecture (Simon Brown)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参考：Simon Brown 的 C4 模型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2377440"/>
            <a:ext cx="9692640" cy="2011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4000" b="1" dirty="0">
                <a:solidFill>
                  <a:srgbClr val="FFFFFF"/>
                </a:solidFill>
                <a:latin typeface="Arial"/>
              </a:rPr>
              <a:t>Design in an Agile development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altLang="zh-CN" sz="2600" b="0" dirty="0">
                <a:solidFill>
                  <a:srgbClr val="BDD7EE"/>
                </a:solidFill>
                <a:latin typeface="Arial"/>
              </a:rPr>
              <a:t>敏捷开发中的设计：从用户故事到 Web 应用组件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From a user story to Web application components——你们 Sprint 1 的每个故事都会走一遍这条路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600" b="1" dirty="0">
                <a:solidFill>
                  <a:srgbClr val="FFFFFF"/>
                </a:solidFill>
                <a:latin typeface="Arial"/>
              </a:rPr>
              <a:t>Agile design is iterative and incremental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敏捷设计是迭代、增量的</a:t>
            </a:r>
          </a:p>
        </p:txBody>
      </p:sp>
      <p:pic>
        <p:nvPicPr>
          <p:cNvPr id="3" name="Picture 2" descr="iter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50117"/>
            <a:ext cx="11155680" cy="9744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88136" y="2468880"/>
            <a:ext cx="9966960" cy="3794759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User need → Small design → Working slice → Feedback → Evolved design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用户需求 → 小设计 → 能跑的切片 → 反馈 → 演进后的设计——一个 Sprint 转一圈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Design decisions become more reliable when the team tests them through working increments.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设计决策经过"能跑的增量"验证后才更可靠——不要纸上谈兵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Good design is not a document handed to developers. It is a set of decisions that makes change safer, clearer and cheaper.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好设计不是一份交给开发的文档，而是一组让改动更安全、更清楚、更便宜的决定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600" b="1" dirty="0">
                <a:solidFill>
                  <a:srgbClr val="FFFFFF"/>
                </a:solidFill>
                <a:latin typeface="Arial"/>
              </a:rPr>
              <a:t>A user story becomes a set of responsibilities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一个用户故事 = 一组职责</a:t>
            </a:r>
          </a:p>
        </p:txBody>
      </p:sp>
      <p:pic>
        <p:nvPicPr>
          <p:cNvPr id="3" name="Picture 2" descr="story_re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08137"/>
            <a:ext cx="6766560" cy="26246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43800" y="1280160"/>
            <a:ext cx="4160520" cy="47548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As a registered user, I want to submit a request and track its status, so that I know what is happening.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故事：作为注册用户，我想提交一个请求并跟踪它的状态，以便知道进展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Present the form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展示表单（前端）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Validate the request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校验请求（后端）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Apply business rules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应用业务规则（后端）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Store and retrieve status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存储与读取状态（数据层）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Basic web application architecture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Web 应用的基本架构</a:t>
            </a:r>
          </a:p>
        </p:txBody>
      </p:sp>
      <p:pic>
        <p:nvPicPr>
          <p:cNvPr id="3" name="Picture 2" descr="basic_w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32" y="1234440"/>
            <a:ext cx="11028055" cy="1737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88136" y="3200400"/>
            <a:ext cx="9966960" cy="3063239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A browser communicates with server-side software through HTTP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浏览器通过 HTTP 和服务器软件通信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User → Browser Front-end → HTTP / API → Back-end Business logic → Data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用户 → 浏览器前端 → HTTP / API → 后端业务逻辑 → 数据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The boundary is also a responsibility boundary: the server must enforce rules and protect data.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这条边界也是职责边界：规则必须由服务器强制执行、数据由服务器保护——浏览器里的检查随时可以被绕过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Class Activity: Front-end or back-end?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课堂活动：下面 10 条职责，哪些属于前端、哪些属于后端？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71600"/>
            <a:ext cx="5120640" cy="47548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Classify front-end and back-end responsibilities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把它们分成前端 / 后端两类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Validates requests and permissions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校验请求和权限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Applies business rules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应用业务规则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Reads and writes persistent data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读写持久化数据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Integrates external services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对接外部服务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Returns useful responses and errors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返回有用的响应和错误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3095" y="1371600"/>
            <a:ext cx="5303520" cy="47548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Displays information and accepts input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显示信息、接收输入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Manages interaction and client-side state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管理交互和客户端状态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Calls the back end through an API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通过 API 调用后端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Provides immediate feedback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给用户即时反馈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Handles loading, error and empty states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处理加载中 / 出错 / 空数据状态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000" b="1" dirty="0">
                <a:solidFill>
                  <a:srgbClr val="FFFFFF"/>
                </a:solidFill>
                <a:latin typeface="Arial"/>
              </a:rPr>
              <a:t>Front end and back end have different responsibilities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答案：前端和后端的职责不同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71600"/>
            <a:ext cx="5120640" cy="47548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F4B183"/>
                </a:solidFill>
                <a:latin typeface="Arial"/>
              </a:rPr>
              <a:t>Front-end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前端（浏览器里跑的）</a:t>
            </a:r>
          </a:p>
          <a:p>
            <a:pPr marL="3429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Displays information and accepts input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显示信息、接收输入</a:t>
            </a:r>
          </a:p>
          <a:p>
            <a:pPr marL="3429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Manages interaction and client-side state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管理交互和页面状态</a:t>
            </a:r>
          </a:p>
          <a:p>
            <a:pPr marL="3429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Calls the back end through an API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通过 API 调用后端</a:t>
            </a:r>
          </a:p>
          <a:p>
            <a:pPr marL="3429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Provides immediate feedback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即时反馈——前端校验是为了体验：省一次网络往返</a:t>
            </a:r>
          </a:p>
          <a:p>
            <a:pPr marL="3429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Handles loading, error and empty states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处理加载 / 出错 / 空数据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3095" y="1371600"/>
            <a:ext cx="5303520" cy="47548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F4B183"/>
                </a:solidFill>
                <a:latin typeface="Arial"/>
              </a:rPr>
              <a:t>Back-end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后端（服务器上跑的）</a:t>
            </a:r>
          </a:p>
          <a:p>
            <a:pPr marL="3429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Validates requests and permissions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再校验一次——为了安全：黑客能绕过前端校验、注入内容</a:t>
            </a:r>
          </a:p>
          <a:p>
            <a:pPr marL="3429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Applies business rules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应用业务规则（比如分账怎么算）</a:t>
            </a:r>
          </a:p>
          <a:p>
            <a:pPr marL="3429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Reads and writes persistent data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读写数据库</a:t>
            </a:r>
          </a:p>
          <a:p>
            <a:pPr marL="3429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Integrates external services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对接外部服务（邮件、支付…）</a:t>
            </a:r>
          </a:p>
          <a:p>
            <a:pPr marL="3429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Returns useful responses and errors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返回结构化的响应和错误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" y="5760720"/>
            <a:ext cx="9966960" cy="45720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校验要做两次、理由不同；把后端的职责做进前端 = 违反设计原则，会出大问题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The API is a contract between components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API 是组件之间的"合同"</a:t>
            </a:r>
          </a:p>
        </p:txBody>
      </p:sp>
      <p:pic>
        <p:nvPicPr>
          <p:cNvPr id="3" name="Picture 2" descr="api_con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51580"/>
            <a:ext cx="7132320" cy="19377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09560" y="1280160"/>
            <a:ext cx="3794760" cy="47548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Front-end</a:t>
            </a: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: Sends a request with the required data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前端：带上需要的数据发请求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API contract</a:t>
            </a: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: Endpoint • Method • Input • Response • Error rules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合同的五样东西：端点、方法、输入、响应、错误规则——前后端先把这五样约定好，就能并行开发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Back-end</a:t>
            </a: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: Validates, processes and returns a response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后端：校验、处理、返回响应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2377440"/>
            <a:ext cx="9692640" cy="2011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4000" b="1" dirty="0">
                <a:solidFill>
                  <a:srgbClr val="FFFFFF"/>
                </a:solidFill>
                <a:latin typeface="Arial"/>
              </a:rPr>
              <a:t>Design Principles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altLang="zh-CN" sz="2600" b="0" dirty="0">
                <a:solidFill>
                  <a:srgbClr val="BDD7EE"/>
                </a:solidFill>
                <a:latin typeface="Arial"/>
              </a:rPr>
              <a:t>设计原则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Good structure can help to make better changes——好的结构让下一次改动更容易；Sprint 2 起你们自己加功能时会体会到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4572000"/>
            <a:ext cx="9966960" cy="45720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讲师题外话：业界说"初级工程师不再需要，AI 能写代码"——需要的是懂设计 / 架构决策、能判断 AI 代码好坏的人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" y="4937760"/>
            <a:ext cx="9966960" cy="45720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"一切看起来能跑"，规模上去就挂；引导 AI agent 的人必须懂设计原则、也懂好代码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" y="5303520"/>
            <a:ext cx="9966960" cy="45720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架构师的成长路径：初级 → 高级 → 架构师，靠大量开发经验才知道早期决策怎么影响后来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Core design principles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8 条核心设计原则：每个 Sprint 都值得对照一遍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71600"/>
            <a:ext cx="5120640" cy="47548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Separate concerns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 — Different responsibilities should not be tangled together.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关注点分离：不同职责别缠在一起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Encapsulation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 — Hide internal details behind a clear interface.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封装：把内部细节藏在清晰的接口后面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High cohesion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 — Keep closely related behaviour together.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高内聚：相关行为放一起，把变化局部化（散开就要改多处、每处重测）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Low coupling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 — Minimise how much one part must know about another.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低耦合：耦合不可能避免，只能最小化——所以叫低耦合不叫解耦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3095" y="1371600"/>
            <a:ext cx="5303520" cy="47548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Simple dependencies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 — Make dependency direction visible and predictable.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简单依赖：依赖方向要看得见、可预测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Design for change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 — Isolate likely sources of change.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为变化设计：把可能变的地方隔离出来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YAGNI* / simplicity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 — Do not build complexity for imagined future needs. (* You aren’t gonna need it)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YAGNI / 简单：别为想象中的未来需求堆复杂度；讲师还提了 KISS（Keep it simple, stupid）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Refactor continuously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 — Improve the design as understanding grows.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持续重构：理解加深了就顺手改善设计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Separation of concerns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关注点分离：一个功能可以穿过多层，但各层职责不混</a:t>
            </a:r>
          </a:p>
        </p:txBody>
      </p:sp>
      <p:pic>
        <p:nvPicPr>
          <p:cNvPr id="3" name="Picture 2" descr="soc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011" y="1234440"/>
            <a:ext cx="8743497" cy="1737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88136" y="3200400"/>
            <a:ext cx="9966960" cy="3063239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One feature can cross layers without mixing responsibilities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UI (Form + feedback) → API (Request/response) → Business logic (Validate expense rules) → Data access (Save/retrieve expense) → Database (Persistent data)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"记一笔开销"穿过 5 层：表单 → 请求 / 响应 → 校验分账规则 → 存取 → 数据库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Same user story, distinct responsibilities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同一个用户故事，职责却分得清清楚楚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A change to the screen layout should not require rewriting persistence. A change to the database should not change the user story.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改页面布局不该动到存储；换数据库也不该影响用户故事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Encapsulation and dependency direction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封装与依赖方向：接口稳定，内部随便换</a:t>
            </a:r>
          </a:p>
        </p:txBody>
      </p:sp>
      <p:pic>
        <p:nvPicPr>
          <p:cNvPr id="3" name="Picture 2" descr="enc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75286"/>
            <a:ext cx="6583680" cy="18903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60920" y="1280160"/>
            <a:ext cx="4343400" cy="47548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Stable interfaces let internals change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Expense service</a:t>
            </a: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 — Public operations: recordExpense(), getBalances()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对外只暴露两个操作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uses → Database adapter (SQL / ORM / repository details)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数据库细节藏在适配器里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uses → Notification adapter (Email / push / webhook details)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通知方式也藏在适配器里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Why it helps</a:t>
            </a: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: Tests can replace adapters with fakes. Infrastructure can change without rewriting business rules.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测试时可以用假的适配器；换基础设施不用重写业务规则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The goal is not “more layers”. The goal is explicit boundaries and fewer surprises.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目标不是"层数更多"，而是边界明确、少踩坑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给你们的建议：先做前端，后端可以先用"假服务"（比如读文件返回字符串）mock 掉——但要放在单独的适配器 / 组件里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Separation of concerns and encapsulation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关注点分离与封装：缠在一起 vs 分开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71600"/>
            <a:ext cx="5120640" cy="47548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900" b="1" dirty="0">
                <a:solidFill>
                  <a:srgbClr val="F4B183"/>
                </a:solidFill>
                <a:latin typeface="Arial"/>
              </a:rPr>
              <a:t>Tangled responsibility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缠在一起的职责（反例）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One module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一个模块什么都干：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renders the form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validates permissions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calculates fees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writes to the database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sends email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画表单、验权限、算费用、写数据库、发邮件——改任何一样都可能弄坏别的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3095" y="1371600"/>
            <a:ext cx="5303520" cy="47548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900" b="1" dirty="0">
                <a:solidFill>
                  <a:srgbClr val="F4B183"/>
                </a:solidFill>
                <a:latin typeface="Arial"/>
              </a:rPr>
              <a:t>Separated responsibility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分开的职责（正例）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Form / view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表单 / 视图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Business service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业务服务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Data access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数据访问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Notification adapter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通知适配器——每块只管一件事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Cohesion and coupling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内聚与耦合：相关的放一起，不必要的依赖分开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71600"/>
            <a:ext cx="5120640" cy="47548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Keep related things together; keep unnecessary dependencies apart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High cohesion + low coupling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高内聚 + 低耦合（正例）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Expense module: create expense • validate split • calculate balances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开销模块只管开销相关的三件事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Notification module: email • push notification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通知模块只管通知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3095" y="1371600"/>
            <a:ext cx="5303520" cy="47548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Low cohesion + high coupling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低内聚 + 高耦合（反例）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UtilityManager: expense calculations • email • database queries • authentication • report formatting • UI helpers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一个"万能工具类"什么都塞：算钱、邮件、查库、登录、报表、UI——谁都依赖它，谁都不敢改它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" y="5074920"/>
            <a:ext cx="9966960" cy="45720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1500" b="0" dirty="0">
                <a:solidFill>
                  <a:srgbClr val="FFFFFF"/>
                </a:solidFill>
                <a:latin typeface="Arial"/>
              </a:rPr>
              <a:t>Design question: “If I change this responsibility, how many unrelated places must I understand and modify?”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" y="5440680"/>
            <a:ext cx="9966960" cy="45720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设计时问自己：改这一个职责，我得先看懂、再改动多少不相干的地方？——越少越好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Design for change – Class Activity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课堂活动：两种架构你选哪个？为什么？（Simplicity, YAGNI and design for change）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71600"/>
            <a:ext cx="5120640" cy="47548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Architecture 1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 — Do not build this on Sprint 1…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架构 1：Sprint 1 千万别这么搞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Speculative architecture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"投机式"架构：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12 services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3 message brokers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custom plugin platform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global multi-region replication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“because we may need it later”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12 个服务、3 个消息队列、自研插件平台、全球多区域复制——理由只是"以后可能用得上"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3095" y="1371600"/>
            <a:ext cx="5303520" cy="47548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Architecture 2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 — Prefer this…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架构 2：推荐这个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Simple, modular starting point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简单、模块化的起点：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One deployable web app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clear modules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well-defined API boundaries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automated tests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room to extract a service later if evidence appears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一个可部署的 Web 应用、模块清楚、API 边界明确、有自动化测试，以后有证据再拆服务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" y="5074920"/>
            <a:ext cx="9966960" cy="45720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1500" b="0" dirty="0">
                <a:solidFill>
                  <a:srgbClr val="FFFFFF"/>
                </a:solidFill>
                <a:latin typeface="Arial"/>
              </a:rPr>
              <a:t>Which Architecture would you choose? Why?   (Simplicity, YAGNI and design for change)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" y="5440680"/>
            <a:ext cx="9966960" cy="45720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solidFill>
                  <a:srgbClr val="FFFFFF"/>
                </a:solidFill>
                <a:latin typeface="Arial"/>
              </a:rPr>
              <a:t>Design for change means isolating known instability, not predicting every future feature.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" y="5760720"/>
            <a:ext cx="9966960" cy="45720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课堂答案：选 2（"可工作的软件"），架构 1 是没证据的投机；为变化设计 = 隔离已知会变的地方，不预测未来功能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2377440"/>
            <a:ext cx="9692640" cy="2011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4000" b="1" dirty="0">
                <a:solidFill>
                  <a:srgbClr val="FFFFFF"/>
                </a:solidFill>
                <a:latin typeface="Arial"/>
              </a:rPr>
              <a:t>Architecture of Web applications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altLang="zh-CN" sz="2600" b="0" dirty="0">
                <a:solidFill>
                  <a:srgbClr val="BDD7EE"/>
                </a:solidFill>
                <a:latin typeface="Arial"/>
              </a:rPr>
              <a:t>Web 应用的架构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A browser click becomes a chain of responsibilities across the front end, network, back end, data and external services——点一下按钮，背后是一连串职责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The simplest useful web architecture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最简单但够用的 Web 架构：Client → server → data</a:t>
            </a:r>
          </a:p>
        </p:txBody>
      </p:sp>
      <p:pic>
        <p:nvPicPr>
          <p:cNvPr id="3" name="Picture 2" descr="simplest_w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266" y="1234440"/>
            <a:ext cx="9414987" cy="1737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88136" y="3200400"/>
            <a:ext cx="5029200" cy="237744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Browser / client</a:t>
            </a: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: HTML + CSS + JavaScript, User interactions, Local UI state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浏览器：页面、交互、本地界面状态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Web / API server</a:t>
            </a: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: HTTP endpoints, Business rules, Authentication, Authorisation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服务器：接口、业务规则、认证（你是谁）、授权（你能干什么）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3200400"/>
            <a:ext cx="5120640" cy="237744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Database</a:t>
            </a: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: Users, Expenses, Groups, Persistent state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数据库：用户、开销、群组——持久化状态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External services</a:t>
            </a: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: Email, Payments, Maps, Identity provider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外部服务：邮件、支付、地图、第三方登录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" y="5486400"/>
            <a:ext cx="9966960" cy="45720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1500" b="0" dirty="0">
                <a:solidFill>
                  <a:srgbClr val="FFFFFF"/>
                </a:solidFill>
                <a:latin typeface="Arial"/>
              </a:rPr>
              <a:t>The browser is not “the application”. It is one part of a larger system.   (Reference: MDN “How the web works”)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" y="5852160"/>
            <a:ext cx="9966960" cy="45720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浏览器不等于"整个应用"，它只是大系统里的一部分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Front-end: what belongs in the browser?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前端：浏览器里该放什么？——负责展示和交互，不是可信的业务权威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71600"/>
            <a:ext cx="4754880" cy="47548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Presentation and interaction, not trusted business authority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Render the interface and data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渲染界面和数据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Collect user input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收集用户输入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Manage UI state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管理界面状态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Provide immediate validation feedback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即时校验反馈（格式对不对）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Call back-end APIs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调用后端 API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Handle loading, errors and empty states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处理加载 / 出错 / 空状态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Support accessibility and responsive layout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无障碍和响应式布局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17336" y="1371600"/>
            <a:ext cx="5669279" cy="47548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Example: “Record expense” form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例子：记账表单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The browser can check that amount looks numeric and show errors instantly.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浏览器可以先检查金额是不是数字、立刻报错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But the server still validates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但服务器仍然要再校验一遍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A user can bypass JavaScript or call the API directly. Business rules and authorisation must be enforced server-side.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用户可以绕过 JavaScript 直接调 API，所以业务规则和权限必须在服务器端把关——Demo 时 tutor 可能会问这个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Back-end: what belongs on the server?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后端：服务器上该放什么？——业务行为、安全、持久化、集成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71600"/>
            <a:ext cx="5120640" cy="47548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API boundary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 — Receive HTTP requests; return structured responses.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API 边界：收请求、返回结构化响应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Validation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 — Check required data and domain rules.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校验：必填项和业务规则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Authentication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 — Establish who the user is.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认证：确认你是谁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Authorisation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 — Decide what that user is allowed to do.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授权：决定你能做什么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3095" y="1371600"/>
            <a:ext cx="5303520" cy="47548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Business logic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 — Calculate splits, balances and other domain behaviour.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业务逻辑：算分账、算余额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Persistence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 — Read/write durable data through a data access layer.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持久化：通过数据访问层读写数据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Integration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 — Call external services through controlled adapters.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集成：通过适配器调外部服务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Observability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 — Log important events and failures.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可观测：记录重要事件和失败日志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The API is a contract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API 是合同：前后端各自只需要知道合同，不用知道对方内部</a:t>
            </a:r>
          </a:p>
        </p:txBody>
      </p:sp>
      <p:pic>
        <p:nvPicPr>
          <p:cNvPr id="3" name="Picture 2" descr="api_contrac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662686"/>
            <a:ext cx="6766560" cy="17155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43800" y="1280160"/>
            <a:ext cx="4160520" cy="47548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F4B183"/>
                </a:solidFill>
                <a:latin typeface="Arial"/>
              </a:rPr>
              <a:t>Front-end</a:t>
            </a: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 needs to know: endpoint, request format, response format, errors. Does not need to know: SQL, server classes, database schema details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前端只需知道接口长什么样，不用管 SQL 和表结构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F4B183"/>
                </a:solidFill>
                <a:latin typeface="Arial"/>
              </a:rPr>
              <a:t>API contract</a:t>
            </a: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: POST /expenses { amount, payer, split } → 201 Created / validation error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合同示例：往 /expenses 发 POST，带金额、付款人、分账方式；成功返回 201，失败返回校验错误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F4B183"/>
                </a:solidFill>
                <a:latin typeface="Arial"/>
              </a:rPr>
              <a:t>Back-end</a:t>
            </a: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 needs to know: contract, business rules, authorisation, persistence. Does not need to know: exact DOM structure, CSS, browser component tree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后端只需知道合同和业务，不用管页面 DOM 和 CSS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Good contracts reduce coupling. They do not eliminate coordination.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好合同减少耦合，但不等于不用沟通——前后端还是要先坐下来把合同定了，写进 Issue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2377440"/>
            <a:ext cx="9692640" cy="2011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4000" b="1" dirty="0">
                <a:solidFill>
                  <a:srgbClr val="FFFFFF"/>
                </a:solidFill>
                <a:latin typeface="Arial"/>
              </a:rPr>
              <a:t>Typical Architectural Patterns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altLang="zh-CN" sz="2600" b="0" dirty="0">
                <a:solidFill>
                  <a:srgbClr val="BDD7EE"/>
                </a:solidFill>
                <a:latin typeface="Arial"/>
              </a:rPr>
              <a:t>常见架构模式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分层、MVC、微服务、事件驱动：都是"工具"不是"规则"——你们的项目用分层 / MVC 就够了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Layered architecture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分层架构：每层一个主要职责（Each layer has a primary responsibility）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71600"/>
            <a:ext cx="5669280" cy="47548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Presentation / API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表现层 / API：接收请求、返回响应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Application services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应用服务：编排一个用例的步骤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Domain / business rules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领域 / 业务规则：核心逻辑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Data access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数据访问：读写数据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Database / external systems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数据库 / 外部系统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A request usually moves downward, while a response moves back upward.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请求往下走，响应往上回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展示层不能直接碰数据库，必须逐层经过——安全也来自这一点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逻辑分层 ≠ 物理部署：各层可以各在一台服务器，也可以全在一台</a:t>
            </a:r>
          </a:p>
        </p:txBody>
      </p:sp>
      <p:pic>
        <p:nvPicPr>
          <p:cNvPr id="4" name="Picture 3" descr="laye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3176" y="2288035"/>
            <a:ext cx="4672583" cy="255624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600" b="1" dirty="0">
                <a:solidFill>
                  <a:srgbClr val="FFFFFF"/>
                </a:solidFill>
                <a:latin typeface="Arial"/>
              </a:rPr>
              <a:t>Layered architecture: one user story end to end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分层架构：一个用户故事从头走到尾</a:t>
            </a:r>
          </a:p>
        </p:txBody>
      </p:sp>
      <p:pic>
        <p:nvPicPr>
          <p:cNvPr id="3" name="Picture 2" descr="layered_e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021" y="1234440"/>
            <a:ext cx="9625476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88136" y="2834640"/>
            <a:ext cx="9966960" cy="3428999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FFFFF"/>
                </a:solidFill>
                <a:latin typeface="Arial"/>
              </a:rPr>
              <a:t>“Record an expense” as a vertical slice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"记一笔开销"作为一个垂直切片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FFFFF"/>
                </a:solidFill>
                <a:latin typeface="Arial"/>
              </a:rPr>
              <a:t>UI (Expense form) → API (POST /expenses) → Service (recordExpense) → Domain (validate split) → Repository (save expense) → DB (rows)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表单 → 接口 → 服务 → 领域规则 → 仓库 → 数据库表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FFFFF"/>
                </a:solidFill>
                <a:latin typeface="Arial"/>
              </a:rPr>
              <a:t>Tests can exist at several seams: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测试可以插在好几个"缝"上（第 4 周会讲怎么写）：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300" b="1" dirty="0">
                <a:solidFill>
                  <a:srgbClr val="FFFFFF"/>
                </a:solidFill>
                <a:latin typeface="Arial"/>
              </a:rPr>
              <a:t>Domain unit tests for split calculations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分账计算的单元测试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300" b="1" dirty="0">
                <a:solidFill>
                  <a:srgbClr val="FFFFFF"/>
                </a:solidFill>
                <a:latin typeface="Arial"/>
              </a:rPr>
              <a:t>Service tests with a fake repository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用假仓库测服务层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300" b="1" dirty="0">
                <a:solidFill>
                  <a:srgbClr val="FFFFFF"/>
                </a:solidFill>
                <a:latin typeface="Arial"/>
              </a:rPr>
              <a:t>API integration tests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API 集成测试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300" b="1" dirty="0">
                <a:solidFill>
                  <a:srgbClr val="FFFFFF"/>
                </a:solidFill>
                <a:latin typeface="Arial"/>
              </a:rPr>
              <a:t>Small browser/end-to-end tests for critical user journeys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关键用户路径的少量端到端测试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Model-view-controller (MVC)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MVC：把数据、展示、请求协调三者分开</a:t>
            </a:r>
          </a:p>
        </p:txBody>
      </p:sp>
      <p:pic>
        <p:nvPicPr>
          <p:cNvPr id="3" name="Picture 2" descr="mv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74653"/>
            <a:ext cx="6766560" cy="24915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43800" y="1280160"/>
            <a:ext cx="4160520" cy="47548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A pattern for separating data, presentation and request coordination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Model</a:t>
            </a: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 — Defines data and domain behaviour (e.g. updates application state after an item is added)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模型：数据和业务行为，比如加了一项后更新状态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View</a:t>
            </a: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 — Defines the display (UI) (e.g. user clicks ‘add to cart’)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视图：界面，用户在这里点按钮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Controller</a:t>
            </a: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 — Contains control logic (e.g. receives input from the view and asks the model to update)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控制器：接收视图的输入，让模型去更新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View → Controller: Sends input from user • Controller → Model: Manipulates • Model → View: Updates • Sometimes updates directly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箭头方向：视图把输入给控制器，控制器操作模型，模型更新视图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600" b="1" dirty="0">
                <a:solidFill>
                  <a:srgbClr val="FFFFFF"/>
                </a:solidFill>
                <a:latin typeface="Arial"/>
              </a:rPr>
              <a:t>Model-view-controller (MVC) – Web Application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MVC 在 Web 应用里的样子：请求流转 8 步</a:t>
            </a:r>
          </a:p>
        </p:txBody>
      </p:sp>
      <p:pic>
        <p:nvPicPr>
          <p:cNvPr id="3" name="Picture 2" descr="mvc_w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6209"/>
            <a:ext cx="5120640" cy="2528220"/>
          </a:xfrm>
          <a:prstGeom prst="rect">
            <a:avLst/>
          </a:prstGeom>
        </p:spPr>
      </p:pic>
      <p:pic>
        <p:nvPicPr>
          <p:cNvPr id="4" name="Picture 3" descr="mvc_ste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591923"/>
            <a:ext cx="5852160" cy="19367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88136" y="4069080"/>
            <a:ext cx="10058400" cy="219456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Web Browser → HTTP requests → Routes (Forward requests to appropriate controller) → Controller → Read/write data → Models → Database; View (Templates) → HTTP responses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1 请求进来 → 2 路由到控制器 → 3 控制器找模型要数据 → 4 模型访问数据库 → 5 数据库返回 → 6 模型返回控制器 → 7 控制器把数据给视图 → 8 视图生成响应发回浏览器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Database related code should be put in model layer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数据库相关代码只放在模型层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Controller should not have knowledge about the actual database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控制器不应该知道用的是什么数据库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Modularity allows easy switching between technologies (e.g. different view templates, different database management systems)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模块化让换技术很容易：换模板引擎、换数据库都不用动其他层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600" b="1" dirty="0">
                <a:solidFill>
                  <a:srgbClr val="FFFFFF"/>
                </a:solidFill>
                <a:latin typeface="Arial"/>
              </a:rPr>
              <a:t>Model-view-controller (MVC) – Web Application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MVC 项目的目录结构长这样（Node / Express 例子）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71600"/>
            <a:ext cx="6583680" cy="47548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4B183"/>
                </a:solidFill>
                <a:latin typeface="Arial"/>
              </a:rPr>
              <a:t>app/</a:t>
            </a:r>
            <a:r>
              <a:rPr lang="en-US" altLang="zh-CN" sz="1600" b="1" dirty="0">
                <a:solidFill>
                  <a:srgbClr val="FFFFFF"/>
                </a:solidFill>
                <a:latin typeface="Arial"/>
              </a:rPr>
              <a:t> — controllers, models, routes, views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后端 MVC 三件套 + 路由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4B183"/>
                </a:solidFill>
                <a:latin typeface="Arial"/>
              </a:rPr>
              <a:t>config/</a:t>
            </a:r>
            <a:r>
              <a:rPr lang="en-US" altLang="zh-CN" sz="1600" b="1" dirty="0">
                <a:solidFill>
                  <a:srgbClr val="FFFFFF"/>
                </a:solidFill>
                <a:latin typeface="Arial"/>
              </a:rPr>
              <a:t> — env, config.js, express.js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配置：环境变量、框架设置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4B183"/>
                </a:solidFill>
                <a:latin typeface="Arial"/>
              </a:rPr>
              <a:t>public/</a:t>
            </a:r>
            <a:r>
              <a:rPr lang="en-US" altLang="zh-CN" sz="1600" b="1" dirty="0">
                <a:solidFill>
                  <a:srgbClr val="FFFFFF"/>
                </a:solidFill>
                <a:latin typeface="Arial"/>
              </a:rPr>
              <a:t> — config, controllers, css, directives, filters, img, services, views, application.js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前端静态资源（这是一个 Angular 风格的前端）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4B183"/>
                </a:solidFill>
                <a:latin typeface="Arial"/>
              </a:rPr>
              <a:t>server.js</a:t>
            </a:r>
            <a:r>
              <a:rPr lang="en-US" altLang="zh-CN" sz="1600" b="1" dirty="0">
                <a:solidFill>
                  <a:srgbClr val="FFFFFF"/>
                </a:solidFill>
                <a:latin typeface="Arial"/>
              </a:rPr>
              <a:t>, </a:t>
            </a:r>
            <a:r>
              <a:rPr lang="en-US" altLang="zh-CN" sz="1600" b="1" dirty="0">
                <a:solidFill>
                  <a:srgbClr val="F4B183"/>
                </a:solidFill>
                <a:latin typeface="Arial"/>
              </a:rPr>
              <a:t>package.json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入口文件和依赖清单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FFFFF"/>
                </a:solidFill>
                <a:latin typeface="Arial"/>
              </a:rPr>
              <a:t>Tip for your project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你们的 Shared Expense Splitter 也建议按 routes / controllers / models 分目录，Demo 时 tutor 一眼能看懂</a:t>
            </a:r>
          </a:p>
        </p:txBody>
      </p:sp>
      <p:pic>
        <p:nvPicPr>
          <p:cNvPr id="4" name="Picture 3" descr="mvc_fol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7576" y="2420251"/>
            <a:ext cx="3758183" cy="2291817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MVC in modern Web app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现代 Web 应用里的 MVC：职责拆到浏览器和服务器两边</a:t>
            </a:r>
          </a:p>
        </p:txBody>
      </p:sp>
      <p:pic>
        <p:nvPicPr>
          <p:cNvPr id="3" name="Picture 2" descr="mvc_mode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86136"/>
            <a:ext cx="6949440" cy="22686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26680" y="1280160"/>
            <a:ext cx="3977639" cy="47548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The responsibilities may be split across browser and server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Browser</a:t>
            </a: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: View (HTML/CSS + UI components) • Client logic (Events, state, API calls)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浏览器端：视图 + 客户端逻辑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HTTP / JSON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Server</a:t>
            </a: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: Controller / route (Receives HTTP request) • Model / domain (Data + business rules) • Database (persistent state)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服务器端：控制器 / 路由 + 模型 + 数据库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Python example: Django describes its approach as Model–Template–View (MTV), similar in style to MVC.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Python 的 Django 叫它 MTV（模型–模板–视图），本质和 MVC 一样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References: MDN MVC; Django documentation glossary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Microservices Architecture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微服务架构：每个服务独立部署、独立数据库</a:t>
            </a:r>
          </a:p>
        </p:txBody>
      </p:sp>
      <p:pic>
        <p:nvPicPr>
          <p:cNvPr id="3" name="Picture 2" descr="microserv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77404"/>
            <a:ext cx="4206240" cy="19203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3479" y="1280160"/>
            <a:ext cx="6720840" cy="47548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API gateway (entry point) → User service (own logic) → User DB; Expense service (own logic) → Expense DB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网关统一入口；每个服务有自己的"微数据库"，用户服务不访问开销库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Potential benefits</a:t>
            </a: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: Independent deployment and scaling • Clear service ownership • Fault isolation when designed well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好处：只扩展瓶颈组件（开销服务每秒上千请求就只把它部署到多台）、故障隔离、安全隔离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New complexity</a:t>
            </a: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: Network failures + latency • Distributed tracing • Data consistency • More CI/CD + operations • Harder cross-service refactoring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代价：网络故障和延迟、分布式追踪、数据一致性、更多运维、跨服务重构更难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Do not choose microservices because they “sound scalable”. Choose them when the benefits justify the operational complexity.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"没有银弹"，延迟敏感的应用不适合；你们 6 人 10 周的项目用单体就好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Independent deployment can help, but distribution has a price. (References: Martin Fowler microservices guide; “Monolith First”)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独立部署有用，但"分布式"是有价格的——Fowler 的建议：先单体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Event-driven and serverless patterns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事件驱动与无服务器模式（原课件附录页，课上未讲，自学即可）</a:t>
            </a:r>
          </a:p>
        </p:txBody>
      </p:sp>
      <p:pic>
        <p:nvPicPr>
          <p:cNvPr id="3" name="Picture 2" descr="event_driv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12695"/>
            <a:ext cx="5852160" cy="24154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29400" y="1280160"/>
            <a:ext cx="5074920" cy="47548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Event-driven</a:t>
            </a: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: Producer (Expense created) → event → Event router / queue → Notification (send receipt) • Analytics (update dashboard)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生产者发出"开销已创建"事件，队列转发给通知和分析两个消费者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4B183"/>
                </a:solidFill>
                <a:latin typeface="Arial"/>
              </a:rPr>
              <a:t>Serverless idea</a:t>
            </a: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: Run small functions or managed services on demand rather than managing long-running servers. Useful for event-triggered tasks, APIs and variable workloads.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无服务器：按需跑小函数，不用自己养服务器；适合事件触发的任务和波动大的负载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Useful when work is asynchronous, bursty or naturally triggered by events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适用：异步、突发、天然由事件触发的工作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Trade-off: asynchronous systems can be harder to trace, test and reason about.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代价：异步系统更难追踪、测试和推理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References: AWS event-driven architecture and serverless documentation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2377440"/>
            <a:ext cx="9692640" cy="2011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4000" b="1" dirty="0">
                <a:solidFill>
                  <a:srgbClr val="FFFFFF"/>
                </a:solidFill>
                <a:latin typeface="Arial"/>
              </a:rPr>
              <a:t>Architecture Decisions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altLang="zh-CN" sz="2600" b="0" dirty="0">
                <a:solidFill>
                  <a:srgbClr val="BDD7EE"/>
                </a:solidFill>
                <a:latin typeface="Arial"/>
              </a:rPr>
              <a:t>架构决策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Making architecture choices and trade-offs——架构选择都是取舍，没有标准答案，关键是说得出"为什么"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Architecture choices involve trade-offs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架构选择的 5 个问题，以及它为什么重要（Question → Why it matters）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25880"/>
            <a:ext cx="9966960" cy="484632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What is changing?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 → Separate likely points of variation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什么会变？→ 把可能变的地方分开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How large is the team?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 → Avoid operational overhead the team cannot support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团队多大？→ 别选团队撑不起的运维复杂度（你们 6 个人）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What must scale?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 → Scale the relevant component or workload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什么需要扩展？→ 只扩展相关的部分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How will we deploy?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 → Keep the architecture compatible with CI/CD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怎么部署？→ 架构要和 CI/CD 配得上（第 4、6 周）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How will we test failures?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 → Prefer boundaries the team can observe and verify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怎么测失败？→ 选团队能观察、能验证的边界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200" b="1" dirty="0">
                <a:solidFill>
                  <a:srgbClr val="FFFFFF"/>
                </a:solidFill>
                <a:latin typeface="Arial"/>
              </a:rPr>
              <a:t>Architecture also supports non-functional properties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架构还要支撑非功能属性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25880"/>
            <a:ext cx="9966960" cy="484632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Performance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 — Where might time or resources be spent?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性能：时间和资源可能花在哪——全放一台服务器最快，但安全就差（取舍）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Scalability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 — What grows: users, requests, data or integrations?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可扩展性：100 个用户 600 ms，到 1,000 / 10,000 个用户还成立吗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Reliability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 — What happens when a dependency fails?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可靠性：依赖挂了会怎样——要有 failover，自动切到另一台，用户无感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Security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 — Who can perform this action? How is data protected?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安全：谁能做这个操作、数据怎么保护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Others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 — Based on the application domain and stakeholders’ needs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其他：看应用领域和干系人的需求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Design for non-functional properties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面向非功能属性的设计：设计问题 → 典型应对（原课件附录页）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71600"/>
            <a:ext cx="5120640" cy="47548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4B183"/>
                </a:solidFill>
                <a:latin typeface="Arial"/>
              </a:rPr>
              <a:t>Security</a:t>
            </a:r>
            <a:r>
              <a:rPr lang="en-US" altLang="zh-CN" sz="1600" b="1" dirty="0">
                <a:solidFill>
                  <a:srgbClr val="FFFFFF"/>
                </a:solidFill>
                <a:latin typeface="Arial"/>
              </a:rPr>
              <a:t> — Where are trust boundaries? Who can access what?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信任边界在哪、谁能访问什么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300" b="1" dirty="0">
                <a:solidFill>
                  <a:srgbClr val="FFFFFF"/>
                </a:solidFill>
                <a:latin typeface="Arial"/>
              </a:rPr>
              <a:t>Server-side authorisation, least privilege, secure defaults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100" b="0" dirty="0">
                <a:solidFill>
                  <a:srgbClr val="BDD7EE"/>
                </a:solidFill>
                <a:latin typeface="Arial"/>
              </a:rPr>
              <a:t>服务器端授权、最小权限、默认安全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4B183"/>
                </a:solidFill>
                <a:latin typeface="Arial"/>
              </a:rPr>
              <a:t>Scalability</a:t>
            </a:r>
            <a:r>
              <a:rPr lang="en-US" altLang="zh-CN" sz="1600" b="1" dirty="0">
                <a:solidFill>
                  <a:srgbClr val="FFFFFF"/>
                </a:solidFill>
                <a:latin typeface="Arial"/>
              </a:rPr>
              <a:t> — What may grow independently?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什么会独立增长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300" b="1" dirty="0">
                <a:solidFill>
                  <a:srgbClr val="FFFFFF"/>
                </a:solidFill>
                <a:latin typeface="Arial"/>
              </a:rPr>
              <a:t>Stateless APIs, caching, queues, selective decomposition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100" b="0" dirty="0">
                <a:solidFill>
                  <a:srgbClr val="BDD7EE"/>
                </a:solidFill>
                <a:latin typeface="Arial"/>
              </a:rPr>
              <a:t>无状态 API、缓存、队列、有选择地拆分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4B183"/>
                </a:solidFill>
                <a:latin typeface="Arial"/>
              </a:rPr>
              <a:t>Performance</a:t>
            </a:r>
            <a:r>
              <a:rPr lang="en-US" altLang="zh-CN" sz="1600" b="1" dirty="0">
                <a:solidFill>
                  <a:srgbClr val="FFFFFF"/>
                </a:solidFill>
                <a:latin typeface="Arial"/>
              </a:rPr>
              <a:t> — Where is time spent?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时间花在哪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300" b="1" dirty="0">
                <a:solidFill>
                  <a:srgbClr val="FFFFFF"/>
                </a:solidFill>
                <a:latin typeface="Arial"/>
              </a:rPr>
              <a:t>Fewer network calls, efficient queries, caching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100" b="0" dirty="0">
                <a:solidFill>
                  <a:srgbClr val="BDD7EE"/>
                </a:solidFill>
                <a:latin typeface="Arial"/>
              </a:rPr>
              <a:t>少网络调用、高效查询、缓存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3095" y="1371600"/>
            <a:ext cx="5303520" cy="47548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4B183"/>
                </a:solidFill>
                <a:latin typeface="Arial"/>
              </a:rPr>
              <a:t>Reliability</a:t>
            </a:r>
            <a:r>
              <a:rPr lang="en-US" altLang="zh-CN" sz="1600" b="1" dirty="0">
                <a:solidFill>
                  <a:srgbClr val="FFFFFF"/>
                </a:solidFill>
                <a:latin typeface="Arial"/>
              </a:rPr>
              <a:t> — What happens when dependencies fail?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依赖挂了怎么办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300" b="1" dirty="0">
                <a:solidFill>
                  <a:srgbClr val="FFFFFF"/>
                </a:solidFill>
                <a:latin typeface="Arial"/>
              </a:rPr>
              <a:t>Timeouts, retries, graceful failure, observability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100" b="0" dirty="0">
                <a:solidFill>
                  <a:srgbClr val="BDD7EE"/>
                </a:solidFill>
                <a:latin typeface="Arial"/>
              </a:rPr>
              <a:t>超时、重试、优雅降级、可观测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4B183"/>
                </a:solidFill>
                <a:latin typeface="Arial"/>
              </a:rPr>
              <a:t>Maintainability</a:t>
            </a:r>
            <a:r>
              <a:rPr lang="en-US" altLang="zh-CN" sz="1600" b="1" dirty="0">
                <a:solidFill>
                  <a:srgbClr val="FFFFFF"/>
                </a:solidFill>
                <a:latin typeface="Arial"/>
              </a:rPr>
              <a:t> — How local is a change?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一次改动影响范围多大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300" b="1" dirty="0">
                <a:solidFill>
                  <a:srgbClr val="FFFFFF"/>
                </a:solidFill>
                <a:latin typeface="Arial"/>
              </a:rPr>
              <a:t>Clear modules, low coupling, automated tests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100" b="0" dirty="0">
                <a:solidFill>
                  <a:srgbClr val="BDD7EE"/>
                </a:solidFill>
                <a:latin typeface="Arial"/>
              </a:rPr>
              <a:t>清晰模块、低耦合、自动化测试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rgbClr val="F4B183"/>
                </a:solidFill>
                <a:latin typeface="Arial"/>
              </a:rPr>
              <a:t>Deployability</a:t>
            </a:r>
            <a:r>
              <a:rPr lang="en-US" altLang="zh-CN" sz="1600" b="1" dirty="0">
                <a:solidFill>
                  <a:srgbClr val="FFFFFF"/>
                </a:solidFill>
                <a:latin typeface="Arial"/>
              </a:rPr>
              <a:t> — Can changes move safely?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改动能安全上线吗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300" b="1" dirty="0">
                <a:solidFill>
                  <a:srgbClr val="FFFFFF"/>
                </a:solidFill>
                <a:latin typeface="Arial"/>
              </a:rPr>
              <a:t>Small increments, configuration, CI/CD-friendly boundaries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100" b="0" dirty="0">
                <a:solidFill>
                  <a:srgbClr val="BDD7EE"/>
                </a:solidFill>
                <a:latin typeface="Arial"/>
              </a:rPr>
              <a:t>小增量、配置化、对 CI/CD 友好的边界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" y="5212080"/>
            <a:ext cx="9966960" cy="45720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1500" b="0" dirty="0">
                <a:solidFill>
                  <a:srgbClr val="FFFFFF"/>
                </a:solidFill>
                <a:latin typeface="Arial"/>
              </a:rPr>
              <a:t>Architecture is where many quality trade-offs become visible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" y="5577840"/>
            <a:ext cx="9966960" cy="45720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架构就是这些质量取舍变得看得见的地方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What “good design” buys an Agile team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好设计给敏捷团队带来的 6 种质量属性——不是最后再加的装饰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71600"/>
            <a:ext cx="5120640" cy="47548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Maintainability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 — Change code without widespread rework.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可维护：改代码不用大面积返工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Understandability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 — A teammate can locate and reason about the right place to change.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可理解：队友能找到该改哪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Testability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 — Behaviour can be verified automatically and in isolation.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可测试：行为能自动、独立地验证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3095" y="1371600"/>
            <a:ext cx="5303520" cy="47548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Modularity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 — Work can be divided into meaningful units with clear ownership.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模块化：工作能拆成有明确负责人的单元（分 Issue 也方便）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Extensibility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 — New behaviour can be added without rewriting unrelated code.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可扩展：加功能不用重写无关代码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Deployability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 — Changes can move through CI/CD with predictable impact.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可部署：改动能顺着 CI/CD 走，影响可预测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" y="4846320"/>
            <a:ext cx="9966960" cy="45720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1500" b="0" dirty="0">
                <a:solidFill>
                  <a:srgbClr val="FFFFFF"/>
                </a:solidFill>
                <a:latin typeface="Arial"/>
              </a:rPr>
              <a:t>Quality attributes are not decorations added at the 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" y="5212080"/>
            <a:ext cx="9966960" cy="45720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1500" b="0" dirty="0">
                <a:solidFill>
                  <a:srgbClr val="FFFFFF"/>
                </a:solidFill>
                <a:latin typeface="Arial"/>
              </a:rPr>
              <a:t>These qualities reinforce each other: Clear modules are easier to understand, test, refactor and deploy.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" y="5577840"/>
            <a:ext cx="9966960" cy="45720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这些质量互相加强：模块清楚了，就更容易理解、测试、重构、部署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How do we choose an architecture?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怎么选架构？看约束和证据，不看潮流（原课件附录页）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71600"/>
            <a:ext cx="5120640" cy="47548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Product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 — What are the highest-value user journeys?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产品：最有价值的用户路径是什么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Change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 — Which parts may evolve independently?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变化：哪些部分会独立演进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Operations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 — How much deployment and monitoring complexity can we support?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运维：我们撑得起多复杂的部署和监控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3095" y="1371600"/>
            <a:ext cx="5303520" cy="47548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Team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 — What can this team understand, test and operate?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团队：这个团队能理解、测试、运维什么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Quality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 — Which non-functional properties matter now?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质量：现在哪些非功能属性最重要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Evidence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 — What have we learned from previous increments?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证据：前几个增量教会了我们什么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" y="4846320"/>
            <a:ext cx="9966960" cy="45720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1500" b="0" dirty="0">
                <a:solidFill>
                  <a:srgbClr val="FFFFFF"/>
                </a:solidFill>
                <a:latin typeface="Arial"/>
              </a:rPr>
              <a:t>Use constraints and evidence, not fashion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" y="5212080"/>
            <a:ext cx="9966960" cy="45720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1500" b="0" dirty="0">
                <a:solidFill>
                  <a:srgbClr val="FFFFFF"/>
                </a:solidFill>
                <a:latin typeface="Arial"/>
              </a:rPr>
              <a:t>For a small Agile web project, start with the simplest architecture that preserves clear boundaries.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" y="5577840"/>
            <a:ext cx="9966960" cy="45720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小型敏捷 Web 项目：从"最简单但边界清楚"的架构开始——这就是对你们项目的建议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2377440"/>
            <a:ext cx="9692640" cy="2011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4000" b="1" dirty="0">
                <a:solidFill>
                  <a:srgbClr val="FFFFFF"/>
                </a:solidFill>
                <a:latin typeface="Arial"/>
              </a:rPr>
              <a:t>Design in Scrum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altLang="zh-CN" sz="2600" b="0" dirty="0">
                <a:solidFill>
                  <a:srgbClr val="BDD7EE"/>
                </a:solidFill>
                <a:latin typeface="Arial"/>
              </a:rPr>
              <a:t>Scrum 里的设计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Design decisions are part of the sprint——设计决策是 Sprint 的一部分，不是 Sprint 之前单独的"设计阶段"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600" b="1" dirty="0">
                <a:solidFill>
                  <a:srgbClr val="FFFFFF"/>
                </a:solidFill>
                <a:latin typeface="Arial"/>
              </a:rPr>
              <a:t>A vertical slice connects design to delivery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垂直切片：把设计和交付连起来</a:t>
            </a:r>
          </a:p>
        </p:txBody>
      </p:sp>
      <p:pic>
        <p:nvPicPr>
          <p:cNvPr id="3" name="Picture 2" descr="vsl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850" y="1234440"/>
            <a:ext cx="9323819" cy="9143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88136" y="2377440"/>
            <a:ext cx="9966960" cy="388620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en-US" altLang="zh-CN" sz="1900" b="1" dirty="0">
                <a:solidFill>
                  <a:srgbClr val="FFFFFF"/>
                </a:solidFill>
                <a:latin typeface="Arial"/>
              </a:rPr>
              <a:t>User story → UI interaction → API endpoint → Business rule → Data access → Automated test → CI check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500" b="0" dirty="0">
                <a:solidFill>
                  <a:srgbClr val="BDD7EE"/>
                </a:solidFill>
                <a:latin typeface="Arial"/>
              </a:rPr>
              <a:t>一个故事 = 界面交互 + API 端点 + 业务规则 + 数据访问 + 自动化测试 + CI 检查，一条线全打通</a:t>
            </a:r>
          </a:p>
          <a:p>
            <a:pPr marL="342900" indent="-342900"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en-US" altLang="zh-CN" sz="1900" b="1" dirty="0">
                <a:solidFill>
                  <a:srgbClr val="FFFFFF"/>
                </a:solidFill>
                <a:latin typeface="Arial"/>
              </a:rPr>
              <a:t>Each sprint can deliver a small end-to-end capability instead of a disconnected technical layer.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500" b="0" dirty="0">
                <a:solidFill>
                  <a:srgbClr val="BDD7EE"/>
                </a:solidFill>
                <a:latin typeface="Arial"/>
              </a:rPr>
              <a:t>每个 Sprint 交付一个小而完整的端到端功能，而不是"这周只做数据库"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600" b="1" dirty="0">
                <a:solidFill>
                  <a:srgbClr val="FFFFFF"/>
                </a:solidFill>
                <a:latin typeface="Arial"/>
              </a:rPr>
              <a:t>Sprint Design and Development – Class Activity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课堂活动：按组件做还是按垂直切片做？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71600"/>
            <a:ext cx="5120640" cy="47548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Vertical slices: design for incremental delivery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Component design and development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按组件分 Sprint（Avoid component-only planning）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Sprint 1 — database components (database only)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第 1 轮只做数据库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Sprint 2 — Back-end design and development (back end only)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第 2 轮只做后端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Sprint 3 — Front-end design and development (front end only)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第 3 轮只做前端——前两轮什么都演示不了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3095" y="1371600"/>
            <a:ext cx="5303520" cy="47548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Vertical Slice Design and Development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按垂直切片分 Sprint（Prefer vertical increments）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Story A — UI → API → rule → DB → test → CI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每轮做完整的一个故事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Story B — UI → API → rule → DB → test → CI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每轮都能演示、都能测——一个故事 = 穿过整个架构的一条细细的、能跑的路径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Story C — UI → API → rule → DB → test → CI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这就是你们 Sprint 1 Demo 应该有的样子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" y="4937760"/>
            <a:ext cx="9966960" cy="45720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solidFill>
                  <a:srgbClr val="FFFFFF"/>
                </a:solidFill>
                <a:latin typeface="Arial"/>
              </a:rPr>
              <a:t>As Agile Teams, which design and development approach would you follow? Why?   Why? Every Sprint produces integrated, testable behaviour and exposes architecture problems early.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" y="5532120"/>
            <a:ext cx="9966960" cy="45720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solidFill>
                  <a:srgbClr val="FFFFFF"/>
                </a:solidFill>
                <a:latin typeface="Arial"/>
              </a:rPr>
              <a:t>A story should become a thin, working path through the architecture.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" y="5852160"/>
            <a:ext cx="9966960" cy="45720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选右边（课堂一致）；左边就是 capstone 常见的"后端组 / 前端组最后再集成"= 大爆炸集成（big bang integration），要避免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Emergent architecture in Scrum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Scrum 里的涌现式架构：Emergent ≠ accidental（涌现 ≠ 随意）</a:t>
            </a:r>
          </a:p>
        </p:txBody>
      </p:sp>
      <p:pic>
        <p:nvPicPr>
          <p:cNvPr id="3" name="Picture 2" descr="emer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089" y="1234440"/>
            <a:ext cx="7267341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88136" y="2834640"/>
            <a:ext cx="9966960" cy="3428999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Sprint 1 (Simple web app: UI + API + DB) → Feedback (More rules, more tests, new quality needs) → Sprint 2 (Introduce modules, isolate persistence, improve API) → Evidence (Traffic grows, async work appears) → Later (Extract worker/service only if justified)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第 1 轮做最简单的 UI + API + DB → 收到反馈 → 第 2 轮拆模块、隔离存储、改进 API → 有了证据 → 以后才考虑拆出 worker / 服务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Architecture still needs intentional decisions, tests, refactoring and team communication. The difference is that decisions are revisited as evidence grows.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架构仍然需要有意识的决策、测试、重构和沟通；区别在于决策会随着证据增加被重新审视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Design enough now, learn from the increment, then improve the structure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现在设计够用就好，从增量里学习，再改善结构；Sprint 结束 ≠ 开发结束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Reference: Agile Manifesto principle 11; Scrum inspection and adaptation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讲师："不要求你们展示设计和架构，但希望这种思维指导你们怎么拆职责、组件放在哪"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600" b="1" dirty="0">
                <a:solidFill>
                  <a:srgbClr val="FFFFFF"/>
                </a:solidFill>
                <a:latin typeface="Arial"/>
              </a:rPr>
              <a:t>Applying the ideas to your COMP9820 project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把这些想法用到你们的 COMP9820 项目里：5 个时间点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25880"/>
            <a:ext cx="9966960" cy="484632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1  Before implementation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 — Agree on a simple system boundary and initial architecture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动手前：全组先定一个简单的系统边界和初始架构（一张 Container 图）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2  During the sprint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 — Keep design decisions visible in issues, merge requests and documentation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Sprint 中：设计决策写在 Issue、MR 描述和文档里，别只在脑子里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3  Before merging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 — Check responsibility boundaries, tests and integration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合并前：Code review 时看职责边界、测试和集成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4  During review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 — Demonstrate working behaviour and collect stakeholder feedback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评审时：演示能跑的功能，收集反馈（就是下周的 Demo）</a:t>
            </a:r>
          </a:p>
          <a:p>
            <a:pPr marL="342900" indent="-342900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5  During retrospective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 — Record design or process improvements for the next sprint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回顾时：记下下个 Sprint 要改进的设计或流程（写进 Team Report 的 Retro 部分）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Key takeaways (1)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本周要点（1）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25880"/>
            <a:ext cx="9966960" cy="484632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Architecture should make the next change easier, not merely look sophisticated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架构应该让下一次改动更容易，而不是看起来更高级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Architecture organises the major parts of a system.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架构负责组织系统的大块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Design principles help teams control responsibility and dependencies.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设计原则帮团队管住职责和依赖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Web applications separate front-end, API, back-end and data concerns.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Web 应用把前端、API、后端、数据分开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MVC and layered architecture are useful patterns, not universal rules.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MVC 和分层是好用的模式，不是万能规则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Agile architecture evolves through increments, feedback and refactoring.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敏捷架构靠增量、反馈、重构一步步演进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Good design makes software easier to understand, test, maintain and extend.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好设计让软件更容易理解、测试、维护、扩展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Key takeaways (2)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本周要点（2）：6 句话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25880"/>
            <a:ext cx="9966960" cy="484632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1  Agile still needs design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 — Design happens continuously and evolves with feedback.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敏捷不是不设计，而是持续设计、随反馈演进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2  Start with responsibilities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 — Separate UI, business rules, persistence and integration concerns.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从职责开始：界面、业务规则、持久化、集成分开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3  Keep boundaries clear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 — Cohesion, low coupling and encapsulation improve changeability.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边界清楚：内聚、低耦合、封装让改动更容易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4  Patterns are tools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 — Layered architecture and MVC are useful starting points; modern patterns add trade-offs.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模式是工具：分层和 MVC 是好起点，新模式各有取舍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5  Quality drives architecture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 — Security, testability, scalability and maintainability shape decisions.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质量驱动架构：安全、可测、可扩展、可维护决定选择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4B183"/>
                </a:solidFill>
                <a:latin typeface="Arial"/>
              </a:rPr>
              <a:t>6  Prefer simple evolution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 — A modular starting point can evolve when evidence justifies more complexity.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简单演进：模块化起点，有证据了再加复杂度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Good architecture supports working software today and safe change tomorrow.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好架构 = 今天软件能跑，明天改动安全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2377440"/>
            <a:ext cx="9692640" cy="2011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4000" b="1" dirty="0">
                <a:solidFill>
                  <a:srgbClr val="FFFFFF"/>
                </a:solidFill>
                <a:latin typeface="Arial"/>
              </a:rPr>
              <a:t>Sprint 1 Assessments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altLang="zh-CN" sz="2600" b="0" dirty="0">
                <a:solidFill>
                  <a:srgbClr val="BDD7EE"/>
                </a:solidFill>
                <a:latin typeface="Arial"/>
              </a:rPr>
              <a:t>Sprint 1 评估：下周 Demo + 三份报告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占总成绩 30%；今天是 10 月 1 日，Demo 就在下周 Lab（10 月 7–9 日），本周末必须把功能收尾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4663440"/>
            <a:ext cx="9966960" cy="45720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Demo 的目的是让你们开口沟通自己的工作；互评要给建设性反馈，不是指责弱点；个人报告是反思自己的贡献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Sprint 1: what’s due and when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Sprint 1 交什么、什么时候交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25880"/>
            <a:ext cx="9966960" cy="484632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Demo (10%)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: live in your Week 4 lab (7–9 October); recording due Sunday 11 October, 9 pm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Demo 占 10%：第 4 周 Lab 现场演示（10 月 7–9 日）；录屏 10 月 11 日周日晚 9 点前交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Team Report (15%)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: Sunday 11 October, 9 pm, one submission per team via Turnitin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团队报告占 15%：10 月 11 日周日晚 9 点，每队交一份，走 Turnitin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Peer Evaluation (1%)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: opens Wednesday of Week 4, closes Sunday 11 October, 9 pm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互评占 1%：第 4 周周三开放，10 月 11 日晚 9 点关闭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Individual Report (4%)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: Sunday 18 October, 9 pm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个人报告占 4%：10 月 18 日周日晚 9 点</a:t>
            </a:r>
          </a:p>
          <a:p>
            <a:pPr marL="342900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Sprint 1 is 30% of the course. Full details on the “Project Sprint 1 Guidelines” page in Moodle.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Sprint 1 合计 30%，细则看 Moodle 的 Project Sprint 1 Guidelines 页面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The Demo in next week’s lab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下周 Lab 的 Demo 怎么做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25880"/>
            <a:ext cx="9966960" cy="484632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10–12 minutes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, then questions from your tutor and the other teams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10–12 分钟，听众是 tutor 和其他组——要想着不同的听众来讲</a:t>
            </a:r>
          </a:p>
          <a:p>
            <a:pPr marL="3429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Every member attends and presents a part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; absence without special consideration is 0 for that student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每个人都要到场并讲一部分；有特殊情况要申请 special consideration 才能拿团队分，否则 0 分</a:t>
            </a:r>
          </a:p>
          <a:p>
            <a:pPr marL="3429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Show the Shared Expense Splitter features you built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, running live on your own machine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在自己电脑上现场跑你们做好的 Shared Expense Splitter 功能</a:t>
            </a:r>
          </a:p>
          <a:p>
            <a:pPr marL="3429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Show how the sprint was run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: backlog, issue board, issues, branches, merge requests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展示 Sprint 是怎么跑的：backlog、看板、Issue、分支、MR——这部分很多组会忘</a:t>
            </a:r>
          </a:p>
          <a:p>
            <a:pPr marL="3429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Record the session</a:t>
            </a: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 and submit the MP4 to Moodle (used for cross-marking and special consideration)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全程录屏，MP4 交到 Moodle（用于交叉评分和特殊情况）</a:t>
            </a:r>
          </a:p>
          <a:p>
            <a:pPr marL="342900" indent="-342900"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FFFFF"/>
                </a:solidFill>
                <a:latin typeface="Arial"/>
              </a:rPr>
              <a:t>Have the app running and your GitLab tabs open before your slot starts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400" b="0" dirty="0">
                <a:solidFill>
                  <a:srgbClr val="BDD7EE"/>
                </a:solidFill>
                <a:latin typeface="Arial"/>
              </a:rPr>
              <a:t>轮到你们之前就把应用跑起来、GitLab 页面开好——别在台上等启动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200" b="1" dirty="0">
                <a:solidFill>
                  <a:srgbClr val="FFFFFF"/>
                </a:solidFill>
                <a:latin typeface="Arial"/>
              </a:rPr>
              <a:t>Team Report, Peer Evaluation and Individual Report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团队报告、互评、个人报告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25880"/>
            <a:ext cx="9966960" cy="484632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Team Report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, about 15 pages, five parts: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团队报告约 15 页，5 个部分（括号里是各占多少分）——要让我们看到理解，不是盲目走流程：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Scrum roles, role allocation and meeting minutes (3%)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Scrum 角色分配和会议记录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Sprint planning: user stories, acceptance criteria, points, sprint goal (4%)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计划：用户故事、验收标准、故事点、Sprint 目标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Sprint tracking: issue board, meetings, Git workflow (3%)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跟踪：看板、会议、Git 流程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Velocity: points committed versus completed, and what it tells you (2%)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速度：承诺 vs 完成——没有对错，重点是解释论证（承诺 15 完成 12，说清为什么）</a:t>
            </a:r>
          </a:p>
          <a:p>
            <a:pPr marL="800100" indent="-285750">
              <a:spcBef>
                <a:spcPts val="300"/>
              </a:spcBef>
              <a:buFont typeface="Arial" panose="020B0604020202020204" pitchFamily="34" charset="0"/>
              <a:buChar char="–"/>
            </a:pPr>
            <a:r>
              <a:rPr lang="en-US" altLang="zh-CN" sz="1400" b="1" dirty="0">
                <a:solidFill>
                  <a:srgbClr val="FFFFFF"/>
                </a:solidFill>
                <a:latin typeface="Arial"/>
              </a:rPr>
              <a:t>Retrospective: what went well, what did not, things to try in Sprint 2 (3%)</a:t>
            </a:r>
          </a:p>
          <a:p>
            <a:pPr marL="342900" indent="0">
              <a:spcBef>
                <a:spcPts val="100"/>
              </a:spcBef>
              <a:buNone/>
            </a:pPr>
            <a:r>
              <a:rPr lang="en-US" altLang="zh-CN" sz="1200" b="0" dirty="0">
                <a:solidFill>
                  <a:srgbClr val="BDD7EE"/>
                </a:solidFill>
                <a:latin typeface="Arial"/>
              </a:rPr>
              <a:t>回顾：做得好 / 不好 / Sprint 2 要尝试的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Peer evaluation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 is 1% for submitting on time (there are no late submissions)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互评按时交就有 1%，迟交只认 special consideration / ELP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800" b="1" dirty="0">
                <a:solidFill>
                  <a:srgbClr val="F4B183"/>
                </a:solidFill>
                <a:latin typeface="Arial"/>
              </a:rPr>
              <a:t>Individual report (4%, W5)</a:t>
            </a:r>
            <a:r>
              <a:rPr lang="en-US" altLang="zh-CN" sz="1700" b="1" dirty="0">
                <a:solidFill>
                  <a:srgbClr val="FFFFFF"/>
                </a:solidFill>
                <a:latin typeface="Arial"/>
              </a:rPr>
              <a:t>: your own contribution, evidence from issues and merge requests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altLang="zh-CN" sz="1300" b="0" dirty="0">
                <a:solidFill>
                  <a:srgbClr val="BDD7EE"/>
                </a:solidFill>
                <a:latin typeface="Arial"/>
              </a:rPr>
              <a:t>个人报告在团队报告一周后：写自己的贡献，证据来自你的 Issue 和 MR——平时就要用自己的账号提交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" y="384048"/>
            <a:ext cx="8229600" cy="86868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3000" b="1" dirty="0">
                <a:solidFill>
                  <a:srgbClr val="FFFFFF"/>
                </a:solidFill>
                <a:latin typeface="Arial"/>
              </a:rPr>
              <a:t>References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altLang="zh-CN" sz="1600" b="0" dirty="0">
                <a:solidFill>
                  <a:srgbClr val="BDD7EE"/>
                </a:solidFill>
                <a:latin typeface="Arial"/>
              </a:rPr>
              <a:t>参考资料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" y="1325880"/>
            <a:ext cx="9966960" cy="484632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Agile Manifesto. https://agilemanifesto.org/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Schwaber, K. and Sutherland, J. The Scrum Guide, 2020. https://scrumguides.org/scrum-guide.html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MDN Web Docs. Client-server overview. https://developer.mozilla.org/en-US/docs/Learn_web_development/Extensions/Server-side/First_steps/Client-Server_overview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MDN Web Docs. HTTP. https://developer.mozilla.org/en-US/docs/Web/HTTP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C4 model. Introduction and abstractions. https://c4model.com/introduction and https://c4model.com/abstractions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Pallets Projects. Flask documentation: application lifecycle and project layout. https://flask.palletsprojects.com/en/stable/lifecycle/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Martin Fowler. Microservices. https://martinfowler.com/articles/microservices.html</a:t>
            </a:r>
          </a:p>
          <a:p>
            <a:pPr marL="342900" indent="-3429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altLang="zh-CN" sz="1500" b="1" dirty="0">
                <a:solidFill>
                  <a:srgbClr val="FFFFFF"/>
                </a:solidFill>
                <a:latin typeface="Arial"/>
              </a:rPr>
              <a:t>AWS. Event-driven architecture. https://aws.amazon.com/event-driven-architecture/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2194560"/>
            <a:ext cx="9692640" cy="2743200"/>
          </a:xfrm>
          <a:prstGeom prst="rect">
            <a:avLst/>
          </a:prstGeom>
          <a:noFill/>
        </p:spPr>
        <p:txBody>
          <a:bodyPr wrap="square" rtlCol="0" lIns="0" tIns="0" rIns="0" bIns="0"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4400" b="1" dirty="0">
                <a:solidFill>
                  <a:srgbClr val="FFFFFF"/>
                </a:solidFill>
                <a:latin typeface="Arial"/>
              </a:rPr>
              <a:t>Q &amp; A</a:t>
            </a:r>
          </a:p>
          <a:p>
            <a:pPr marL="0" indent="0">
              <a:spcBef>
                <a:spcPts val="1600"/>
              </a:spcBef>
              <a:buNone/>
            </a:pPr>
            <a:r>
              <a:rPr lang="en-US" altLang="zh-CN" sz="1800" b="0" dirty="0">
                <a:solidFill>
                  <a:srgbClr val="BDD7EE"/>
                </a:solidFill>
                <a:latin typeface="Arial"/>
              </a:rPr>
              <a:t>接下来：第 4 周 —— 软件测试（Sprint 2、3 的重点，也是 CI 的前置）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1800" b="0" dirty="0">
                <a:solidFill>
                  <a:srgbClr val="BDD7EE"/>
                </a:solidFill>
                <a:latin typeface="Arial"/>
              </a:rPr>
              <a:t>本周要做：Sprint 1 收尾 → 准备下周 Lab 的 Demo（10–12 分钟、全员出席、录屏）→ 10 月 11 日前交 Team Report + Peer Evaluation → 10 月 18 日交 Individual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11363</TotalTime>
  <Words>555</Words>
  <Application>Microsoft Macintosh PowerPoint</Application>
  <PresentationFormat>宽屏</PresentationFormat>
  <Paragraphs>103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等线</vt:lpstr>
      <vt:lpstr>Microsoft YaHei UI</vt:lpstr>
      <vt:lpstr>Optimistic Display</vt:lpstr>
      <vt:lpstr>Arial</vt:lpstr>
      <vt:lpstr>Cambria</vt:lpstr>
      <vt:lpstr>Custom Design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YU Jiehu</dc:creator>
  <cp:lastModifiedBy>Icy</cp:lastModifiedBy>
  <cp:revision>80</cp:revision>
  <cp:lastPrinted>2021-09-07T11:02:50Z</cp:lastPrinted>
  <dcterms:created xsi:type="dcterms:W3CDTF">2020-12-24T11:31:06Z</dcterms:created>
  <dcterms:modified xsi:type="dcterms:W3CDTF">2025-09-27T05:39:25Z</dcterms:modified>
</cp:coreProperties>
</file>