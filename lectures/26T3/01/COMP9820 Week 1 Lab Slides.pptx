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heme/themeOverride6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61"/>
  </p:notesMasterIdLst>
  <p:sldIdLst>
    <p:sldId id="291" r:id="rId5"/>
    <p:sldId id="256" r:id="rId6"/>
    <p:sldId id="292" r:id="rId7"/>
    <p:sldId id="309" r:id="rId8"/>
    <p:sldId id="311" r:id="rId9"/>
    <p:sldId id="375" r:id="rId10"/>
    <p:sldId id="305" r:id="rId11"/>
    <p:sldId id="306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307" r:id="rId59"/>
    <p:sldId id="308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415C1D-DAF3-833D-9B3E-5F078B8BF2E2}" v="1" dt="2026-09-18T04:40:26.484"/>
    <p1510:client id="{89F5F452-78D4-7E46-832B-647F567D8104}" v="1" dt="2026-09-18T02:59:12.634"/>
    <p1510:client id="{FB29B8A8-97DB-7B95-0D0E-223DF9F234B2}" v="3" dt="2026-09-17T04:57:24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yan Farazi" userId="S::z5590941@ad.unsw.edu.au::921f73be-4c3e-473a-a9bd-36711f156973" providerId="AD" clId="Web-{FB29B8A8-97DB-7B95-0D0E-223DF9F234B2}"/>
    <pc:docChg chg="modSld">
      <pc:chgData name="Zayan Farazi" userId="S::z5590941@ad.unsw.edu.au::921f73be-4c3e-473a-a9bd-36711f156973" providerId="AD" clId="Web-{FB29B8A8-97DB-7B95-0D0E-223DF9F234B2}" dt="2026-09-17T04:57:24.908" v="2" actId="20577"/>
      <pc:docMkLst>
        <pc:docMk/>
      </pc:docMkLst>
      <pc:sldChg chg="modSp">
        <pc:chgData name="Zayan Farazi" userId="S::z5590941@ad.unsw.edu.au::921f73be-4c3e-473a-a9bd-36711f156973" providerId="AD" clId="Web-{FB29B8A8-97DB-7B95-0D0E-223DF9F234B2}" dt="2026-09-17T04:57:24.908" v="2" actId="20577"/>
        <pc:sldMkLst>
          <pc:docMk/>
          <pc:sldMk cId="3298441965" sldId="309"/>
        </pc:sldMkLst>
        <pc:spChg chg="mod">
          <ac:chgData name="Zayan Farazi" userId="S::z5590941@ad.unsw.edu.au::921f73be-4c3e-473a-a9bd-36711f156973" providerId="AD" clId="Web-{FB29B8A8-97DB-7B95-0D0E-223DF9F234B2}" dt="2026-09-17T04:57:24.908" v="2" actId="20577"/>
          <ac:spMkLst>
            <pc:docMk/>
            <pc:sldMk cId="3298441965" sldId="309"/>
            <ac:spMk id="3" creationId="{773471BF-1C6E-78D2-45B2-1D3EAA03A01F}"/>
          </ac:spMkLst>
        </pc:spChg>
      </pc:sldChg>
    </pc:docChg>
  </pc:docChgLst>
  <pc:docChgLst>
    <pc:chgData name="Zayan Farazi" userId="S::z5590941@ad.unsw.edu.au::921f73be-4c3e-473a-a9bd-36711f156973" providerId="AD" clId="Web-{00000000-0000-0000-0000-000000000000}"/>
    <pc:docChg chg="modSld">
      <pc:chgData name="Zayan Farazi" userId="S::z5590941@ad.unsw.edu.au::921f73be-4c3e-473a-a9bd-36711f156973" providerId="AD" clId="Web-{00000000-0000-0000-0000-000000000000}" dt="2026-09-16T22:32:04.224" v="96" actId="20577"/>
      <pc:docMkLst>
        <pc:docMk/>
      </pc:docMkLst>
      <pc:sldChg chg="modSp">
        <pc:chgData name="Zayan Farazi" userId="S::z5590941@ad.unsw.edu.au::921f73be-4c3e-473a-a9bd-36711f156973" providerId="AD" clId="Web-{00000000-0000-0000-0000-000000000000}" dt="2026-09-16T22:32:04.224" v="96" actId="20577"/>
        <pc:sldMkLst>
          <pc:docMk/>
          <pc:sldMk cId="3298441965" sldId="309"/>
        </pc:sldMkLst>
        <pc:spChg chg="mod">
          <ac:chgData name="Zayan Farazi" userId="S::z5590941@ad.unsw.edu.au::921f73be-4c3e-473a-a9bd-36711f156973" providerId="AD" clId="Web-{00000000-0000-0000-0000-000000000000}" dt="2026-09-16T22:32:04.224" v="96" actId="20577"/>
          <ac:spMkLst>
            <pc:docMk/>
            <pc:sldMk cId="3298441965" sldId="309"/>
            <ac:spMk id="3" creationId="{773471BF-1C6E-78D2-45B2-1D3EAA03A01F}"/>
          </ac:spMkLst>
        </pc:spChg>
      </pc:sldChg>
    </pc:docChg>
  </pc:docChgLst>
  <pc:docChgLst>
    <pc:chgData name="Zayan Farazi" userId="S::z5590941@ad.unsw.edu.au::921f73be-4c3e-473a-a9bd-36711f156973" providerId="AD" clId="Web-{1CF6F2C9-C8B4-1BCE-931A-B2A07D605A12}"/>
    <pc:docChg chg="addSld modSld">
      <pc:chgData name="Zayan Farazi" userId="S::z5590941@ad.unsw.edu.au::921f73be-4c3e-473a-a9bd-36711f156973" providerId="AD" clId="Web-{1CF6F2C9-C8B4-1BCE-931A-B2A07D605A12}" dt="2026-09-17T00:33:35.332" v="304"/>
      <pc:docMkLst>
        <pc:docMk/>
      </pc:docMkLst>
      <pc:sldChg chg="addSp delSp modSp mod setBg modClrScheme setClrOvrMap chgLayout">
        <pc:chgData name="Zayan Farazi" userId="S::z5590941@ad.unsw.edu.au::921f73be-4c3e-473a-a9bd-36711f156973" providerId="AD" clId="Web-{1CF6F2C9-C8B4-1BCE-931A-B2A07D605A12}" dt="2026-09-17T00:31:02.550" v="286"/>
        <pc:sldMkLst>
          <pc:docMk/>
          <pc:sldMk cId="3298441965" sldId="309"/>
        </pc:sldMkLst>
        <pc:spChg chg="mod">
          <ac:chgData name="Zayan Farazi" userId="S::z5590941@ad.unsw.edu.au::921f73be-4c3e-473a-a9bd-36711f156973" providerId="AD" clId="Web-{1CF6F2C9-C8B4-1BCE-931A-B2A07D605A12}" dt="2026-09-17T00:29:06.378" v="283"/>
          <ac:spMkLst>
            <pc:docMk/>
            <pc:sldMk cId="3298441965" sldId="309"/>
            <ac:spMk id="2" creationId="{D8AE0FA3-0413-ADC8-EB36-0B096E7E9C64}"/>
          </ac:spMkLst>
        </pc:spChg>
        <pc:spChg chg="mod ord">
          <ac:chgData name="Zayan Farazi" userId="S::z5590941@ad.unsw.edu.au::921f73be-4c3e-473a-a9bd-36711f156973" providerId="AD" clId="Web-{1CF6F2C9-C8B4-1BCE-931A-B2A07D605A12}" dt="2026-09-17T00:31:02.550" v="286"/>
          <ac:spMkLst>
            <pc:docMk/>
            <pc:sldMk cId="3298441965" sldId="309"/>
            <ac:spMk id="3" creationId="{773471BF-1C6E-78D2-45B2-1D3EAA03A01F}"/>
          </ac:spMkLst>
        </pc:spChg>
        <pc:picChg chg="add del mod">
          <ac:chgData name="Zayan Farazi" userId="S::z5590941@ad.unsw.edu.au::921f73be-4c3e-473a-a9bd-36711f156973" providerId="AD" clId="Web-{1CF6F2C9-C8B4-1BCE-931A-B2A07D605A12}" dt="2026-09-17T00:15:31.747" v="249"/>
          <ac:picMkLst>
            <pc:docMk/>
            <pc:sldMk cId="3298441965" sldId="309"/>
            <ac:picMk id="4" creationId="{2FB21AFD-FA90-4310-3A9C-E2B07B50A06C}"/>
          </ac:picMkLst>
        </pc:picChg>
        <pc:picChg chg="add del mod ord">
          <ac:chgData name="Zayan Farazi" userId="S::z5590941@ad.unsw.edu.au::921f73be-4c3e-473a-a9bd-36711f156973" providerId="AD" clId="Web-{1CF6F2C9-C8B4-1BCE-931A-B2A07D605A12}" dt="2026-09-17T00:23:33.141" v="275"/>
          <ac:picMkLst>
            <pc:docMk/>
            <pc:sldMk cId="3298441965" sldId="309"/>
            <ac:picMk id="5" creationId="{4DDD8239-B9C3-A19F-1073-0CF5A30E537F}"/>
          </ac:picMkLst>
        </pc:picChg>
        <pc:picChg chg="add del mod">
          <ac:chgData name="Zayan Farazi" userId="S::z5590941@ad.unsw.edu.au::921f73be-4c3e-473a-a9bd-36711f156973" providerId="AD" clId="Web-{1CF6F2C9-C8B4-1BCE-931A-B2A07D605A12}" dt="2026-09-17T00:24:13.391" v="277"/>
          <ac:picMkLst>
            <pc:docMk/>
            <pc:sldMk cId="3298441965" sldId="309"/>
            <ac:picMk id="6" creationId="{35E13A66-88C3-7BA5-1E14-9B89E8FF770D}"/>
          </ac:picMkLst>
        </pc:picChg>
        <pc:picChg chg="add del mod">
          <ac:chgData name="Zayan Farazi" userId="S::z5590941@ad.unsw.edu.au::921f73be-4c3e-473a-a9bd-36711f156973" providerId="AD" clId="Web-{1CF6F2C9-C8B4-1BCE-931A-B2A07D605A12}" dt="2026-09-17T00:28:36.393" v="279"/>
          <ac:picMkLst>
            <pc:docMk/>
            <pc:sldMk cId="3298441965" sldId="309"/>
            <ac:picMk id="7" creationId="{30DE2D42-D12C-13DE-231C-C332FC16CA93}"/>
          </ac:picMkLst>
        </pc:picChg>
        <pc:picChg chg="add del mod">
          <ac:chgData name="Zayan Farazi" userId="S::z5590941@ad.unsw.edu.au::921f73be-4c3e-473a-a9bd-36711f156973" providerId="AD" clId="Web-{1CF6F2C9-C8B4-1BCE-931A-B2A07D605A12}" dt="2026-09-17T00:30:54.456" v="285"/>
          <ac:picMkLst>
            <pc:docMk/>
            <pc:sldMk cId="3298441965" sldId="309"/>
            <ac:picMk id="8" creationId="{58E9C9B5-B0B1-5290-DD14-87DB364528A4}"/>
          </ac:picMkLst>
        </pc:picChg>
        <pc:picChg chg="add mod">
          <ac:chgData name="Zayan Farazi" userId="S::z5590941@ad.unsw.edu.au::921f73be-4c3e-473a-a9bd-36711f156973" providerId="AD" clId="Web-{1CF6F2C9-C8B4-1BCE-931A-B2A07D605A12}" dt="2026-09-17T00:31:02.550" v="286"/>
          <ac:picMkLst>
            <pc:docMk/>
            <pc:sldMk cId="3298441965" sldId="309"/>
            <ac:picMk id="9" creationId="{41D198DB-8FF8-9ED0-9405-D1F0CE1A4CCD}"/>
          </ac:picMkLst>
        </pc:picChg>
      </pc:sldChg>
      <pc:sldChg chg="addSp delSp modSp new">
        <pc:chgData name="Zayan Farazi" userId="S::z5590941@ad.unsw.edu.au::921f73be-4c3e-473a-a9bd-36711f156973" providerId="AD" clId="Web-{1CF6F2C9-C8B4-1BCE-931A-B2A07D605A12}" dt="2026-09-17T00:33:35.332" v="304"/>
        <pc:sldMkLst>
          <pc:docMk/>
          <pc:sldMk cId="2635308428" sldId="311"/>
        </pc:sldMkLst>
        <pc:spChg chg="mod">
          <ac:chgData name="Zayan Farazi" userId="S::z5590941@ad.unsw.edu.au::921f73be-4c3e-473a-a9bd-36711f156973" providerId="AD" clId="Web-{1CF6F2C9-C8B4-1BCE-931A-B2A07D605A12}" dt="2026-09-17T00:33:35.332" v="304"/>
          <ac:spMkLst>
            <pc:docMk/>
            <pc:sldMk cId="2635308428" sldId="311"/>
            <ac:spMk id="2" creationId="{0C910B04-8689-B3EC-4064-16F5F95A9E18}"/>
          </ac:spMkLst>
        </pc:spChg>
        <pc:spChg chg="del">
          <ac:chgData name="Zayan Farazi" userId="S::z5590941@ad.unsw.edu.au::921f73be-4c3e-473a-a9bd-36711f156973" providerId="AD" clId="Web-{1CF6F2C9-C8B4-1BCE-931A-B2A07D605A12}" dt="2026-09-17T00:32:01.785" v="302"/>
          <ac:spMkLst>
            <pc:docMk/>
            <pc:sldMk cId="2635308428" sldId="311"/>
            <ac:spMk id="3" creationId="{341E3EE6-493A-AE17-A956-E0A40BC65511}"/>
          </ac:spMkLst>
        </pc:spChg>
        <pc:spChg chg="del">
          <ac:chgData name="Zayan Farazi" userId="S::z5590941@ad.unsw.edu.au::921f73be-4c3e-473a-a9bd-36711f156973" providerId="AD" clId="Web-{1CF6F2C9-C8B4-1BCE-931A-B2A07D605A12}" dt="2026-09-17T00:33:21.410" v="303"/>
          <ac:spMkLst>
            <pc:docMk/>
            <pc:sldMk cId="2635308428" sldId="311"/>
            <ac:spMk id="4" creationId="{0973C14F-CAC9-FA6B-F316-18FB3186228D}"/>
          </ac:spMkLst>
        </pc:spChg>
        <pc:picChg chg="add mod ord">
          <ac:chgData name="Zayan Farazi" userId="S::z5590941@ad.unsw.edu.au::921f73be-4c3e-473a-a9bd-36711f156973" providerId="AD" clId="Web-{1CF6F2C9-C8B4-1BCE-931A-B2A07D605A12}" dt="2026-09-17T00:33:35.332" v="304"/>
          <ac:picMkLst>
            <pc:docMk/>
            <pc:sldMk cId="2635308428" sldId="311"/>
            <ac:picMk id="5" creationId="{6F9289B4-E6BD-D016-1A71-D319697DD38F}"/>
          </ac:picMkLst>
        </pc:picChg>
        <pc:picChg chg="add mod ord">
          <ac:chgData name="Zayan Farazi" userId="S::z5590941@ad.unsw.edu.au::921f73be-4c3e-473a-a9bd-36711f156973" providerId="AD" clId="Web-{1CF6F2C9-C8B4-1BCE-931A-B2A07D605A12}" dt="2026-09-17T00:33:35.332" v="304"/>
          <ac:picMkLst>
            <pc:docMk/>
            <pc:sldMk cId="2635308428" sldId="311"/>
            <ac:picMk id="6" creationId="{10CF039B-172C-A1F9-394F-8AA67264A127}"/>
          </ac:picMkLst>
        </pc:picChg>
      </pc:sldChg>
    </pc:docChg>
  </pc:docChgLst>
  <pc:docChgLst>
    <pc:chgData name="Daniel Guardiano Gotilla" userId="f182aee2-9574-46f7-9795-1c55b16188d1" providerId="ADAL" clId="{C0EC1E2F-5E57-530C-9BC4-E4EDCA282772}"/>
    <pc:docChg chg="custSel addSld delSld modSld">
      <pc:chgData name="Daniel Guardiano Gotilla" userId="f182aee2-9574-46f7-9795-1c55b16188d1" providerId="ADAL" clId="{C0EC1E2F-5E57-530C-9BC4-E4EDCA282772}" dt="2026-09-18T02:59:18.838" v="2" actId="2696"/>
      <pc:docMkLst>
        <pc:docMk/>
      </pc:docMkLst>
      <pc:sldChg chg="modSp mod">
        <pc:chgData name="Daniel Guardiano Gotilla" userId="f182aee2-9574-46f7-9795-1c55b16188d1" providerId="ADAL" clId="{C0EC1E2F-5E57-530C-9BC4-E4EDCA282772}" dt="2026-09-18T02:59:12.724" v="1" actId="27636"/>
        <pc:sldMkLst>
          <pc:docMk/>
          <pc:sldMk cId="0" sldId="301"/>
        </pc:sldMkLst>
        <pc:spChg chg="mod">
          <ac:chgData name="Daniel Guardiano Gotilla" userId="f182aee2-9574-46f7-9795-1c55b16188d1" providerId="ADAL" clId="{C0EC1E2F-5E57-530C-9BC4-E4EDCA282772}" dt="2026-09-18T02:59:12.724" v="1" actId="27636"/>
          <ac:spMkLst>
            <pc:docMk/>
            <pc:sldMk cId="0" sldId="301"/>
            <ac:spMk id="2" creationId="{00000000-0000-0000-0000-000000000000}"/>
          </ac:spMkLst>
        </pc:spChg>
      </pc:sldChg>
      <pc:sldChg chg="del">
        <pc:chgData name="Daniel Guardiano Gotilla" userId="f182aee2-9574-46f7-9795-1c55b16188d1" providerId="ADAL" clId="{C0EC1E2F-5E57-530C-9BC4-E4EDCA282772}" dt="2026-09-18T02:59:18.838" v="2" actId="2696"/>
        <pc:sldMkLst>
          <pc:docMk/>
          <pc:sldMk cId="2141981967" sldId="310"/>
        </pc:sldMkLst>
      </pc:sldChg>
      <pc:sldChg chg="add">
        <pc:chgData name="Daniel Guardiano Gotilla" userId="f182aee2-9574-46f7-9795-1c55b16188d1" providerId="ADAL" clId="{C0EC1E2F-5E57-530C-9BC4-E4EDCA282772}" dt="2026-09-18T02:59:12.629" v="0"/>
        <pc:sldMkLst>
          <pc:docMk/>
          <pc:sldMk cId="2572064962" sldId="375"/>
        </pc:sldMkLst>
      </pc:sldChg>
    </pc:docChg>
  </pc:docChgLst>
  <pc:docChgLst>
    <pc:chgData name="Chi Gai Chu" userId="S::z5734450@ad.unsw.edu.au::b96f3f83-a173-4839-882a-95051de4c638" providerId="AD" clId="Web-{86415C1D-DAF3-833D-9B3E-5F078B8BF2E2}"/>
    <pc:docChg chg="modSld">
      <pc:chgData name="Chi Gai Chu" userId="S::z5734450@ad.unsw.edu.au::b96f3f83-a173-4839-882a-95051de4c638" providerId="AD" clId="Web-{86415C1D-DAF3-833D-9B3E-5F078B8BF2E2}" dt="2026-09-18T04:40:26.484" v="0" actId="1076"/>
      <pc:docMkLst>
        <pc:docMk/>
      </pc:docMkLst>
      <pc:sldChg chg="modSp">
        <pc:chgData name="Chi Gai Chu" userId="S::z5734450@ad.unsw.edu.au::b96f3f83-a173-4839-882a-95051de4c638" providerId="AD" clId="Web-{86415C1D-DAF3-833D-9B3E-5F078B8BF2E2}" dt="2026-09-18T04:40:26.484" v="0" actId="1076"/>
        <pc:sldMkLst>
          <pc:docMk/>
          <pc:sldMk cId="0" sldId="277"/>
        </pc:sldMkLst>
        <pc:spChg chg="mod">
          <ac:chgData name="Chi Gai Chu" userId="S::z5734450@ad.unsw.edu.au::b96f3f83-a173-4839-882a-95051de4c638" providerId="AD" clId="Web-{86415C1D-DAF3-833D-9B3E-5F078B8BF2E2}" dt="2026-09-18T04:40:26.484" v="0" actId="1076"/>
          <ac:spMkLst>
            <pc:docMk/>
            <pc:sldMk cId="0" sldId="27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422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1003-9F50-D056-A6A4-FC682444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6FDEC-0362-46F5-1AEF-86F0025F2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F0CD5-1A2D-D8DE-A557-221AA3E49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22192-8DD1-BF99-2F4D-29ACE525F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47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76600-0441-C4D6-D157-4AEC7BFA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7080C-A1F6-2F24-B1F0-B570BC247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67B53-2E03-FC3C-D095-A9E1A4C86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78B85-AE6F-4248-3CBF-5D6DA9F155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42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675F7-46DE-4054-DBFD-3A9384010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30B2F-B872-31CE-0E68-CEAC79290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E6BEB-5241-BCF8-66DC-0E4A84CA1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21BDD-6743-8C81-F85C-FBC6D11BD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8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8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lnSpc>
                <a:spcPct val="130000"/>
              </a:lnSpc>
              <a:spcBef>
                <a:spcPts val="1000"/>
              </a:spcBef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30000"/>
              </a:lnSpc>
              <a:spcBef>
                <a:spcPts val="1000"/>
              </a:spcBef>
              <a:defRPr sz="2400"/>
            </a:lvl2pPr>
            <a:lvl3pPr>
              <a:lnSpc>
                <a:spcPct val="130000"/>
              </a:lnSpc>
              <a:spcBef>
                <a:spcPts val="1000"/>
              </a:spcBef>
              <a:defRPr sz="2400"/>
            </a:lvl3pPr>
            <a:lvl4pPr>
              <a:lnSpc>
                <a:spcPct val="130000"/>
              </a:lnSpc>
              <a:spcBef>
                <a:spcPts val="1000"/>
              </a:spcBef>
              <a:defRPr sz="2400"/>
            </a:lvl4pPr>
            <a:lvl5pPr>
              <a:lnSpc>
                <a:spcPct val="130000"/>
              </a:lnSpc>
              <a:spcBef>
                <a:spcPts val="1000"/>
              </a:spcBef>
              <a:defRPr sz="2400"/>
            </a:lvl5pPr>
          </a:lstStyle>
          <a:p>
            <a:pPr marL="230400" lvl="1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17/09/2026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07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17/09/2026</a:t>
            </a:fld>
            <a:endParaRPr lang="en-AU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661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17/09/2026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480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17/09/2026</a:t>
            </a:fld>
            <a:endParaRPr lang="en-AU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279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3AC5B-4BEF-3F81-2082-0A3885418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4695" b="4695"/>
          <a:stretch/>
        </p:blipFill>
        <p:spPr>
          <a:xfrm>
            <a:off x="4339800" y="0"/>
            <a:ext cx="7026443" cy="6858000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104014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510908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253302" y="-398755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</a:t>
            </a:r>
            <a:endParaRPr lang="en-US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2490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8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451253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1" y="0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7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</a:t>
            </a:r>
            <a:endParaRPr lang="en-US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3606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4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17/09/2026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D9B66-E5D8-458F-B15F-FCAE5CAD7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353696" y="3019698"/>
            <a:ext cx="6858002" cy="818606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SW Sydney Logo">
            <a:extLst>
              <a:ext uri="{FF2B5EF4-FFF2-40B4-BE49-F238E27FC236}">
                <a16:creationId xmlns:a16="http://schemas.microsoft.com/office/drawing/2014/main" id="{725B2B7F-7BA2-426B-BEF7-9C26ECD9179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463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se.unsw.edu.au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se.unsw.edu.au/-/user_settings/ssh_key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git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/>
              <a:t>Week 1 Lab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B6F575-18ED-E3D6-514F-696C9038AD61}"/>
              </a:ext>
            </a:extLst>
          </p:cNvPr>
          <p:cNvSpPr txBox="1">
            <a:spLocks/>
          </p:cNvSpPr>
          <p:nvPr/>
        </p:nvSpPr>
        <p:spPr>
          <a:xfrm>
            <a:off x="7051202" y="471340"/>
            <a:ext cx="4334624" cy="638666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F0502020204030204" pitchFamily="34" charset="0"/>
              <a:buChar char="﻿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AU" sz="2400" noProof="0">
                <a:latin typeface="+mj-lt"/>
              </a:rPr>
              <a:t>Agenda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400" noProof="0"/>
              <a:t>Introductions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400" noProof="0"/>
              <a:t>Technical Skillset Self-test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400" noProof="0"/>
              <a:t>Git &amp; GitLab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400" noProof="0"/>
              <a:t>Team Formation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endParaRPr lang="en-AU" sz="2400" noProof="0"/>
          </a:p>
          <a:p>
            <a:pPr>
              <a:lnSpc>
                <a:spcPct val="130000"/>
              </a:lnSpc>
              <a:buNone/>
            </a:pPr>
            <a:r>
              <a:rPr lang="en-AU" sz="2400" noProof="0">
                <a:latin typeface="+mj-lt"/>
              </a:rPr>
              <a:t>Next Week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400" noProof="0"/>
              <a:t>Finalise Team Formation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400" noProof="0"/>
              <a:t>Discuss Project Brief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400" noProof="0"/>
              <a:t>Plan and Kick-off Sprint 1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AU" sz="2400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57625B-F055-FADE-C4C5-92BBF095397E}"/>
              </a:ext>
            </a:extLst>
          </p:cNvPr>
          <p:cNvSpPr/>
          <p:nvPr/>
        </p:nvSpPr>
        <p:spPr>
          <a:xfrm flipH="1">
            <a:off x="11359299" y="0"/>
            <a:ext cx="8327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2EAF22C-B156-B58A-3235-4AECAC232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99" y="6289200"/>
            <a:ext cx="5528487" cy="370800"/>
          </a:xfrm>
        </p:spPr>
        <p:txBody>
          <a:bodyPr>
            <a:normAutofit fontScale="70000" lnSpcReduction="20000"/>
          </a:bodyPr>
          <a:lstStyle/>
          <a:p>
            <a:r>
              <a:rPr lang="en-AU" b="1" noProof="0"/>
              <a:t>COMP9820: Software Project Management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4400" noProof="0">
                <a:solidFill>
                  <a:srgbClr val="000000"/>
                </a:solidFill>
                <a:latin typeface="+mj-lt"/>
                <a:ea typeface="Roboto" panose="02000000000000000000" pitchFamily="2" charset="0"/>
                <a:cs typeface="Arial" pitchFamily="34" charset="-120"/>
              </a:rPr>
              <a:t>Introductions</a:t>
            </a:r>
            <a:endParaRPr lang="en-AU" sz="4400" noProof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F207C-5546-D544-0B60-DA0560A4F74C}"/>
              </a:ext>
            </a:extLst>
          </p:cNvPr>
          <p:cNvSpPr/>
          <p:nvPr/>
        </p:nvSpPr>
        <p:spPr>
          <a:xfrm flipH="1">
            <a:off x="11359299" y="0"/>
            <a:ext cx="8327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Let’s introduce ourselves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0600329" cy="4846320"/>
          </a:xfr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buNone/>
            </a:pPr>
            <a:r>
              <a:rPr lang="en-AU" sz="2400" b="1" noProof="0"/>
              <a:t>In 30 seconds, tell us: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noProof="0"/>
              <a:t>Your name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400" noProof="0"/>
              <a:t>Your course, any specialisations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400" noProof="0"/>
              <a:t>Any professional experience (or aspiration)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400" noProof="0"/>
              <a:t>One fun fact about yourself that nobody would guess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431D-9212-7A45-15E6-3A87544FF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E0FA3-0413-ADC8-EB36-0B096E7E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AU"/>
              <a:t>Okay, We’ll start:</a:t>
            </a:r>
            <a:endParaRPr lang="en-AU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D198DB-8FF8-9ED0-9405-D1F0CE1A4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757" r="-1" b="24006"/>
          <a:stretch>
            <a:fillRect/>
          </a:stretch>
        </p:blipFill>
        <p:spPr>
          <a:xfrm>
            <a:off x="838200" y="1825625"/>
            <a:ext cx="5181600" cy="4351338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471BF-1C6E-78D2-45B2-1D3EAA03A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F0502020204030204" pitchFamily="34" charset="0"/>
              <a:buChar char="•"/>
            </a:pPr>
            <a:r>
              <a:rPr lang="en-AU" sz="1800"/>
              <a:t>Hi, I'm Zayan!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/>
              <a:t>I'm currently doing my undergrad in Software Engineering here at UNSW</a:t>
            </a:r>
            <a:endParaRPr lang="en-AU" sz="1800">
              <a:ea typeface="Roboto"/>
              <a:cs typeface="Robo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/>
              <a:t>Currently, I'm part of a research project that is trying to automate monitoring internet traffic @ UNSW for malicious devices &amp; </a:t>
            </a:r>
            <a:r>
              <a:rPr lang="en-AU" sz="1800" err="1"/>
              <a:t>IoCs</a:t>
            </a:r>
            <a:endParaRPr lang="en-AU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/>
              <a:t>I'm also interning at a start-up company which has created custom agents for clients such as UNSW, NRMA &amp; Newington College</a:t>
            </a:r>
            <a:endParaRPr lang="en-AU" sz="1800">
              <a:ea typeface="Roboto"/>
              <a:cs typeface="Robo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/>
              <a:t>Fun fact about me: I flipped a coin to decide my degree </a:t>
            </a:r>
            <a:endParaRPr lang="en-AU" sz="1800">
              <a:ea typeface="Roboto"/>
              <a:cs typeface="Roboto"/>
            </a:endParaRPr>
          </a:p>
          <a:p>
            <a:pPr marL="572770" lvl="1" indent="-342900">
              <a:buFont typeface="Courier New" panose="020B0604020202020204" pitchFamily="34" charset="0"/>
              <a:buChar char="o"/>
            </a:pPr>
            <a:r>
              <a:rPr lang="en-AU" sz="1800" b="1"/>
              <a:t>(Bonus Points: if you can guess what the other degree was)</a:t>
            </a:r>
            <a:endParaRPr lang="en-AU" sz="1800" b="1">
              <a:ea typeface="Roboto"/>
              <a:cs typeface="Robo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1800"/>
          </a:p>
        </p:txBody>
      </p:sp>
    </p:spTree>
    <p:extLst>
      <p:ext uri="{BB962C8B-B14F-4D97-AF65-F5344CB8AC3E}">
        <p14:creationId xmlns:p14="http://schemas.microsoft.com/office/powerpoint/2010/main" val="329844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0B04-8689-B3EC-4064-16F5F95A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/>
              <a:t>Psst... here's some funny photos!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9289B4-E6BD-D016-1A71-D319697DD3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7634" b="29384"/>
          <a:stretch>
            <a:fillRect/>
          </a:stretch>
        </p:blipFill>
        <p:spPr>
          <a:xfrm>
            <a:off x="838200" y="1825625"/>
            <a:ext cx="5181600" cy="4351338"/>
          </a:xfrm>
          <a:prstGeom prst="rect">
            <a:avLst/>
          </a:prstGeom>
          <a:noFill/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CF039B-172C-A1F9-394F-8AA67264A1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14758" b="22260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5308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AB17E-8820-CC61-2EBD-B2CD3A84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EF61D-04C5-5949-F31E-8965BB00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15376-3BC0-277B-96A2-BF144E61D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14957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  <a:buNone/>
            </a:pPr>
            <a:r>
              <a:rPr lang="en-AU" sz="2400" b="1"/>
              <a:t>Daniel G. Gotilla</a:t>
            </a:r>
            <a:endParaRPr lang="en-AU" sz="2400"/>
          </a:p>
          <a:p>
            <a:pPr>
              <a:lnSpc>
                <a:spcPct val="160000"/>
              </a:lnSpc>
              <a:buNone/>
            </a:pPr>
            <a:r>
              <a:rPr lang="en-AU" sz="2400"/>
              <a:t>Product Leader with over 20 years of experience developing digital products for the Financial Services, Telecommunications, and Insurance industries in Brazil and Australia. I recently completed a Master’s in Information Technology, specialising in Artificial Intelligence and Bioinformatics, at UNSW.</a:t>
            </a:r>
          </a:p>
          <a:p>
            <a:pPr>
              <a:lnSpc>
                <a:spcPct val="160000"/>
              </a:lnSpc>
              <a:buNone/>
            </a:pPr>
            <a:r>
              <a:rPr lang="en-AU" sz="2400"/>
              <a:t>I wear a few hats in COMP3900/COMP9900: tutor (F11D &amp; F18A), industry client, and admin. I also organise and deliver a couple of workshops (Weeks 2 &amp; 9).</a:t>
            </a:r>
          </a:p>
        </p:txBody>
      </p:sp>
      <p:pic>
        <p:nvPicPr>
          <p:cNvPr id="5" name="Picture 4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5A825D84-C250-A008-8F61-F0E821E1E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940" y="365127"/>
            <a:ext cx="1881860" cy="192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64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788B0-4F35-FD5E-8225-DB94587F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46D0A2B-8748-D74C-FD92-2620FCAF32C7}"/>
              </a:ext>
            </a:extLst>
          </p:cNvPr>
          <p:cNvSpPr txBox="1"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4400" noProof="0">
                <a:solidFill>
                  <a:srgbClr val="000000"/>
                </a:solidFill>
                <a:latin typeface="+mj-lt"/>
                <a:ea typeface="Roboto" panose="02000000000000000000" pitchFamily="2" charset="0"/>
                <a:cs typeface="Arial" pitchFamily="34" charset="-120"/>
              </a:rPr>
              <a:t>Technical Skillset Self-test</a:t>
            </a:r>
            <a:endParaRPr lang="en-AU" sz="4400" noProof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E6BD91-F428-9198-D808-5153420AFE22}"/>
              </a:ext>
            </a:extLst>
          </p:cNvPr>
          <p:cNvSpPr/>
          <p:nvPr/>
        </p:nvSpPr>
        <p:spPr>
          <a:xfrm flipH="1">
            <a:off x="11359299" y="0"/>
            <a:ext cx="8327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715860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C93B540-A902-A58D-3391-A4EAD799A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6EB6-EE8D-2A37-8B01-89D5D22A9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Why we're doing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368A-F602-3D45-1330-08F1D6C4F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200"/>
            <a:ext cx="10600329" cy="4846320"/>
          </a:xfrm>
        </p:spPr>
        <p:txBody>
          <a:bodyPr wrap="square">
            <a:norm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400" noProof="0"/>
              <a:t>Your answers help form project teams. </a:t>
            </a:r>
            <a:r>
              <a:rPr lang="en-AU" sz="2400" i="1" noProof="0"/>
              <a:t>They are not marked and do not affect your course grade.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AU" sz="2400" b="1" noProof="0"/>
              <a:t>There is no advantage in overstating or understating your experience. </a:t>
            </a:r>
            <a:r>
              <a:rPr lang="en-AU" sz="2400" noProof="0"/>
              <a:t>An inaccurate answer mainly means you’ll be placed on a team where the work doesn’t match your skills.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noProof="0"/>
              <a:t>The point is to share a vocabulary for what you can already do</a:t>
            </a:r>
            <a:r>
              <a:rPr lang="en-AU" sz="2400" noProof="0"/>
              <a:t>, </a:t>
            </a:r>
            <a:r>
              <a:rPr lang="en-AU" sz="2400" b="1" noProof="0"/>
              <a:t>to help you form </a:t>
            </a:r>
            <a:r>
              <a:rPr lang="en-AU" b="1" noProof="0"/>
              <a:t>well-balanced teams</a:t>
            </a:r>
            <a:r>
              <a:rPr lang="en-AU" sz="2400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7748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How to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0810054" cy="4846320"/>
          </a:xfrm>
        </p:spPr>
        <p:txBody>
          <a:bodyPr wrap="square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noProof="0"/>
              <a:t>Questions A to F are scored 0 to 4. </a:t>
            </a:r>
            <a:r>
              <a:rPr lang="en-AU" noProof="0"/>
              <a:t>Choose the highest option for which every part of the description is true of you. </a:t>
            </a:r>
            <a:r>
              <a:rPr lang="en-AU" i="1" noProof="0"/>
              <a:t>If you are between two options, choose the lower 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noProof="0"/>
              <a:t>Questions G and H are not scored. </a:t>
            </a:r>
            <a:r>
              <a:rPr lang="en-AU" noProof="0"/>
              <a:t>They are used as constraints when teams are formed.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noProof="0"/>
              <a:t>Write down your answers in a notebook or on your phone/PC’s Notes App:</a:t>
            </a:r>
          </a:p>
          <a:p>
            <a:pPr lvl="1" indent="0">
              <a:buNone/>
            </a:pPr>
            <a:r>
              <a:rPr lang="en-AU" noProof="0"/>
              <a:t>	A__ B__ C__ D__ E__ F__</a:t>
            </a:r>
            <a:br>
              <a:rPr lang="en-AU" noProof="0"/>
            </a:br>
            <a:r>
              <a:rPr lang="en-AU" noProof="0"/>
              <a:t>	G______________________</a:t>
            </a:r>
            <a:br>
              <a:rPr lang="en-AU" noProof="0"/>
            </a:br>
            <a:r>
              <a:rPr lang="en-AU" noProof="0"/>
              <a:t>	H______________________</a:t>
            </a:r>
            <a:endParaRPr lang="en-AU" i="1" noProof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A. Agile and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0584416" cy="4846320"/>
          </a:xfrm>
        </p:spPr>
        <p:txBody>
          <a:bodyPr wrap="square"/>
          <a:lstStyle/>
          <a:p>
            <a:r>
              <a:rPr lang="en-AU" sz="2000" b="1" noProof="0"/>
              <a:t>Which best describes your experience with Agile methods and Scrum?</a:t>
            </a:r>
          </a:p>
          <a:p>
            <a:pPr lvl="1"/>
            <a:r>
              <a:rPr lang="en-AU" sz="1800" b="1" noProof="0"/>
              <a:t>0: </a:t>
            </a:r>
            <a:r>
              <a:rPr lang="en-AU" sz="1800" noProof="0"/>
              <a:t>I haven’t worked with Agile or Scrum and can’t explain what a sprint or a backlog is.</a:t>
            </a:r>
          </a:p>
          <a:p>
            <a:pPr lvl="1"/>
            <a:r>
              <a:rPr lang="en-AU" sz="1800" b="1" noProof="0"/>
              <a:t>1: </a:t>
            </a:r>
            <a:r>
              <a:rPr lang="en-AU" sz="1800" noProof="0"/>
              <a:t>I have read about Agile or covered it in a course but have never worked on a team that used it.</a:t>
            </a:r>
          </a:p>
          <a:p>
            <a:pPr lvl="1"/>
            <a:r>
              <a:rPr lang="en-AU" sz="1800" b="1" noProof="0"/>
              <a:t>2: </a:t>
            </a:r>
            <a:r>
              <a:rPr lang="en-AU" sz="1800" noProof="0"/>
              <a:t>I have worked on a student team that ran sprints, stand-ups or a task board, taking part in the ceremonies without running them.</a:t>
            </a:r>
          </a:p>
          <a:p>
            <a:pPr lvl="1"/>
            <a:r>
              <a:rPr lang="en-AU" sz="1800" b="1" noProof="0"/>
              <a:t>3: </a:t>
            </a:r>
            <a:r>
              <a:rPr lang="en-AU" sz="1800" noProof="0"/>
              <a:t>I have worked on a team in a workplace, internship or substantial project that used Scrum or Kanban, and took part in planning, reviews, retrospectives and backlog refinement.</a:t>
            </a:r>
          </a:p>
          <a:p>
            <a:pPr lvl="1"/>
            <a:r>
              <a:rPr lang="en-AU" sz="1800" b="1" noProof="0"/>
              <a:t>4: </a:t>
            </a:r>
            <a:r>
              <a:rPr lang="en-AU" sz="1800" noProof="0"/>
              <a:t>I have held the Scrum Master or Product Owner role, or set up the process for a team: facilitating ceremonies, maintaining the backlog and adjusting how the team worked.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B. Git, GitHub and GitLab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0537282" cy="4846320"/>
          </a:xfrm>
        </p:spPr>
        <p:txBody>
          <a:bodyPr wrap="square"/>
          <a:lstStyle/>
          <a:p>
            <a:r>
              <a:rPr lang="en-AU" sz="2000" b="1" noProof="0"/>
              <a:t>Which best describes your experience with version control?</a:t>
            </a:r>
          </a:p>
          <a:p>
            <a:pPr lvl="1"/>
            <a:r>
              <a:rPr lang="en-AU" sz="1800" b="1" noProof="0"/>
              <a:t>0: </a:t>
            </a:r>
            <a:r>
              <a:rPr lang="en-AU" sz="1800" noProof="0"/>
              <a:t>I have never used version control of any kind.</a:t>
            </a:r>
          </a:p>
          <a:p>
            <a:pPr lvl="1"/>
            <a:r>
              <a:rPr lang="en-AU" sz="1800" b="1" noProof="0"/>
              <a:t>1: </a:t>
            </a:r>
            <a:r>
              <a:rPr lang="en-AU" sz="1800" noProof="0"/>
              <a:t>I have used Git for my own work: cloning, committing and pushing, mostly on a single branch.</a:t>
            </a:r>
          </a:p>
          <a:p>
            <a:pPr lvl="1"/>
            <a:r>
              <a:rPr lang="en-AU" sz="1800" b="1" noProof="0"/>
              <a:t>2: </a:t>
            </a:r>
            <a:r>
              <a:rPr lang="en-AU" sz="1800" noProof="0"/>
              <a:t>I have worked on branches and used pull or merge requests, and have reviewed others’ code or had my own reviewed.</a:t>
            </a:r>
          </a:p>
          <a:p>
            <a:pPr lvl="1"/>
            <a:r>
              <a:rPr lang="en-AU" sz="1800" b="1" noProof="0"/>
              <a:t>3: </a:t>
            </a:r>
            <a:r>
              <a:rPr lang="en-AU" sz="1800" noProof="0"/>
              <a:t>I have worked in a repository with several active contributors, followed a branching convention, and resolved merge conflicts, rebased, or reverted when needed.</a:t>
            </a:r>
          </a:p>
          <a:p>
            <a:pPr lvl="1"/>
            <a:r>
              <a:rPr lang="en-AU" sz="1800" b="1" noProof="0"/>
              <a:t>4: </a:t>
            </a:r>
            <a:r>
              <a:rPr lang="en-AU" sz="1800" noProof="0"/>
              <a:t>I have set up and administered repositories: branch protection or approval rules, access permissions, tags and releases, and I have helped others recover from Git problems.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C. Front-end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91672" cy="4846320"/>
          </a:xfrm>
        </p:spPr>
        <p:txBody>
          <a:bodyPr wrap="square"/>
          <a:lstStyle/>
          <a:p>
            <a:r>
              <a:rPr lang="en-AU" sz="2000" b="1" noProof="0"/>
              <a:t>Which best describes your web development experience?</a:t>
            </a:r>
          </a:p>
          <a:p>
            <a:pPr lvl="1"/>
            <a:r>
              <a:rPr lang="en-AU" sz="1800" b="1" noProof="0"/>
              <a:t>0: </a:t>
            </a:r>
            <a:r>
              <a:rPr lang="en-AU" sz="1800" noProof="0"/>
              <a:t>I have no web development experience and have never built a web page.</a:t>
            </a:r>
          </a:p>
          <a:p>
            <a:pPr lvl="1"/>
            <a:r>
              <a:rPr lang="en-AU" sz="1800" b="1" noProof="0"/>
              <a:t>1: </a:t>
            </a:r>
            <a:r>
              <a:rPr lang="en-AU" sz="1800" noProof="0"/>
              <a:t>I have written HTML and CSS to build a static page, possibly using JavaScript written by someone else.</a:t>
            </a:r>
          </a:p>
          <a:p>
            <a:pPr lvl="1"/>
            <a:r>
              <a:rPr lang="en-AU" sz="1800" b="1" noProof="0"/>
              <a:t>2: </a:t>
            </a:r>
            <a:r>
              <a:rPr lang="en-AU" sz="1800" noProof="0"/>
              <a:t>I have written my own JavaScript to make a page interactive: handling events, changing the DOM, or validating a form.</a:t>
            </a:r>
          </a:p>
          <a:p>
            <a:pPr lvl="1"/>
            <a:r>
              <a:rPr lang="en-AU" sz="1800" b="1" noProof="0"/>
              <a:t>3: </a:t>
            </a:r>
            <a:r>
              <a:rPr lang="en-AU" sz="1800" noProof="0"/>
              <a:t>I have built a front end with a framework such as React, Vue, Angular or Svelte, with several screens or components that fetch data from an API.</a:t>
            </a:r>
          </a:p>
          <a:p>
            <a:pPr lvl="1"/>
            <a:r>
              <a:rPr lang="en-AU" sz="1800" b="1" noProof="0"/>
              <a:t>4: </a:t>
            </a:r>
            <a:r>
              <a:rPr lang="en-AU" sz="1800" noProof="0"/>
              <a:t>I have built and deployed a substantial front-end application: component structure, state management, routing and API integration, with attention to responsive layout or accessibility.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D. Backend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91672" cy="4846320"/>
          </a:xfrm>
        </p:spPr>
        <p:txBody>
          <a:bodyPr wrap="square"/>
          <a:lstStyle/>
          <a:p>
            <a:r>
              <a:rPr lang="en-AU" sz="2000" b="1" noProof="0"/>
              <a:t>Which best describes your backend experience in any programming language?</a:t>
            </a:r>
          </a:p>
          <a:p>
            <a:pPr lvl="1"/>
            <a:r>
              <a:rPr lang="en-AU" sz="1800" b="1" noProof="0"/>
              <a:t>0: </a:t>
            </a:r>
            <a:r>
              <a:rPr lang="en-AU" sz="1800" noProof="0"/>
              <a:t>I have not written server-side code and have little or no programming experience of any kind.</a:t>
            </a:r>
          </a:p>
          <a:p>
            <a:pPr lvl="1"/>
            <a:r>
              <a:rPr lang="en-AU" sz="1800" b="1" noProof="0"/>
              <a:t>1: </a:t>
            </a:r>
            <a:r>
              <a:rPr lang="en-AU" sz="1800" noProof="0"/>
              <a:t>I can program in a language such as Python, Java, C, C++ or JavaScript, but have not written anything that serves requests or stores data.</a:t>
            </a:r>
          </a:p>
          <a:p>
            <a:pPr lvl="1"/>
            <a:r>
              <a:rPr lang="en-AU" sz="1800" b="1" noProof="0"/>
              <a:t>2: </a:t>
            </a:r>
            <a:r>
              <a:rPr lang="en-AU" sz="1800" noProof="0"/>
              <a:t>I have written a small server or API that responds to requests, following coursework or a tutorial.</a:t>
            </a:r>
          </a:p>
          <a:p>
            <a:pPr lvl="1"/>
            <a:r>
              <a:rPr lang="en-AU" sz="1800" b="1" noProof="0"/>
              <a:t>3: </a:t>
            </a:r>
            <a:r>
              <a:rPr lang="en-AU" sz="1800" noProof="0"/>
              <a:t>I have designed and built my own API backed by a database, including schema design, queries, error handling, and some form of authentication.</a:t>
            </a:r>
          </a:p>
          <a:p>
            <a:pPr lvl="1"/>
            <a:r>
              <a:rPr lang="en-AU" sz="1800" b="1" noProof="0"/>
              <a:t>4: </a:t>
            </a:r>
            <a:r>
              <a:rPr lang="en-AU" sz="1800" noProof="0"/>
              <a:t>I have built and deployed a back end that other people used: multiple endpoints or services, authentication, database migrations, automated tests, and a hosted or cloud environment.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E. Project, product and client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91672" cy="4846320"/>
          </a:xfrm>
        </p:spPr>
        <p:txBody>
          <a:bodyPr wrap="square"/>
          <a:lstStyle/>
          <a:p>
            <a:r>
              <a:rPr lang="en-AU" sz="2000" b="1" noProof="0"/>
              <a:t>Which best describes your experience coordinating work or dealing with clients/stakeholders?</a:t>
            </a:r>
          </a:p>
          <a:p>
            <a:pPr lvl="1"/>
            <a:r>
              <a:rPr lang="en-AU" sz="1800" b="1" noProof="0"/>
              <a:t>0: </a:t>
            </a:r>
            <a:r>
              <a:rPr lang="en-AU" sz="1800" noProof="0"/>
              <a:t>I have not coordinated a team’s work and have not dealt with a client or external stakeholder.</a:t>
            </a:r>
          </a:p>
          <a:p>
            <a:pPr lvl="1"/>
            <a:r>
              <a:rPr lang="en-AU" sz="1800" b="1" noProof="0"/>
              <a:t>1: </a:t>
            </a:r>
            <a:r>
              <a:rPr lang="en-AU" sz="1800" noProof="0"/>
              <a:t>I have coordinated group work in a student project: dividing tasks, chasing progress, keeping notes or minutes.</a:t>
            </a:r>
          </a:p>
          <a:p>
            <a:pPr lvl="1"/>
            <a:r>
              <a:rPr lang="en-AU" sz="1800" b="1" noProof="0"/>
              <a:t>2: </a:t>
            </a:r>
            <a:r>
              <a:rPr lang="en-AU" sz="1800" noProof="0"/>
              <a:t>I have led a student, volunteer or club project from start to finish, including scope, schedule, and reporting to a supervisor, marker or committee.</a:t>
            </a:r>
          </a:p>
          <a:p>
            <a:pPr lvl="1"/>
            <a:r>
              <a:rPr lang="en-AU" sz="1800" b="1" noProof="0"/>
              <a:t>3: </a:t>
            </a:r>
            <a:r>
              <a:rPr lang="en-AU" sz="1800" noProof="0"/>
              <a:t>I have held paid work with project or product responsibility: maintaining a plan or backlog, reporting status, or dealing directly with clients or customers.</a:t>
            </a:r>
          </a:p>
          <a:p>
            <a:pPr lvl="1"/>
            <a:r>
              <a:rPr lang="en-AU" sz="1800" b="1" noProof="0"/>
              <a:t>4: </a:t>
            </a:r>
            <a:r>
              <a:rPr lang="en-AU" sz="1800" noProof="0"/>
              <a:t>I have been accountable for a project or product in a workplace: setting scope and priorities, managing budget or people, owning client relationships, and reporting to senior staff.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F.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0603269" cy="4846320"/>
          </a:xfrm>
        </p:spPr>
        <p:txBody>
          <a:bodyPr wrap="square"/>
          <a:lstStyle/>
          <a:p>
            <a:r>
              <a:rPr lang="en-AU" sz="2000" b="1" noProof="0"/>
              <a:t>Which best describes your experience with continuous integration and continuous delivery?</a:t>
            </a:r>
          </a:p>
          <a:p>
            <a:pPr lvl="1"/>
            <a:r>
              <a:rPr lang="en-AU" sz="1800" b="1" noProof="0"/>
              <a:t>0: </a:t>
            </a:r>
            <a:r>
              <a:rPr lang="en-AU" sz="1800" noProof="0"/>
              <a:t>I have not come across CI/CD and could not say what a build pipeline does.</a:t>
            </a:r>
          </a:p>
          <a:p>
            <a:pPr lvl="1"/>
            <a:r>
              <a:rPr lang="en-AU" sz="1800" b="1" noProof="0"/>
              <a:t>1: </a:t>
            </a:r>
            <a:r>
              <a:rPr lang="en-AU" sz="1800" noProof="0"/>
              <a:t>I know in general terms what CI/CD is from reading or class, but have never used or configured a pipeline.</a:t>
            </a:r>
          </a:p>
          <a:p>
            <a:pPr lvl="1"/>
            <a:r>
              <a:rPr lang="en-AU" sz="1800" b="1" noProof="0"/>
              <a:t>2: </a:t>
            </a:r>
            <a:r>
              <a:rPr lang="en-AU" sz="1800" noProof="0"/>
              <a:t>I have worked in a repository where a pipeline ran on my commits, and have read the results and fixed a failing build or test.</a:t>
            </a:r>
          </a:p>
          <a:p>
            <a:pPr lvl="1"/>
            <a:r>
              <a:rPr lang="en-AU" sz="1800" b="1" noProof="0"/>
              <a:t>3: </a:t>
            </a:r>
            <a:r>
              <a:rPr lang="en-AU" sz="1800" noProof="0"/>
              <a:t>I have written or modified pipeline configuration in GitHub Actions, GitLab CI, Jenkins or similar: adding a job, or changing a test, lint or build step.</a:t>
            </a:r>
          </a:p>
          <a:p>
            <a:pPr lvl="1"/>
            <a:r>
              <a:rPr lang="en-AU" sz="1800" b="1" noProof="0"/>
              <a:t>4: </a:t>
            </a:r>
            <a:r>
              <a:rPr lang="en-AU" sz="1800" noProof="0"/>
              <a:t>I have set up a pipeline from scratch, including automated deployment to a hosted environment and handling secrets, environments or containerised builds.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G. Availability outside the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0583551" cy="4846320"/>
          </a:xfrm>
        </p:spPr>
        <p:txBody>
          <a:bodyPr wrap="square">
            <a:normAutofit lnSpcReduction="10000"/>
          </a:bodyPr>
          <a:lstStyle/>
          <a:p>
            <a:r>
              <a:rPr lang="en-AU" sz="1800" b="1" noProof="0"/>
              <a:t>Your team will need to meet outside the lab </a:t>
            </a:r>
            <a:r>
              <a:rPr lang="en-AU" sz="1800" b="1" i="1" noProof="0"/>
              <a:t>at least </a:t>
            </a:r>
            <a:r>
              <a:rPr lang="en-AU" sz="1800" b="1" noProof="0"/>
              <a:t>once a week. Which of these windows could you reliably attend, online or in person? Select every one that applies, at least two if you can.</a:t>
            </a:r>
          </a:p>
          <a:p>
            <a:pPr lvl="2"/>
            <a:r>
              <a:rPr lang="en-AU" sz="1800" noProof="0"/>
              <a:t>Weekday mornings, before 12</a:t>
            </a:r>
          </a:p>
          <a:p>
            <a:pPr lvl="2"/>
            <a:r>
              <a:rPr lang="en-AU" sz="1800" noProof="0"/>
              <a:t>Weekday early afternoons, 12 to 3</a:t>
            </a:r>
          </a:p>
          <a:p>
            <a:pPr lvl="2"/>
            <a:r>
              <a:rPr lang="en-AU" sz="1800" noProof="0"/>
              <a:t>Weekday late afternoons, 3 to 6</a:t>
            </a:r>
          </a:p>
          <a:p>
            <a:pPr lvl="2"/>
            <a:r>
              <a:rPr lang="en-AU" sz="1800" noProof="0"/>
              <a:t>Weekday evenings, 6 to 9</a:t>
            </a:r>
          </a:p>
          <a:p>
            <a:pPr lvl="2"/>
            <a:r>
              <a:rPr lang="en-AU" sz="1800" noProof="0"/>
              <a:t>Saturday, daytime</a:t>
            </a:r>
          </a:p>
          <a:p>
            <a:pPr lvl="2"/>
            <a:r>
              <a:rPr lang="en-AU" sz="1800" noProof="0"/>
              <a:t>Sunday, daytime</a:t>
            </a:r>
          </a:p>
          <a:p>
            <a:pPr lvl="2"/>
            <a:r>
              <a:rPr lang="en-AU" sz="1800" noProof="0"/>
              <a:t>Weekend evenings</a:t>
            </a:r>
          </a:p>
          <a:p>
            <a:pPr lvl="2"/>
            <a:r>
              <a:rPr lang="en-AU" sz="1800" noProof="0"/>
              <a:t>I can meet online but cannot come to campus outside my lab time</a:t>
            </a:r>
          </a:p>
          <a:p>
            <a:r>
              <a:rPr lang="en-AU" sz="1800" i="1" noProof="0"/>
              <a:t>The windows are deliberately broad. Each team picks its own day and time in Week 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>
            <a:normAutofit/>
          </a:bodyPr>
          <a:lstStyle/>
          <a:p>
            <a:r>
              <a:rPr lang="en-AU" noProof="0"/>
              <a:t>H. Expected weekly commitment (not scored)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0566773" cy="4846320"/>
          </a:xfrm>
        </p:spPr>
        <p:txBody>
          <a:bodyPr wrap="square"/>
          <a:lstStyle/>
          <a:p>
            <a:r>
              <a:rPr lang="en-AU" sz="1800" b="1" noProof="0"/>
              <a:t>Setting aside lectures and the lab itself, how much time do you expect to put into the project in a typical week?</a:t>
            </a:r>
          </a:p>
          <a:p>
            <a:pPr lvl="2"/>
            <a:r>
              <a:rPr lang="en-AU" sz="1800" noProof="0"/>
              <a:t>Up to 3 hours</a:t>
            </a:r>
          </a:p>
          <a:p>
            <a:pPr lvl="2"/>
            <a:r>
              <a:rPr lang="en-AU" sz="1800" noProof="0"/>
              <a:t>4 to 6 hours</a:t>
            </a:r>
          </a:p>
          <a:p>
            <a:pPr lvl="2"/>
            <a:r>
              <a:rPr lang="en-AU" sz="1800" noProof="0"/>
              <a:t>7 to 10 hours</a:t>
            </a:r>
          </a:p>
          <a:p>
            <a:pPr lvl="2"/>
            <a:r>
              <a:rPr lang="en-AU" sz="1800" noProof="0"/>
              <a:t>More than 10 hours</a:t>
            </a:r>
          </a:p>
          <a:p>
            <a:endParaRPr lang="en-AU" sz="1800" noProof="0"/>
          </a:p>
          <a:p>
            <a:r>
              <a:rPr lang="en-AU" sz="1800" i="1" noProof="0"/>
              <a:t>Answer what you realistically expect, not what you think is the right answer. Teams work better when members share similar expectations.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Forming your team: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91672" cy="4846320"/>
          </a:xfrm>
        </p:spPr>
        <p:txBody>
          <a:bodyPr wrap="square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noProof="0"/>
              <a:t>Five or six members. </a:t>
            </a:r>
            <a:r>
              <a:rPr lang="en-AU" sz="1800" noProof="0"/>
              <a:t>A team of five is not closed. </a:t>
            </a:r>
            <a:r>
              <a:rPr lang="en-AU" sz="1800" i="1" noProof="0"/>
              <a:t>Your tutor may add students until it reaches six.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noProof="0"/>
              <a:t>The total is not the target. </a:t>
            </a:r>
            <a:r>
              <a:rPr lang="en-AU" sz="1800" b="1" noProof="0"/>
              <a:t>What matters is coverage</a:t>
            </a:r>
            <a:r>
              <a:rPr lang="en-AU" sz="1800" noProof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noProof="0"/>
              <a:t>A gap is not a problem; it is a plan. </a:t>
            </a:r>
            <a:r>
              <a:rPr lang="en-AU" sz="1800" noProof="0"/>
              <a:t>Scores of 0 and 1 are expected: the course teaches most of this.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noProof="0"/>
              <a:t>Aim for:</a:t>
            </a:r>
          </a:p>
          <a:p>
            <a:pPr lvl="2"/>
            <a:r>
              <a:rPr lang="en-AU" sz="1800" noProof="0"/>
              <a:t>One person at D3 or above (backend).</a:t>
            </a:r>
          </a:p>
          <a:p>
            <a:pPr lvl="2"/>
            <a:r>
              <a:rPr lang="en-AU" sz="1800" noProof="0"/>
              <a:t>Someone else at C3 or above (frontend), or C2 if nobody higher is available.</a:t>
            </a:r>
          </a:p>
          <a:p>
            <a:pPr lvl="2"/>
            <a:r>
              <a:rPr lang="en-AU" sz="1800" noProof="0"/>
              <a:t>One person at B2 or above (version control).</a:t>
            </a:r>
          </a:p>
          <a:p>
            <a:pPr lvl="2"/>
            <a:r>
              <a:rPr lang="en-AU" sz="1800" noProof="0"/>
              <a:t>Someone willing to coordinate: a higher E helps, but willingness matters more.</a:t>
            </a:r>
          </a:p>
          <a:p>
            <a:pPr marL="1800" lvl="1" indent="0">
              <a:buNone/>
            </a:pPr>
            <a:endParaRPr lang="en-AU" sz="1800" i="1" noProof="0"/>
          </a:p>
          <a:p>
            <a:pPr marL="1800" lvl="1" indent="0">
              <a:buNone/>
            </a:pPr>
            <a:r>
              <a:rPr lang="en-AU" sz="1800" i="1" noProof="0"/>
              <a:t>(The above are suggestions, not requirements!)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Forming your team: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0583551" cy="4846320"/>
          </a:xfrm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b="1" noProof="0"/>
              <a:t>Availability counts more than skill. </a:t>
            </a:r>
            <a:r>
              <a:rPr lang="en-AU" sz="2200" noProof="0"/>
              <a:t>Find people who share at least two G windows with everyone on the team. If a member can only meet online, the team meets online.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b="1" noProof="0"/>
              <a:t>Match commitment expectations. </a:t>
            </a:r>
            <a:r>
              <a:rPr lang="en-AU" sz="2200" noProof="0"/>
              <a:t>Avoid a team holding both “up to 3 hours” and “more than 10 hours” on 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945EA-B298-B0CA-183D-8609C8B89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.png">
            <a:extLst>
              <a:ext uri="{FF2B5EF4-FFF2-40B4-BE49-F238E27FC236}">
                <a16:creationId xmlns:a16="http://schemas.microsoft.com/office/drawing/2014/main" id="{B1852022-3294-A195-C60E-B1E9C80A0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2926080" cy="9144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8D507E4-6CEA-2511-75BD-4FB6BD924809}"/>
              </a:ext>
            </a:extLst>
          </p:cNvPr>
          <p:cNvSpPr txBox="1"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4400" noProof="0">
                <a:solidFill>
                  <a:srgbClr val="000000"/>
                </a:solidFill>
                <a:latin typeface="+mj-lt"/>
                <a:ea typeface="Roboto" panose="02000000000000000000" pitchFamily="2" charset="0"/>
                <a:cs typeface="Arial" pitchFamily="34" charset="-120"/>
              </a:rPr>
              <a:t>Git and GitLab</a:t>
            </a:r>
            <a:endParaRPr lang="en-AU" sz="4400" noProof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81DE4D-BBD4-B1C3-F4E2-207E1EE55497}"/>
              </a:ext>
            </a:extLst>
          </p:cNvPr>
          <p:cNvSpPr/>
          <p:nvPr/>
        </p:nvSpPr>
        <p:spPr>
          <a:xfrm flipH="1">
            <a:off x="11359299" y="0"/>
            <a:ext cx="8327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58366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By the end of this hour, you will have: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44584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An SSH key that identifies your machine to GitLab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 repository on UNSW GitLab, cloned to your machine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Commits you made locally and pushed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 branch, pushed to GitLab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 merge request you opened and merged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 main branch pulled back down with the merge in it</a:t>
            </a:r>
            <a:endParaRPr lang="en-AU" sz="2000" noProof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The twelve steps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Why this course starts with Git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Get a Unix terminal; check Git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Tell Git who you are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Log in to GitLab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Add an SSH key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Create your repository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Clone it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Two commits, then push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Make a branch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Merge request, then merge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Check your own work</a:t>
            </a:r>
            <a:endParaRPr lang="en-AU" sz="1900" noProof="0"/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What comes next</a:t>
            </a:r>
            <a:endParaRPr lang="en-AU" sz="1900" noProof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1 — Why a SW project management course starts with Git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From Week 3 you work in a team of five or six in one repository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Two people editing the same file on the same afternoon is normal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Your commit history is the record of who did what and when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Demos are marked on what is on main — work on your laptop does not exist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Merge requests are where code review happens</a:t>
            </a:r>
            <a:endParaRPr lang="en-AU" sz="2000" noProof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2 — You need a Unix command line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Not a Git GUI, not the GitLab website. </a:t>
            </a:r>
            <a:r>
              <a:rPr lang="en-AU" sz="2000" b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 terminal.</a:t>
            </a:r>
            <a:endParaRPr lang="en-AU" sz="2000" b="1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The project needs Unix/Linux: web app, database, container build, CI pipeline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On Windows, that means WSL. Required for the project, not just today.</a:t>
            </a:r>
            <a:endParaRPr lang="en-AU" sz="2000" noProof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361714"/>
              </p:ext>
            </p:extLst>
          </p:nvPr>
        </p:nvGraphicFramePr>
        <p:xfrm>
          <a:off x="640080" y="3017520"/>
          <a:ext cx="10881360" cy="249631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1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Your machine</a:t>
                      </a:r>
                      <a:endParaRPr lang="en-AU" sz="1800" b="1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1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What to open</a:t>
                      </a:r>
                      <a:endParaRPr lang="en-AU" sz="1800" b="1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macOS</a:t>
                      </a:r>
                      <a:endParaRPr lang="en-AU" sz="18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Terminal (</a:t>
                      </a:r>
                      <a:r>
                        <a:rPr lang="en-AU" sz="1800" b="0" i="0" noProof="0" err="1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Cmd+Space</a:t>
                      </a: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, type "Terminal")</a:t>
                      </a:r>
                      <a:endParaRPr lang="en-AU" sz="18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Windows, WSL installed</a:t>
                      </a:r>
                      <a:endParaRPr lang="en-AU" sz="18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Ubuntu, from the Start menu</a:t>
                      </a:r>
                      <a:endParaRPr lang="en-AU" sz="18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Windows, no WSL</a:t>
                      </a:r>
                      <a:endParaRPr lang="en-AU" sz="18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See the next slide</a:t>
                      </a:r>
                      <a:endParaRPr lang="en-AU" sz="18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Linux</a:t>
                      </a:r>
                      <a:endParaRPr lang="en-AU" sz="18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Your usual terminal</a:t>
                      </a:r>
                      <a:endParaRPr lang="en-AU" sz="18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Nothing working today</a:t>
                      </a:r>
                      <a:endParaRPr lang="en-AU" sz="18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8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A CSE machine, or VLAB in a browser</a:t>
                      </a:r>
                      <a:endParaRPr lang="en-AU" sz="18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2.1 — Installing WSL on Windows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In PowerShell or Windows Terminal, opened as Administrator:</a:t>
            </a:r>
            <a:endParaRPr lang="en-AU" sz="18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4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</a:t>
            </a:r>
            <a:r>
              <a:rPr lang="en-AU" sz="24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--install</a:t>
            </a:r>
            <a:endParaRPr lang="en-AU" sz="2400" noProof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10881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Restart your computer. The installation is not finished until you do.</a:t>
            </a:r>
            <a:endParaRPr lang="en-AU" sz="19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Open Ubuntu from the Start menu. The first launch takes a minute or two.</a:t>
            </a:r>
            <a:endParaRPr lang="en-AU" sz="19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Create a UNIX username and password: new and separate from your UNSW account.</a:t>
            </a:r>
            <a:endParaRPr lang="en-AU" sz="19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The password shows nothing as you type it. That is normal.</a:t>
            </a:r>
            <a:endParaRPr lang="en-AU" sz="1900" noProof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2.1 — WSL: what to expect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43641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About a gigabyte </a:t>
            </a:r>
            <a:r>
              <a:rPr lang="en-AU" sz="20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to download 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and a restart. (It may not finish during the lab.)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Start it now, tell your tutor, and use VLAB for the rest of the hour.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Finish at home tonight and redo the lab; fifteen minutes the second time.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If </a:t>
            </a:r>
            <a:r>
              <a:rPr lang="en-AU" sz="2000" noProof="0" err="1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wsl</a:t>
            </a:r>
            <a:r>
              <a:rPr lang="en-AU" sz="20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--install 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fails: run Windows Update, or enable virtualisation in BIOS/UEFI.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Use </a:t>
            </a:r>
            <a:r>
              <a:rPr lang="en-AU" sz="20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Git for Windows 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only if you truly cannot install WSL.</a:t>
            </a:r>
            <a:r>
              <a:rPr lang="en-AU" sz="2000"/>
              <a:t> (</a:t>
            </a:r>
            <a:r>
              <a:rPr lang="en-AU" sz="20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It gets you through today. It will not get you through the project.)</a:t>
            </a:r>
            <a:endParaRPr lang="en-AU" sz="2000" noProof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2.2 — Check Git is installed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AU" sz="24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AU" sz="24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Do not type the $. It stands for the prompt your terminal already shows you.</a:t>
            </a:r>
          </a:p>
          <a:p>
            <a:pPr marL="0" indent="0">
              <a:buNone/>
            </a:pPr>
            <a:endParaRPr lang="en-AU" sz="1800" noProof="0"/>
          </a:p>
          <a:p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If Git is </a:t>
            </a:r>
            <a:r>
              <a:rPr lang="en-AU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installed, you'll see </a:t>
            </a: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git version 2.43.0 or similar. If you see "command not found":</a:t>
            </a:r>
            <a:endParaRPr lang="en-AU" sz="1800" noProof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10881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 / Ubuntu  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apt update &amp;&amp;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apt install git</a:t>
            </a:r>
            <a:endParaRPr lang="en-AU" sz="2000" noProof="0"/>
          </a:p>
          <a:p>
            <a:pPr marL="0" indent="0">
              <a:lnSpc>
                <a:spcPts val="3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Fedora        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install git</a:t>
            </a:r>
            <a:endParaRPr lang="en-AU" sz="2000" noProof="0"/>
          </a:p>
          <a:p>
            <a:pPr marL="0" indent="0">
              <a:lnSpc>
                <a:spcPts val="3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        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xcode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-select --install</a:t>
            </a:r>
            <a:endParaRPr lang="en-AU" sz="2000" noProof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AU" sz="1700" i="1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On Windows, install Git inside Ubuntu. Git installed on Windows is not in your WSL terminal.</a:t>
            </a:r>
            <a:endParaRPr lang="en-AU" sz="1700" i="1" noProof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3 — Tell Git who you are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"Your Full Name"</a:t>
            </a:r>
            <a:endParaRPr lang="en-AU" sz="2000" noProof="0"/>
          </a:p>
          <a:p>
            <a:pPr marL="0" indent="0">
              <a:lnSpc>
                <a:spcPts val="3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"z1234567@unsw.edu.au"</a:t>
            </a:r>
            <a:endParaRPr lang="en-AU" sz="2000" noProof="0"/>
          </a:p>
          <a:p>
            <a:pPr marL="0" indent="0">
              <a:lnSpc>
                <a:spcPts val="3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pull.rebase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false</a:t>
            </a:r>
            <a:endParaRPr lang="en-AU" sz="2000" noProof="0"/>
          </a:p>
          <a:p>
            <a:pPr marL="0" indent="0">
              <a:lnSpc>
                <a:spcPts val="3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core.editor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"nano"</a:t>
            </a:r>
            <a:endParaRPr lang="en-AU" sz="20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3169920"/>
            <a:ext cx="10881360" cy="323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Your real full name and your </a:t>
            </a:r>
            <a:r>
              <a:rPr lang="en-AU" sz="1900" noProof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zID</a:t>
            </a: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email. Both appear on every commit.</a:t>
            </a:r>
            <a:endParaRPr lang="en-AU" sz="1900" noProof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The last line stops Git from opening Vim. Nano tells you </a:t>
            </a:r>
            <a:r>
              <a:rPr lang="en-AU" sz="1900" noProof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Ctrl+X</a:t>
            </a: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exits.</a:t>
            </a:r>
            <a:endParaRPr lang="en-AU" sz="1900" noProof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Check with: </a:t>
            </a:r>
            <a:r>
              <a:rPr lang="en-AU" sz="19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 config --global --list</a:t>
            </a:r>
            <a:endParaRPr lang="en-AU" sz="1900" noProof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4 — Log in to GitLab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Go to </a:t>
            </a: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  <a:hlinkClick r:id="rId3"/>
              </a:rPr>
              <a:t>https://gitlab.cse.unsw.edu.au/</a:t>
            </a:r>
            <a:endParaRPr lang="en-AU" sz="2200" noProof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Tick </a:t>
            </a:r>
            <a:r>
              <a:rPr lang="en-AU" sz="22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“Remember me”</a:t>
            </a: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at the bottom of the form</a:t>
            </a:r>
            <a:endParaRPr lang="en-AU" sz="2200" noProof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Click </a:t>
            </a:r>
            <a:r>
              <a:rPr lang="en-AU" sz="22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"Login with UNSW Single Sign On (SSO)"</a:t>
            </a:r>
            <a:endParaRPr lang="en-AU" sz="2200" i="1" noProof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Sign in with your </a:t>
            </a:r>
            <a:r>
              <a:rPr lang="en-AU" sz="2200" noProof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zID</a:t>
            </a: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and </a:t>
            </a:r>
            <a:r>
              <a:rPr lang="en-AU" sz="2200" noProof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zPass</a:t>
            </a:r>
            <a:endParaRPr lang="en-AU" sz="22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AU" sz="19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This is UNSW’s GitLab, </a:t>
            </a:r>
            <a:r>
              <a:rPr lang="en-AU" sz="1900" i="1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not </a:t>
            </a:r>
            <a:r>
              <a:rPr lang="en-AU" sz="1900" i="1" noProof="0" err="1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gitlab.com</a:t>
            </a:r>
            <a:r>
              <a:rPr lang="en-AU" sz="19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. Your account already exists.</a:t>
            </a:r>
            <a:endParaRPr lang="en-AU" sz="1900" noProof="0"/>
          </a:p>
        </p:txBody>
      </p:sp>
      <p:sp>
        <p:nvSpPr>
          <p:cNvPr id="5" name="Text 3"/>
          <p:cNvSpPr txBox="1"/>
          <p:nvPr/>
        </p:nvSpPr>
        <p:spPr>
          <a:xfrm>
            <a:off x="640080" y="48463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2200" b="1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If you cannot get in, tell your tutor now. Not at the end of the lab.</a:t>
            </a:r>
            <a:endParaRPr lang="en-AU" sz="2200" b="1" noProof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5 — Add an SSH key to GitLab</a:t>
            </a:r>
            <a:endParaRPr lang="en-AU" sz="3200" noProof="0"/>
          </a:p>
        </p:txBody>
      </p:sp>
      <p:pic>
        <p:nvPicPr>
          <p:cNvPr id="3" name="Image 0" descr="img/ssh-key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463040"/>
            <a:ext cx="960120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6692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AU" sz="19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 private key stays on your machine. The public key goes to GitLab. No password on every push.</a:t>
            </a:r>
            <a:endParaRPr lang="en-AU" sz="1900" noProof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5.1 — Do you already have a key?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4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~/.ssh/id_ed25519.pub</a:t>
            </a:r>
            <a:endParaRPr lang="en-AU" sz="24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9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Most of you will see:</a:t>
            </a:r>
            <a:endParaRPr lang="en-AU" sz="1900" noProof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000000"/>
                </a:solidFill>
                <a:latin typeface="Courier New"/>
                <a:ea typeface="Courier New" pitchFamily="34" charset="-122"/>
                <a:cs typeface="Courier New"/>
              </a:rPr>
              <a:t>cat: /home</a:t>
            </a:r>
            <a:r>
              <a:rPr lang="en-AU">
                <a:solidFill>
                  <a:srgbClr val="000000"/>
                </a:solidFill>
                <a:latin typeface="Courier New"/>
                <a:ea typeface="Courier New" pitchFamily="34" charset="-122"/>
                <a:cs typeface="Courier New"/>
              </a:rPr>
              <a:t>/&lt;</a:t>
            </a:r>
            <a:r>
              <a:rPr lang="en-AU" sz="1800" noProof="0">
                <a:solidFill>
                  <a:srgbClr val="000000"/>
                </a:solidFill>
                <a:latin typeface="Courier New"/>
                <a:ea typeface="Courier New" pitchFamily="34" charset="-122"/>
                <a:cs typeface="Courier New"/>
              </a:rPr>
              <a:t>you</a:t>
            </a:r>
            <a:r>
              <a:rPr lang="en-AU">
                <a:solidFill>
                  <a:srgbClr val="000000"/>
                </a:solidFill>
                <a:latin typeface="Courier New"/>
                <a:ea typeface="Courier New" pitchFamily="34" charset="-122"/>
                <a:cs typeface="Courier New"/>
              </a:rPr>
              <a:t>&gt;/.</a:t>
            </a:r>
            <a:r>
              <a:rPr lang="en-AU" sz="1800" noProof="0">
                <a:solidFill>
                  <a:srgbClr val="000000"/>
                </a:solidFill>
                <a:latin typeface="Courier New"/>
                <a:ea typeface="Courier New" pitchFamily="34" charset="-122"/>
                <a:cs typeface="Courier New"/>
              </a:rPr>
              <a:t>ssh/id_ed25519.pub: No such file or directory</a:t>
            </a:r>
            <a:endParaRPr lang="en-AU" sz="1800" noProof="0">
              <a:latin typeface="Courier New"/>
              <a:cs typeface="Courier New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3223260"/>
            <a:ext cx="10881360" cy="317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That is the expected answer; go to 5.2</a:t>
            </a:r>
            <a:endParaRPr lang="en-AU" sz="19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If you see a line starting with </a:t>
            </a:r>
            <a:r>
              <a:rPr lang="en-AU" sz="19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ssh-ed25519</a:t>
            </a: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, you already have a key; skip to 5.3</a:t>
            </a:r>
            <a:endParaRPr lang="en-AU" sz="1900" noProof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5.2 — Generate a key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4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ssh-keygen -t ed25519</a:t>
            </a:r>
            <a:endParaRPr lang="en-AU" sz="24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Three questions. Press </a:t>
            </a:r>
            <a:r>
              <a:rPr lang="en-AU" sz="20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Enter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for all three: Default file location, empty passphrase, empty passphrase again.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id_ed25519 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is private: never paste it, commit it, or send it to anyone.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id_ed25519.pub 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is public: that is the one you hand to GitLab.</a:t>
            </a:r>
            <a:endParaRPr lang="en-AU" sz="2000" noProof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5.3 — Copy the public key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2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~/.ssh/id_ed25519.pub</a:t>
            </a:r>
            <a:endParaRPr lang="en-AU" sz="22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2069264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Copy the whole line, all of it:</a:t>
            </a:r>
            <a:endParaRPr lang="en-AU" sz="1800" noProof="0"/>
          </a:p>
        </p:txBody>
      </p:sp>
      <p:sp>
        <p:nvSpPr>
          <p:cNvPr id="5" name="Text 3"/>
          <p:cNvSpPr txBox="1"/>
          <p:nvPr/>
        </p:nvSpPr>
        <p:spPr>
          <a:xfrm>
            <a:off x="640080" y="2480744"/>
            <a:ext cx="10881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5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ssh-ed25519 AAAAC3NzaC1lZDI1NTE5AAAAIGaEIgJc0mYJRqcoNx44BITl</a:t>
            </a:r>
            <a:endParaRPr lang="en-AU" sz="15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15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QFA8cdRIiEh4HgEjf2aQ </a:t>
            </a:r>
            <a:r>
              <a:rPr lang="en-AU" sz="15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you@yourlaptop</a:t>
            </a:r>
            <a:endParaRPr lang="en-AU" sz="1500" noProof="0"/>
          </a:p>
        </p:txBody>
      </p:sp>
      <p:sp>
        <p:nvSpPr>
          <p:cNvPr id="6" name="Text 4"/>
          <p:cNvSpPr txBox="1"/>
          <p:nvPr/>
        </p:nvSpPr>
        <p:spPr>
          <a:xfrm>
            <a:off x="640080" y="3738230"/>
            <a:ext cx="10881360" cy="498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Or send it straight to the clipboard:</a:t>
            </a:r>
            <a:endParaRPr lang="en-AU" sz="1800" noProof="0"/>
          </a:p>
        </p:txBody>
      </p:sp>
      <p:sp>
        <p:nvSpPr>
          <p:cNvPr id="7" name="Text 5"/>
          <p:cNvSpPr txBox="1"/>
          <p:nvPr/>
        </p:nvSpPr>
        <p:spPr>
          <a:xfrm>
            <a:off x="640080" y="4003406"/>
            <a:ext cx="10881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     </a:t>
            </a:r>
            <a:r>
              <a:rPr lang="en-AU" sz="18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clip.exe</a:t>
            </a: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~/.ssh/id_ed25519.pub</a:t>
            </a:r>
            <a:endParaRPr lang="en-AU" sz="18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  </a:t>
            </a:r>
            <a:r>
              <a:rPr lang="en-AU" sz="18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pbcopy</a:t>
            </a: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~/.ssh/id_ed25519.pub</a:t>
            </a:r>
            <a:endParaRPr lang="en-AU" sz="18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  </a:t>
            </a:r>
            <a:r>
              <a:rPr lang="en-AU" sz="18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xclip</a:t>
            </a: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-selection clipboard &lt; ~/.ssh/id_ed25519.pub</a:t>
            </a:r>
            <a:endParaRPr lang="en-AU" sz="1800" noProof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5.4 — Paste it into GitLab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Go to </a:t>
            </a: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  <a:hlinkClick r:id="rId3"/>
              </a:rPr>
              <a:t>gitlab.cse.unsw.edu.au/-/user_settings/ssh_keys</a:t>
            </a:r>
            <a:endParaRPr lang="en-AU" sz="22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Click “Add new key”</a:t>
            </a:r>
            <a:endParaRPr lang="en-AU" sz="22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Paste it into the Key box; the Title fills in automatically.</a:t>
            </a:r>
            <a:endParaRPr lang="en-AU" sz="22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Leave the expiry date alone, click “Add key”</a:t>
            </a:r>
            <a:endParaRPr lang="en-AU" sz="2200" noProof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5.5 — Prove it works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2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-T </a:t>
            </a:r>
            <a:r>
              <a:rPr lang="en-AU" sz="22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git@gitlab.cse.unsw.edu.au</a:t>
            </a:r>
            <a:endParaRPr lang="en-AU" sz="22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19735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9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First time it asks whether you trust the server. Type yes in full, not y.</a:t>
            </a:r>
            <a:endParaRPr lang="en-AU" sz="1900" noProof="0"/>
          </a:p>
        </p:txBody>
      </p:sp>
      <p:sp>
        <p:nvSpPr>
          <p:cNvPr id="5" name="Text 3"/>
          <p:cNvSpPr txBox="1"/>
          <p:nvPr/>
        </p:nvSpPr>
        <p:spPr>
          <a:xfrm>
            <a:off x="640080" y="24765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2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GitLab, @z1234567!</a:t>
            </a:r>
            <a:endParaRPr lang="en-AU" sz="2200" noProof="0"/>
          </a:p>
        </p:txBody>
      </p:sp>
      <p:sp>
        <p:nvSpPr>
          <p:cNvPr id="6" name="Text 4"/>
          <p:cNvSpPr txBox="1"/>
          <p:nvPr/>
        </p:nvSpPr>
        <p:spPr>
          <a:xfrm>
            <a:off x="640080" y="3261360"/>
            <a:ext cx="1088136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 line about PTY allocation failing is normal. Ignore it.</a:t>
            </a:r>
            <a:endParaRPr lang="en-AU" sz="19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Permission denied (</a:t>
            </a:r>
            <a:r>
              <a:rPr lang="en-AU" sz="1900" noProof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publickey</a:t>
            </a: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) means the key did not get across; redo 5.3 and 5.4.</a:t>
            </a:r>
            <a:endParaRPr lang="en-AU" sz="1900" noProof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6 — Create your repository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Click + in the top bar, then </a:t>
            </a:r>
            <a:r>
              <a:rPr lang="en-AU" sz="21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New project/repository</a:t>
            </a:r>
            <a:endParaRPr lang="en-AU" sz="2100" i="1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Choose </a:t>
            </a:r>
            <a:r>
              <a:rPr lang="en-AU" sz="21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“Create blank project”</a:t>
            </a:r>
            <a:endParaRPr lang="en-AU" sz="2100" i="1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Project name: </a:t>
            </a:r>
            <a:r>
              <a:rPr lang="en-AU" sz="21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comp9820-lab01-git</a:t>
            </a:r>
            <a:endParaRPr lang="en-AU" sz="2100" noProof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Leave the namespace as your own username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Visibility: Private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Tick </a:t>
            </a:r>
            <a:r>
              <a:rPr lang="en-AU" sz="21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“Initialize repository with a README”</a:t>
            </a:r>
            <a:endParaRPr lang="en-AU" sz="2100" i="1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Click Create project</a:t>
            </a:r>
            <a:endParaRPr lang="en-AU" sz="2100" noProof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Where your work lives</a:t>
            </a:r>
            <a:endParaRPr lang="en-AU" sz="3200" noProof="0"/>
          </a:p>
        </p:txBody>
      </p:sp>
      <p:pic>
        <p:nvPicPr>
          <p:cNvPr id="3" name="Image 0" descr="img/git-usage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337" y="1097280"/>
            <a:ext cx="673389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7 — Copy the SSH URL</a:t>
            </a:r>
            <a:endParaRPr lang="en-AU" sz="3200" noProof="0"/>
          </a:p>
        </p:txBody>
      </p:sp>
      <p:pic>
        <p:nvPicPr>
          <p:cNvPr id="3" name="Image 0" descr="img/git-clone-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322" y="1371600"/>
            <a:ext cx="7878876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5321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Blue Code button, top right. Select </a:t>
            </a:r>
            <a:r>
              <a:rPr lang="en-AU" sz="1800" i="1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“Clone with SSH”</a:t>
            </a: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. It must start with git@, not https://</a:t>
            </a:r>
            <a:endParaRPr lang="en-AU" sz="1800" noProof="0"/>
          </a:p>
          <a:p>
            <a:pPr marL="0" indent="0">
              <a:buNone/>
            </a:pPr>
            <a:endParaRPr lang="en-AU" sz="1800" i="1" noProof="0">
              <a:solidFill>
                <a:srgbClr val="444444"/>
              </a:solidFill>
              <a:latin typeface="Roboto" panose="02000000000000000000" pitchFamily="2" charset="0"/>
              <a:ea typeface="Roboto" panose="02000000000000000000" pitchFamily="2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AU" sz="1800" i="1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(Screenshot from an earlier offering: your project name and the host will look different.)</a:t>
            </a:r>
            <a:endParaRPr lang="en-AU" sz="1800" i="1" noProof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7 — Clone it to your machine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AU" sz="18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-p ~/comp9820</a:t>
            </a:r>
            <a:endParaRPr lang="en-AU" sz="18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~/comp9820</a:t>
            </a:r>
            <a:endParaRPr lang="en-AU" sz="18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git@gitlab.cse.unsw.edu.au:z1234567/comp9820-lab01-git.git</a:t>
            </a:r>
            <a:endParaRPr lang="en-AU" sz="18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comp9820-lab01-git</a:t>
            </a:r>
            <a:endParaRPr lang="en-AU" sz="18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18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AU" sz="18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3360420"/>
            <a:ext cx="10881360" cy="304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ls should show </a:t>
            </a:r>
            <a:r>
              <a:rPr lang="en-AU" sz="1900" noProof="0" err="1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README.md</a:t>
            </a:r>
            <a:endParaRPr lang="en-AU" sz="1900" noProof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Asked for a password? You copied the HTTPS URL. Start again with the git@ one.</a:t>
            </a:r>
            <a:endParaRPr lang="en-AU" sz="19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On WSL, clone into your Linux home as shown; not into </a:t>
            </a:r>
            <a:r>
              <a:rPr lang="en-AU" sz="19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/</a:t>
            </a:r>
            <a:r>
              <a:rPr lang="en-AU" sz="1900" noProof="0" err="1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mnt</a:t>
            </a:r>
            <a:r>
              <a:rPr lang="en-AU" sz="19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/c/...</a:t>
            </a:r>
            <a:endParaRPr lang="en-AU" sz="1900" noProof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8 — A commit takes two steps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4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 add </a:t>
            </a:r>
            <a:r>
              <a:rPr lang="en-AU" sz="24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stages a change. It means </a:t>
            </a:r>
            <a:r>
              <a:rPr lang="en-AU" sz="24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"include this in the next commit”.</a:t>
            </a:r>
            <a:endParaRPr lang="en-AU" sz="2400" i="1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4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 commit </a:t>
            </a:r>
            <a:r>
              <a:rPr lang="en-AU" sz="24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records everything staged, with a message</a:t>
            </a:r>
            <a:endParaRPr lang="en-AU" sz="24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4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Neither of them touches GitLab</a:t>
            </a:r>
            <a:endParaRPr lang="en-AU" sz="24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4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 push </a:t>
            </a:r>
            <a:r>
              <a:rPr lang="en-AU" sz="24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does that</a:t>
            </a:r>
            <a:endParaRPr lang="en-AU" sz="2400" noProof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8 — Watch git status change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"I am first" &gt;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first.txt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AU" sz="20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900" noProof="0" err="1">
                <a:solidFill>
                  <a:srgbClr val="444444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first.txt</a:t>
            </a:r>
            <a:r>
              <a:rPr lang="en-AU" sz="1900" noProof="0">
                <a:solidFill>
                  <a:srgbClr val="444444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AU" sz="19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is untracked: it is in the folder, and Git is not looking after it yet.</a:t>
            </a:r>
            <a:endParaRPr lang="en-AU" sz="1900" noProof="0"/>
          </a:p>
        </p:txBody>
      </p:sp>
      <p:sp>
        <p:nvSpPr>
          <p:cNvPr id="5" name="Text 3"/>
          <p:cNvSpPr txBox="1"/>
          <p:nvPr/>
        </p:nvSpPr>
        <p:spPr>
          <a:xfrm>
            <a:off x="752969" y="3246120"/>
            <a:ext cx="10881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first.txt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AU" sz="2000" noProof="0"/>
          </a:p>
        </p:txBody>
      </p:sp>
      <p:sp>
        <p:nvSpPr>
          <p:cNvPr id="6" name="Text 4"/>
          <p:cNvSpPr txBox="1"/>
          <p:nvPr/>
        </p:nvSpPr>
        <p:spPr>
          <a:xfrm>
            <a:off x="640080" y="42367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AU" sz="19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It is now selected to be committed. But nothing has been recorded yet.</a:t>
            </a:r>
            <a:endParaRPr lang="en-AU" sz="1900" noProof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8 — Commit, then commit again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first.txt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with an opening line"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AU" sz="20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2316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9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The commit is on your machine. </a:t>
            </a:r>
            <a:r>
              <a:rPr lang="en-AU" sz="1900" noProof="0">
                <a:solidFill>
                  <a:srgbClr val="444444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 status </a:t>
            </a:r>
            <a:r>
              <a:rPr lang="en-AU" sz="19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says you are ahead of origin/main by one commit.</a:t>
            </a:r>
            <a:endParaRPr lang="en-AU" sz="1900" noProof="0"/>
          </a:p>
        </p:txBody>
      </p:sp>
      <p:sp>
        <p:nvSpPr>
          <p:cNvPr id="5" name="Text 3"/>
          <p:cNvSpPr txBox="1"/>
          <p:nvPr/>
        </p:nvSpPr>
        <p:spPr>
          <a:xfrm>
            <a:off x="640080" y="2819400"/>
            <a:ext cx="108813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"I am still first" &gt;&gt;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first.txt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first.txt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 a second line to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first.txt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oneline</a:t>
            </a:r>
            <a:endParaRPr lang="en-AU" sz="2000" noProof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8 — Push it to GitLab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4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AU" sz="24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4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AU" sz="24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108813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Refresh the project page on GitLab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Both commits are there, </a:t>
            </a:r>
            <a:r>
              <a:rPr lang="en-AU" sz="2100" noProof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first.txt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is there, your name is next to them</a:t>
            </a:r>
            <a:endParaRPr lang="en-AU" sz="2100" noProof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8.1 — Commit messages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AU" sz="20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Write </a:t>
            </a:r>
            <a:r>
              <a:rPr lang="en-AU" sz="2000" i="1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what</a:t>
            </a:r>
            <a:r>
              <a:rPr lang="en-AU" sz="200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changed and, </a:t>
            </a:r>
            <a:r>
              <a:rPr lang="en-AU" sz="20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where it is not obvious, </a:t>
            </a:r>
            <a:r>
              <a:rPr lang="en-AU" sz="2000" i="1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why</a:t>
            </a:r>
            <a:r>
              <a:rPr lang="en-AU" sz="20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. These become your sprint reports.</a:t>
            </a:r>
            <a:endParaRPr lang="en-AU" sz="2000" noProof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657296"/>
              </p:ext>
            </p:extLst>
          </p:nvPr>
        </p:nvGraphicFramePr>
        <p:xfrm>
          <a:off x="640080" y="2194560"/>
          <a:ext cx="9097809" cy="1736344"/>
        </p:xfrm>
        <a:graphic>
          <a:graphicData uri="http://schemas.openxmlformats.org/drawingml/2006/table">
            <a:tbl>
              <a:tblPr/>
              <a:tblGrid>
                <a:gridCol w="244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1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1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Poor</a:t>
                      </a:r>
                      <a:endParaRPr lang="en-AU" sz="1900" b="1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1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Better</a:t>
                      </a:r>
                      <a:endParaRPr lang="en-AU" sz="1900" b="1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fix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Fix crash when the booking form is submitted empty.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update stuff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Add validation for the date field.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 err="1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asdf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Remove the debug print from the login handler.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9 — Branches</a:t>
            </a:r>
            <a:endParaRPr lang="en-AU" sz="3200" noProof="0"/>
          </a:p>
        </p:txBody>
      </p:sp>
      <p:pic>
        <p:nvPicPr>
          <p:cNvPr id="3" name="Image 0" descr="img/git-branches-m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402" y="1371600"/>
            <a:ext cx="7854716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6235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AU" sz="1800" b="1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 branch lets you work </a:t>
            </a:r>
            <a:r>
              <a:rPr lang="en-AU" b="1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on the same files without disturbing each other.</a:t>
            </a:r>
            <a:endParaRPr lang="en-AU" sz="1800" b="1" noProof="0"/>
          </a:p>
          <a:p>
            <a:pPr marL="0" indent="0">
              <a:buNone/>
            </a:pPr>
            <a:endParaRPr lang="en-AU" sz="1800" noProof="0">
              <a:solidFill>
                <a:srgbClr val="444444"/>
              </a:solidFill>
              <a:latin typeface="Roboto" panose="02000000000000000000" pitchFamily="2" charset="0"/>
              <a:ea typeface="Roboto" panose="02000000000000000000" pitchFamily="2" charset="0"/>
              <a:cs typeface="Arial" pitchFamily="34" charset="-120"/>
            </a:endParaRPr>
          </a:p>
          <a:p>
            <a:r>
              <a:rPr lang="en-AU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(</a:t>
            </a: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The diagram says </a:t>
            </a:r>
            <a:r>
              <a:rPr lang="en-AU" noProof="0">
                <a:solidFill>
                  <a:srgbClr val="444444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Master</a:t>
            </a:r>
            <a:r>
              <a:rPr lang="en-AU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; in our repositories, </a:t>
            </a: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that branch is called </a:t>
            </a:r>
            <a:r>
              <a:rPr lang="en-AU" sz="1800" noProof="0">
                <a:solidFill>
                  <a:srgbClr val="444444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main</a:t>
            </a: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.)</a:t>
            </a:r>
            <a:endParaRPr lang="en-AU" sz="1800" noProof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9 — Make a branch and commit on it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add-second-file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"I am second" &gt;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second.txt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second.txt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 </a:t>
            </a:r>
            <a:r>
              <a:rPr lang="en-AU" sz="20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second.txt</a:t>
            </a: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AU" sz="20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AU" sz="20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Branch names describe the work: add-second-file, fix-login-validation</a:t>
            </a:r>
            <a:endParaRPr lang="en-AU" sz="19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19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Not branch2. Not your own name.</a:t>
            </a:r>
            <a:endParaRPr lang="en-AU" sz="1900" noProof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9 — That push fails. Read the error.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17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fatal: The current branch add-second-file has no upstream branch.</a:t>
            </a:r>
            <a:endParaRPr lang="en-AU" sz="17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17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push the current branch and set the remote as upstream, use</a:t>
            </a:r>
            <a:endParaRPr lang="en-AU" sz="1700" noProof="0"/>
          </a:p>
          <a:p>
            <a:pPr marL="0" indent="0">
              <a:lnSpc>
                <a:spcPct val="130000"/>
              </a:lnSpc>
              <a:buNone/>
            </a:pPr>
            <a:endParaRPr lang="en-AU" sz="17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17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git push --set-upstream origin add-second-file</a:t>
            </a:r>
            <a:endParaRPr lang="en-AU" sz="17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28498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AU" sz="19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The branch exists only on your machine. GitLab has never heard of it. Do as it says:</a:t>
            </a:r>
            <a:endParaRPr lang="en-AU" sz="1900" noProof="0"/>
          </a:p>
        </p:txBody>
      </p:sp>
      <p:sp>
        <p:nvSpPr>
          <p:cNvPr id="5" name="Text 3"/>
          <p:cNvSpPr txBox="1"/>
          <p:nvPr/>
        </p:nvSpPr>
        <p:spPr>
          <a:xfrm>
            <a:off x="640080" y="3307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2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add-second-file</a:t>
            </a:r>
            <a:endParaRPr lang="en-AU" sz="2200" noProof="0"/>
          </a:p>
        </p:txBody>
      </p:sp>
      <p:sp>
        <p:nvSpPr>
          <p:cNvPr id="6" name="Text 4"/>
          <p:cNvSpPr txBox="1"/>
          <p:nvPr/>
        </p:nvSpPr>
        <p:spPr>
          <a:xfrm>
            <a:off x="640080" y="39547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Only needed the first time you push a new branch. Keep this output on </a:t>
            </a:r>
            <a:r>
              <a:rPr lang="en-AU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the screen; </a:t>
            </a:r>
            <a:r>
              <a:rPr lang="en-AU" sz="18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you need the link.</a:t>
            </a:r>
            <a:endParaRPr lang="en-AU" sz="1800" noProof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10 — Why a merge request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589137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On your own repo, you could merge from the command line. You are not going to.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/>
                <a:ea typeface="Roboto"/>
                <a:cs typeface="Arial"/>
              </a:rPr>
              <a:t>In the group project, </a:t>
            </a:r>
            <a:r>
              <a:rPr lang="en-AU" sz="2100" noProof="0">
                <a:solidFill>
                  <a:srgbClr val="000000"/>
                </a:solidFill>
                <a:latin typeface="Courier New"/>
                <a:ea typeface="Roboto"/>
                <a:cs typeface="Courier New"/>
              </a:rPr>
              <a:t>main</a:t>
            </a:r>
            <a:r>
              <a:rPr lang="en-AU" sz="2100" noProof="0">
                <a:solidFill>
                  <a:srgbClr val="000000"/>
                </a:solidFill>
                <a:latin typeface="Roboto"/>
                <a:ea typeface="Roboto"/>
                <a:cs typeface="Arial"/>
              </a:rPr>
              <a:t> is protected</a:t>
            </a:r>
            <a:r>
              <a:rPr lang="en-AU" sz="2100">
                <a:solidFill>
                  <a:srgbClr val="000000"/>
                </a:solidFill>
                <a:latin typeface="Roboto"/>
                <a:ea typeface="Roboto"/>
                <a:cs typeface="Arial"/>
              </a:rPr>
              <a:t> which you can't push your code directly into there;</a:t>
            </a:r>
            <a:r>
              <a:rPr lang="en-AU" sz="2100" noProof="0">
                <a:solidFill>
                  <a:srgbClr val="000000"/>
                </a:solidFill>
                <a:latin typeface="Roboto"/>
                <a:ea typeface="Roboto"/>
                <a:cs typeface="Arial"/>
              </a:rPr>
              <a:t> the only way in is a merge request.</a:t>
            </a:r>
            <a:endParaRPr lang="en-AU" sz="2100" noProof="0">
              <a:latin typeface="Roboto"/>
              <a:ea typeface="Roboto"/>
              <a:cs typeface="Arial"/>
            </a:endParaRP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 merge request is a proposal: here are my commits, please put them on </a:t>
            </a:r>
            <a:r>
              <a:rPr lang="en-AU" sz="2100">
                <a:solidFill>
                  <a:srgbClr val="000000"/>
                </a:solidFill>
                <a:latin typeface="Courier New"/>
                <a:ea typeface="Roboto"/>
                <a:cs typeface="Courier New"/>
              </a:rPr>
              <a:t>main</a:t>
            </a:r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It is where review comments are made, and where CI results appear from Week 3</a:t>
            </a:r>
            <a:endParaRPr lang="en-AU" sz="2100" noProof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10 — Open it, then merge it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Click the merge request link printed by your push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Title: </a:t>
            </a:r>
            <a:r>
              <a:rPr lang="en-AU" sz="21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Add </a:t>
            </a:r>
            <a:r>
              <a:rPr lang="en-AU" sz="2100" i="1" noProof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second.txt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. Write a real description (a sentence or two).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Click </a:t>
            </a:r>
            <a:r>
              <a:rPr lang="en-AU" sz="21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Create merge 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request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Look at the </a:t>
            </a:r>
            <a:r>
              <a:rPr lang="en-AU" sz="21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Changes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 tab; this is what a reviewer sees: the diff, not your files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Untick </a:t>
            </a:r>
            <a:r>
              <a:rPr lang="en-AU" sz="21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“Delete source branch when merge request is accepted” 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(for this lab only)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Click </a:t>
            </a:r>
            <a:r>
              <a:rPr lang="en-AU" sz="21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Merge</a:t>
            </a:r>
            <a:endParaRPr lang="en-AU" sz="2100" i="1" noProof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10 — Bring the merge back down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1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main</a:t>
            </a:r>
            <a:endParaRPr lang="en-AU" sz="21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1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pull</a:t>
            </a:r>
            <a:endParaRPr lang="en-AU" sz="21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1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AU" sz="21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1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</a:t>
            </a:r>
            <a:r>
              <a:rPr lang="en-AU" sz="21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oneline</a:t>
            </a:r>
            <a:r>
              <a:rPr lang="en-AU" sz="21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--graph --all</a:t>
            </a:r>
            <a:endParaRPr lang="en-AU" sz="21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 err="1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second.txt</a:t>
            </a:r>
            <a:r>
              <a:rPr lang="en-AU" sz="20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is there, and the graph shows your branch joining main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 pull 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is the command you will run most often this term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Always pull before you start work. </a:t>
            </a:r>
            <a:r>
              <a:rPr lang="en-AU" sz="2000" b="1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Every single time.</a:t>
            </a:r>
            <a:endParaRPr lang="en-AU" sz="2000" b="1" i="1" noProof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11 — Check your own work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000" noProof="0">
                <a:solidFill>
                  <a:srgbClr val="444444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Paste the block from the lab handout to create the two scripts, then:</a:t>
            </a:r>
            <a:endParaRPr lang="en-AU" sz="20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881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AU" sz="22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bash </a:t>
            </a:r>
            <a:r>
              <a:rPr lang="en-AU" sz="22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test_git_basics.sh</a:t>
            </a:r>
            <a:endParaRPr lang="en-AU" sz="2200" noProof="0"/>
          </a:p>
          <a:p>
            <a:pPr marL="0" indent="0">
              <a:lnSpc>
                <a:spcPct val="130000"/>
              </a:lnSpc>
              <a:buNone/>
            </a:pPr>
            <a:r>
              <a:rPr lang="en-AU" sz="2200" noProof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bash </a:t>
            </a:r>
            <a:r>
              <a:rPr lang="en-AU" sz="2200" noProof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test_git_advance.sh</a:t>
            </a:r>
            <a:endParaRPr lang="en-AU" sz="2200" noProof="0"/>
          </a:p>
        </p:txBody>
      </p:sp>
      <p:sp>
        <p:nvSpPr>
          <p:cNvPr id="5" name="Text 3"/>
          <p:cNvSpPr txBox="1"/>
          <p:nvPr/>
        </p:nvSpPr>
        <p:spPr>
          <a:xfrm>
            <a:off x="640080" y="3169920"/>
            <a:ext cx="10881360" cy="323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You want </a:t>
            </a:r>
            <a:r>
              <a:rPr lang="en-AU" sz="20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Tests passed 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from each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Nothing is submitted, and none of this is marked</a:t>
            </a:r>
            <a:endParaRPr lang="en-AU" sz="20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Then run </a:t>
            </a:r>
            <a:r>
              <a:rPr lang="en-AU" sz="20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 status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: the two scripts sit there untracked, just like </a:t>
            </a:r>
            <a:r>
              <a:rPr lang="en-AU" sz="2000" noProof="0" err="1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first.txt</a:t>
            </a:r>
            <a:r>
              <a:rPr lang="en-AU" sz="20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AU" sz="20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did.</a:t>
            </a:r>
            <a:endParaRPr lang="en-AU" sz="2000" noProof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12 — The five commands that carry the work</a:t>
            </a:r>
            <a:endParaRPr lang="en-AU" sz="3200" noProof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06583"/>
              </p:ext>
            </p:extLst>
          </p:nvPr>
        </p:nvGraphicFramePr>
        <p:xfrm>
          <a:off x="640079" y="1463040"/>
          <a:ext cx="10408135" cy="2664841"/>
        </p:xfrm>
        <a:graphic>
          <a:graphicData uri="http://schemas.openxmlformats.org/drawingml/2006/table">
            <a:tbl>
              <a:tblPr/>
              <a:tblGrid>
                <a:gridCol w="314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9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1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Command</a:t>
                      </a:r>
                      <a:endParaRPr lang="en-AU" sz="1900" b="1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1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What it does</a:t>
                      </a:r>
                      <a:endParaRPr lang="en-AU" sz="1900" b="1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noProof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status</a:t>
                      </a:r>
                      <a:endParaRPr lang="en-AU" sz="1900" noProof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What is going on right now. Run it constantly.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noProof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pull</a:t>
                      </a:r>
                      <a:endParaRPr lang="en-AU" sz="1900" noProof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Bring down other people’s work. Run it before you start.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noProof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add / git commit</a:t>
                      </a:r>
                      <a:endParaRPr lang="en-AU" sz="1900" noProof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Record your work locally, with a message.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noProof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push</a:t>
                      </a:r>
                      <a:endParaRPr lang="en-AU" sz="1900" noProof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Send it to GitLab.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noProof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checkout -b</a:t>
                      </a:r>
                      <a:endParaRPr lang="en-AU" sz="1900" noProof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buNone/>
                      </a:pPr>
                      <a:r>
                        <a:rPr lang="en-AU" sz="1900" b="0" i="0" noProof="0">
                          <a:solidFill>
                            <a:srgbClr val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" pitchFamily="34" charset="-120"/>
                        </a:rPr>
                        <a:t>Start a branch for a piece of work.</a:t>
                      </a:r>
                      <a:endParaRPr lang="en-AU" sz="1900" b="0" i="0" noProof="0">
                        <a:latin typeface="Roboto" panose="02000000000000000000" pitchFamily="2" charset="0"/>
                        <a:ea typeface="Roboto" panose="02000000000000000000" pitchFamily="2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12 — Before the Week 2 lab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Make the whole loop work on the machine you will use for the project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With WSL, if you are on Windows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Week 2 forms teams and moves to GitLab issues, boards and milestones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It assumes today’s setup is done</a:t>
            </a:r>
            <a:endParaRPr lang="en-AU" sz="2100" noProof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1038928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AU" sz="2400" b="1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Ask your tutor for help now if anything didn’t work. </a:t>
            </a:r>
            <a:r>
              <a:rPr lang="en-AU" sz="2400" i="1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Cheaper to fix in Week 1 than in Week 3 with a sprint running.</a:t>
            </a:r>
            <a:endParaRPr lang="en-AU" sz="2400" i="1" noProof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If you finish early</a:t>
            </a:r>
            <a:endParaRPr lang="en-AU" sz="3200" noProof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Cause a merge conflict on purpose, and resolve it (edit </a:t>
            </a:r>
            <a:r>
              <a:rPr lang="en-AU" sz="2100" noProof="0" err="1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third.txt</a:t>
            </a:r>
            <a:r>
              <a:rPr lang="en-AU" sz="21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on both branches)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Edit </a:t>
            </a:r>
            <a:r>
              <a:rPr lang="en-AU" sz="2100" noProof="0" err="1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first.txt</a:t>
            </a:r>
            <a:r>
              <a:rPr lang="en-AU" sz="21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in the GitLab web editor, then </a:t>
            </a:r>
            <a:r>
              <a:rPr lang="en-AU" sz="21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 pull 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it down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Try </a:t>
            </a:r>
            <a:r>
              <a:rPr lang="en-AU" sz="21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 diff 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before you add, and </a:t>
            </a:r>
            <a:r>
              <a:rPr lang="en-AU" sz="2100" noProof="0">
                <a:solidFill>
                  <a:srgbClr val="000000"/>
                </a:solidFill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 diff --cached 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after</a:t>
            </a:r>
            <a:endParaRPr lang="en-AU" sz="2100" noProof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</a:rPr>
              <a:t>Atlassian’s Git guide: </a:t>
            </a:r>
            <a:r>
              <a:rPr lang="en-AU" sz="2100" noProof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-120"/>
                <a:hlinkClick r:id="rId3"/>
              </a:rPr>
              <a:t>https://www.atlassian.com/git</a:t>
            </a:r>
            <a:endParaRPr lang="en-AU" sz="2100" noProof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A3BF-D64E-2B46-9F7A-88DF9D5B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46C8B9A-45C2-6717-2661-A33C24A4E0F2}"/>
              </a:ext>
            </a:extLst>
          </p:cNvPr>
          <p:cNvSpPr txBox="1"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4400" noProof="0">
                <a:solidFill>
                  <a:srgbClr val="000000"/>
                </a:solidFill>
                <a:latin typeface="+mj-lt"/>
                <a:ea typeface="Roboto" panose="02000000000000000000" pitchFamily="2" charset="0"/>
                <a:cs typeface="Arial" pitchFamily="34" charset="-120"/>
              </a:rPr>
              <a:t>Team Formation</a:t>
            </a:r>
            <a:endParaRPr lang="en-AU" sz="4400" noProof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89C076-5765-9BF3-CFAF-4AC83887DCDE}"/>
              </a:ext>
            </a:extLst>
          </p:cNvPr>
          <p:cNvSpPr/>
          <p:nvPr/>
        </p:nvSpPr>
        <p:spPr>
          <a:xfrm flipH="1">
            <a:off x="11359299" y="0"/>
            <a:ext cx="8327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8551673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F16F0A3-3FD7-88CA-6B04-DD18010B7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CEDB-AFDD-9148-4CDB-115FCF93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1672" cy="1005840"/>
          </a:xfrm>
        </p:spPr>
        <p:txBody>
          <a:bodyPr/>
          <a:lstStyle/>
          <a:p>
            <a:r>
              <a:rPr lang="en-AU" noProof="0"/>
              <a:t>Use this time to find a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56344-F9A0-CC29-7DDA-982974B97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200"/>
            <a:ext cx="10600329" cy="4846320"/>
          </a:xfrm>
        </p:spPr>
        <p:txBody>
          <a:bodyPr wrap="square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noProof="0"/>
              <a:t>You must join a team in the lab that matches your lab enrolment.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noProof="0"/>
              <a:t>Teams should have at least </a:t>
            </a:r>
            <a:r>
              <a:rPr lang="en-AU"/>
              <a:t>5 members, ideally 6. </a:t>
            </a:r>
            <a:r>
              <a:rPr lang="en-AU" sz="2400" i="1" noProof="0"/>
              <a:t>(Tutors and Admins may add students to any team that does not yet have 6 members.)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noProof="0"/>
              <a:t>Use the </a:t>
            </a:r>
            <a:r>
              <a:rPr lang="en-AU" i="1" noProof="0"/>
              <a:t>Technical Skillset Self-Test </a:t>
            </a:r>
            <a:r>
              <a:rPr lang="en-AU" noProof="0"/>
              <a:t>we did earlier to help guide the process. Remember, a balanced team is better than one where everyone scores high in the same skills.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noProof="0"/>
              <a:t>Formalise your team: </a:t>
            </a:r>
            <a:r>
              <a:rPr lang="en-AU" noProof="0"/>
              <a:t>Log in to </a:t>
            </a:r>
            <a:r>
              <a:rPr lang="en-AU" sz="2400" noProof="0"/>
              <a:t>Moodle -&gt; select this course, open the “Team Formation” page and join a team in your lab.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noProof="0"/>
              <a:t>Don’t worry: We will finalise Team Formation in Week 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noProof="0"/>
          </a:p>
        </p:txBody>
      </p:sp>
    </p:spTree>
    <p:extLst>
      <p:ext uri="{BB962C8B-B14F-4D97-AF65-F5344CB8AC3E}">
        <p14:creationId xmlns:p14="http://schemas.microsoft.com/office/powerpoint/2010/main" val="163196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2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6_Accessible_Clancy_PPT" id="{38BE1695-C3D3-9840-A47B-37B4AFA3326A}" vid="{B5BFC992-C501-344E-9D62-95AF3A41C3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UNSW_2020">
    <a:dk1>
      <a:srgbClr val="000000"/>
    </a:dk1>
    <a:lt1>
      <a:sysClr val="window" lastClr="FFFFFF"/>
    </a:lt1>
    <a:dk2>
      <a:srgbClr val="737373"/>
    </a:dk2>
    <a:lt2>
      <a:srgbClr val="F2F2F2"/>
    </a:lt2>
    <a:accent1>
      <a:srgbClr val="FFDC00"/>
    </a:accent1>
    <a:accent2>
      <a:srgbClr val="FF635D"/>
    </a:accent2>
    <a:accent3>
      <a:srgbClr val="3F61C4"/>
    </a:accent3>
    <a:accent4>
      <a:srgbClr val="1AC987"/>
    </a:accent4>
    <a:accent5>
      <a:srgbClr val="FA91B6"/>
    </a:accent5>
    <a:accent6>
      <a:srgbClr val="8A68C8"/>
    </a:accent6>
    <a:hlink>
      <a:srgbClr val="0000FF"/>
    </a:hlink>
    <a:folHlink>
      <a:srgbClr val="7030A0"/>
    </a:folHlink>
  </a:clrScheme>
</a:themeOverride>
</file>

<file path=ppt/theme/themeOverride2.xml><?xml version="1.0" encoding="utf-8"?>
<a:themeOverride xmlns:a="http://schemas.openxmlformats.org/drawingml/2006/main">
  <a:clrScheme name="UNSW_2020">
    <a:dk1>
      <a:srgbClr val="000000"/>
    </a:dk1>
    <a:lt1>
      <a:sysClr val="window" lastClr="FFFFFF"/>
    </a:lt1>
    <a:dk2>
      <a:srgbClr val="737373"/>
    </a:dk2>
    <a:lt2>
      <a:srgbClr val="F2F2F2"/>
    </a:lt2>
    <a:accent1>
      <a:srgbClr val="FFDC00"/>
    </a:accent1>
    <a:accent2>
      <a:srgbClr val="FF635D"/>
    </a:accent2>
    <a:accent3>
      <a:srgbClr val="3F61C4"/>
    </a:accent3>
    <a:accent4>
      <a:srgbClr val="1AC987"/>
    </a:accent4>
    <a:accent5>
      <a:srgbClr val="FA91B6"/>
    </a:accent5>
    <a:accent6>
      <a:srgbClr val="8A68C8"/>
    </a:accent6>
    <a:hlink>
      <a:srgbClr val="0000FF"/>
    </a:hlink>
    <a:folHlink>
      <a:srgbClr val="7030A0"/>
    </a:folHlink>
  </a:clrScheme>
</a:themeOverride>
</file>

<file path=ppt/theme/themeOverride3.xml><?xml version="1.0" encoding="utf-8"?>
<a:themeOverride xmlns:a="http://schemas.openxmlformats.org/drawingml/2006/main">
  <a:clrScheme name="UNSW_2020">
    <a:dk1>
      <a:srgbClr val="000000"/>
    </a:dk1>
    <a:lt1>
      <a:sysClr val="window" lastClr="FFFFFF"/>
    </a:lt1>
    <a:dk2>
      <a:srgbClr val="737373"/>
    </a:dk2>
    <a:lt2>
      <a:srgbClr val="F2F2F2"/>
    </a:lt2>
    <a:accent1>
      <a:srgbClr val="FFDC00"/>
    </a:accent1>
    <a:accent2>
      <a:srgbClr val="FF635D"/>
    </a:accent2>
    <a:accent3>
      <a:srgbClr val="3F61C4"/>
    </a:accent3>
    <a:accent4>
      <a:srgbClr val="1AC987"/>
    </a:accent4>
    <a:accent5>
      <a:srgbClr val="FA91B6"/>
    </a:accent5>
    <a:accent6>
      <a:srgbClr val="8A68C8"/>
    </a:accent6>
    <a:hlink>
      <a:srgbClr val="0000FF"/>
    </a:hlink>
    <a:folHlink>
      <a:srgbClr val="7030A0"/>
    </a:folHlink>
  </a:clrScheme>
</a:themeOverride>
</file>

<file path=ppt/theme/themeOverride4.xml><?xml version="1.0" encoding="utf-8"?>
<a:themeOverride xmlns:a="http://schemas.openxmlformats.org/drawingml/2006/main">
  <a:clrScheme name="UNSW_2020">
    <a:dk1>
      <a:srgbClr val="000000"/>
    </a:dk1>
    <a:lt1>
      <a:sysClr val="window" lastClr="FFFFFF"/>
    </a:lt1>
    <a:dk2>
      <a:srgbClr val="737373"/>
    </a:dk2>
    <a:lt2>
      <a:srgbClr val="F2F2F2"/>
    </a:lt2>
    <a:accent1>
      <a:srgbClr val="FFDC00"/>
    </a:accent1>
    <a:accent2>
      <a:srgbClr val="FF635D"/>
    </a:accent2>
    <a:accent3>
      <a:srgbClr val="3F61C4"/>
    </a:accent3>
    <a:accent4>
      <a:srgbClr val="1AC987"/>
    </a:accent4>
    <a:accent5>
      <a:srgbClr val="FA91B6"/>
    </a:accent5>
    <a:accent6>
      <a:srgbClr val="8A68C8"/>
    </a:accent6>
    <a:hlink>
      <a:srgbClr val="0000FF"/>
    </a:hlink>
    <a:folHlink>
      <a:srgbClr val="7030A0"/>
    </a:folHlink>
  </a:clrScheme>
</a:themeOverride>
</file>

<file path=ppt/theme/themeOverride5.xml><?xml version="1.0" encoding="utf-8"?>
<a:themeOverride xmlns:a="http://schemas.openxmlformats.org/drawingml/2006/main">
  <a:clrScheme name="UNSW_2020">
    <a:dk1>
      <a:srgbClr val="000000"/>
    </a:dk1>
    <a:lt1>
      <a:sysClr val="window" lastClr="FFFFFF"/>
    </a:lt1>
    <a:dk2>
      <a:srgbClr val="737373"/>
    </a:dk2>
    <a:lt2>
      <a:srgbClr val="F2F2F2"/>
    </a:lt2>
    <a:accent1>
      <a:srgbClr val="FFDC00"/>
    </a:accent1>
    <a:accent2>
      <a:srgbClr val="FF635D"/>
    </a:accent2>
    <a:accent3>
      <a:srgbClr val="3F61C4"/>
    </a:accent3>
    <a:accent4>
      <a:srgbClr val="1AC987"/>
    </a:accent4>
    <a:accent5>
      <a:srgbClr val="FA91B6"/>
    </a:accent5>
    <a:accent6>
      <a:srgbClr val="8A68C8"/>
    </a:accent6>
    <a:hlink>
      <a:srgbClr val="0000FF"/>
    </a:hlink>
    <a:folHlink>
      <a:srgbClr val="7030A0"/>
    </a:folHlink>
  </a:clrScheme>
</a:themeOverride>
</file>

<file path=ppt/theme/themeOverride6.xml><?xml version="1.0" encoding="utf-8"?>
<a:themeOverride xmlns:a="http://schemas.openxmlformats.org/drawingml/2006/main">
  <a:clrScheme name="UNSW_2020">
    <a:dk1>
      <a:srgbClr val="000000"/>
    </a:dk1>
    <a:lt1>
      <a:sysClr val="window" lastClr="FFFFFF"/>
    </a:lt1>
    <a:dk2>
      <a:srgbClr val="737373"/>
    </a:dk2>
    <a:lt2>
      <a:srgbClr val="F2F2F2"/>
    </a:lt2>
    <a:accent1>
      <a:srgbClr val="FFDC00"/>
    </a:accent1>
    <a:accent2>
      <a:srgbClr val="FF635D"/>
    </a:accent2>
    <a:accent3>
      <a:srgbClr val="3F61C4"/>
    </a:accent3>
    <a:accent4>
      <a:srgbClr val="1AC987"/>
    </a:accent4>
    <a:accent5>
      <a:srgbClr val="FA91B6"/>
    </a:accent5>
    <a:accent6>
      <a:srgbClr val="8A68C8"/>
    </a:accent6>
    <a:hlink>
      <a:srgbClr val="0000FF"/>
    </a:hlink>
    <a:folHlink>
      <a:srgbClr val="7030A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A140C70E076B4E9DB144A056D811B9" ma:contentTypeVersion="3" ma:contentTypeDescription="Create a new document." ma:contentTypeScope="" ma:versionID="8ecd19d9bad9dbb231d264dbace80533">
  <xsd:schema xmlns:xsd="http://www.w3.org/2001/XMLSchema" xmlns:xs="http://www.w3.org/2001/XMLSchema" xmlns:p="http://schemas.microsoft.com/office/2006/metadata/properties" xmlns:ns2="863ce905-3729-4872-85d3-a81c42e67885" targetNamespace="http://schemas.microsoft.com/office/2006/metadata/properties" ma:root="true" ma:fieldsID="e261d8d776faf3dc3829a0c27efd9ab6" ns2:_="">
    <xsd:import namespace="863ce905-3729-4872-85d3-a81c42e678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ce905-3729-4872-85d3-a81c42e678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9C0BCB-8439-43E8-A078-10E56F94D1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3FFF7B-1824-49B5-981C-127871ACFAF4}">
  <ds:schemaRefs>
    <ds:schemaRef ds:uri="863ce905-3729-4872-85d3-a81c42e6788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ABD112B-A194-4B28-B104-5010E261D7AE}">
  <ds:schemaRefs>
    <ds:schemaRef ds:uri="863ce905-3729-4872-85d3-a81c42e6788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56</Slides>
  <Notes>38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2_Custom Design</vt:lpstr>
      <vt:lpstr>Week 1 Lab</vt:lpstr>
      <vt:lpstr>PowerPoint Presentation</vt:lpstr>
      <vt:lpstr>Let’s introduce ourselves</vt:lpstr>
      <vt:lpstr>Okay, We’ll start:</vt:lpstr>
      <vt:lpstr>Psst... here's some funny photos!</vt:lpstr>
      <vt:lpstr>Who am I?</vt:lpstr>
      <vt:lpstr>PowerPoint Presentation</vt:lpstr>
      <vt:lpstr>Why we're doing this</vt:lpstr>
      <vt:lpstr>How to answer</vt:lpstr>
      <vt:lpstr>A. Agile and Scrum</vt:lpstr>
      <vt:lpstr>B. Git, GitHub and GitLab</vt:lpstr>
      <vt:lpstr>C. Front-end web development</vt:lpstr>
      <vt:lpstr>D. Backend development</vt:lpstr>
      <vt:lpstr>E. Project, product and client work</vt:lpstr>
      <vt:lpstr>F. CI/CD</vt:lpstr>
      <vt:lpstr>G. Availability outside the lab</vt:lpstr>
      <vt:lpstr>H. Expected weekly commitment (not scored)</vt:lpstr>
      <vt:lpstr>Forming your team: coverage</vt:lpstr>
      <vt:lpstr>Forming your team: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this time to find a team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COMP9820 Week 1 Lab — Git and GitLab</dc:title>
  <dc:subject>PptxGenJS Presentation</dc:subject>
  <dc:creator>COMP9820</dc:creator>
  <cp:revision>1</cp:revision>
  <dcterms:created xsi:type="dcterms:W3CDTF">2026-09-14T01:59:42Z</dcterms:created>
  <dcterms:modified xsi:type="dcterms:W3CDTF">2026-09-18T04:40:28Z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0x01010017A140C70E076B4E9DB144A056D811B9</vt:lpwstr>
  </property>
</Properties>
</file>