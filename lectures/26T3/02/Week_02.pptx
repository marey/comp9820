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57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  <p:sldMasterId id="2147483648" r:id="rId2"/>
  </p:sldMasterIdLst>
  <p:notesMasterIdLst>
    <p:notesMasterId r:id="rId59"/>
  </p:notesMasterIdLst>
  <p:sldIdLst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4" r:id="rId64"/>
    <p:sldId id="312" r:id="rId57"/>
    <p:sldId id="313" r:id="rId5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74B58"/>
    <a:srgbClr val="B9BCC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160"/>
    <p:restoredTop sz="95187"/>
  </p:normalViewPr>
  <p:slideViewPr>
    <p:cSldViewPr snapToGrid="0" snapToObjects="1">
      <p:cViewPr varScale="1">
        <p:scale>
          <a:sx n="127" d="100"/>
          <a:sy n="127" d="100"/>
        </p:scale>
        <p:origin x="816" y="19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5" Type="http://schemas.openxmlformats.org/officeDocument/2006/relationships/slide" Target="slides/slide3.xml"/><Relationship Id="rId61" Type="http://schemas.openxmlformats.org/officeDocument/2006/relationships/viewProps" Target="viewProps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  <Relationship Id="rId64" Type="http://schemas.openxmlformats.org/officeDocument/2006/relationships/slide" Target="slides/slide57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070052-2F0F-4341-AB59-DFAC45B6DC5E}" type="datetimeFigureOut">
              <a:rPr kumimoji="1" lang="zh-CN" altLang="en-US" smtClean="0"/>
              <a:t>2026/9/27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754330-464F-6C48-9E0A-0BE5231228A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85904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55811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rgbClr val="474B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C775C9F9-72EB-0844-B732-A9C529678127}"/>
              </a:ext>
            </a:extLst>
          </p:cNvPr>
          <p:cNvSpPr txBox="1"/>
          <p:nvPr userDrawn="1"/>
        </p:nvSpPr>
        <p:spPr>
          <a:xfrm>
            <a:off x="3846890" y="6509952"/>
            <a:ext cx="449821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zh-CN" altLang="en-US" sz="1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</a:t>
            </a:r>
            <a:r>
              <a:rPr lang="en-US" altLang="zh-CN" sz="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zh-CN" altLang="en-US" sz="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zh-CN" altLang="en-US" sz="1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</a:t>
            </a:r>
            <a:r>
              <a:rPr lang="en-US" altLang="zh-CN" sz="1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zh-CN" altLang="en-US" sz="1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</a:t>
            </a:r>
            <a:r>
              <a:rPr lang="en-US" altLang="zh-CN" sz="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zh-CN" altLang="en-US" sz="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zh-CN" altLang="en-US" sz="1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r>
              <a:rPr lang="en-US" altLang="zh-CN" sz="1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zh-CN" altLang="en-US" sz="1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</a:t>
            </a:r>
            <a:r>
              <a:rPr lang="en-US" altLang="zh-CN" sz="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zh-CN" altLang="en-US" sz="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zh-CN" altLang="en-US" sz="1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</a:t>
            </a:r>
            <a:r>
              <a:rPr lang="en-US" altLang="zh-CN" sz="1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zh-CN" altLang="en-US" sz="1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</a:t>
            </a:r>
            <a:r>
              <a:rPr lang="en-US" altLang="zh-CN" sz="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zh-CN" altLang="en-US" sz="1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</a:t>
            </a:r>
            <a:r>
              <a:rPr lang="en-US" altLang="zh-CN" sz="1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zh-CN" altLang="en-US" sz="1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</a:t>
            </a:r>
            <a:r>
              <a:rPr lang="en-US" altLang="zh-CN" sz="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zh-CN" altLang="en-US" sz="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zh-CN" altLang="en-US" sz="1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</a:t>
            </a:r>
            <a:r>
              <a:rPr lang="en-US" altLang="zh-CN" sz="1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endParaRPr lang="en-US" sz="11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 descr="Text&#10;&#10;Description automatically generated">
            <a:extLst>
              <a:ext uri="{FF2B5EF4-FFF2-40B4-BE49-F238E27FC236}">
                <a16:creationId xmlns:a16="http://schemas.microsoft.com/office/drawing/2014/main" id="{30008E94-2193-3640-9D78-22B84006101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21342" t="35858" r="20439" b="39368"/>
          <a:stretch/>
        </p:blipFill>
        <p:spPr>
          <a:xfrm>
            <a:off x="10348096" y="205833"/>
            <a:ext cx="1527712" cy="650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08651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474B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079B535-F7E1-874F-A7C3-F7FAEBB80495}"/>
              </a:ext>
            </a:extLst>
          </p:cNvPr>
          <p:cNvCxnSpPr/>
          <p:nvPr userDrawn="1"/>
        </p:nvCxnSpPr>
        <p:spPr>
          <a:xfrm>
            <a:off x="6194325" y="2359742"/>
            <a:ext cx="0" cy="1681316"/>
          </a:xfrm>
          <a:prstGeom prst="line">
            <a:avLst/>
          </a:prstGeom>
          <a:ln w="19050">
            <a:solidFill>
              <a:srgbClr val="B9BCC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EF69816-A42C-B343-AAB8-301E41F3BBE5}"/>
              </a:ext>
            </a:extLst>
          </p:cNvPr>
          <p:cNvGrpSpPr/>
          <p:nvPr userDrawn="1"/>
        </p:nvGrpSpPr>
        <p:grpSpPr>
          <a:xfrm>
            <a:off x="7124176" y="2244588"/>
            <a:ext cx="1531188" cy="1996374"/>
            <a:chOff x="6982134" y="2561813"/>
            <a:chExt cx="1531188" cy="1996374"/>
          </a:xfrm>
        </p:grpSpPr>
        <p:pic>
          <p:nvPicPr>
            <p:cNvPr id="9" name="Picture 8" descr="Qr code&#10;&#10;Description automatically generated">
              <a:extLst>
                <a:ext uri="{FF2B5EF4-FFF2-40B4-BE49-F238E27FC236}">
                  <a16:creationId xmlns:a16="http://schemas.microsoft.com/office/drawing/2014/main" id="{21F5D0C7-795B-5E49-8E19-F705DBD2C5F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7109142" y="2561813"/>
              <a:ext cx="1277173" cy="1277173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2C5C4B6-085E-0D43-83F6-208E5A375552}"/>
                </a:ext>
              </a:extLst>
            </p:cNvPr>
            <p:cNvSpPr txBox="1"/>
            <p:nvPr userDrawn="1"/>
          </p:nvSpPr>
          <p:spPr>
            <a:xfrm>
              <a:off x="6982134" y="4041058"/>
              <a:ext cx="1531188" cy="5171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sz="1200" b="1" spc="300" dirty="0">
                  <a:solidFill>
                    <a:schemeClr val="bg1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扫码添加小助手</a:t>
              </a:r>
            </a:p>
            <a:p>
              <a:pPr algn="ctr">
                <a:lnSpc>
                  <a:spcPct val="120000"/>
                </a:lnSpc>
              </a:pPr>
              <a:r>
                <a:rPr lang="en-US" sz="1200" b="1" spc="300" dirty="0">
                  <a:solidFill>
                    <a:schemeClr val="bg1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获取更多内容</a:t>
              </a:r>
            </a:p>
          </p:txBody>
        </p:sp>
      </p:grpSp>
      <p:pic>
        <p:nvPicPr>
          <p:cNvPr id="11" name="Picture 10" descr="Text&#10;&#10;Description automatically generated">
            <a:extLst>
              <a:ext uri="{FF2B5EF4-FFF2-40B4-BE49-F238E27FC236}">
                <a16:creationId xmlns:a16="http://schemas.microsoft.com/office/drawing/2014/main" id="{9F45D70B-5AC5-2345-B30B-352D5A46896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21342" t="35858" r="20439" b="39368"/>
          <a:stretch/>
        </p:blipFill>
        <p:spPr>
          <a:xfrm>
            <a:off x="1315897" y="2444493"/>
            <a:ext cx="3751929" cy="1596565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90057085-827A-E444-A3F9-E7493FCBF113}"/>
              </a:ext>
            </a:extLst>
          </p:cNvPr>
          <p:cNvGrpSpPr/>
          <p:nvPr userDrawn="1"/>
        </p:nvGrpSpPr>
        <p:grpSpPr>
          <a:xfrm>
            <a:off x="9112449" y="2244588"/>
            <a:ext cx="1338828" cy="1996374"/>
            <a:chOff x="9570323" y="2561813"/>
            <a:chExt cx="1338828" cy="1996374"/>
          </a:xfrm>
        </p:grpSpPr>
        <p:pic>
          <p:nvPicPr>
            <p:cNvPr id="3" name="Picture 2" descr="Qr code&#10;&#10;Description automatically generated">
              <a:extLst>
                <a:ext uri="{FF2B5EF4-FFF2-40B4-BE49-F238E27FC236}">
                  <a16:creationId xmlns:a16="http://schemas.microsoft.com/office/drawing/2014/main" id="{BD81C656-79CB-A841-933E-F88494E4A59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/>
            <a:stretch>
              <a:fillRect/>
            </a:stretch>
          </p:blipFill>
          <p:spPr>
            <a:xfrm>
              <a:off x="9570323" y="2561813"/>
              <a:ext cx="1277173" cy="1277173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C0BA601-909E-B745-BE62-17C4BB756909}"/>
                </a:ext>
              </a:extLst>
            </p:cNvPr>
            <p:cNvSpPr txBox="1"/>
            <p:nvPr userDrawn="1"/>
          </p:nvSpPr>
          <p:spPr>
            <a:xfrm>
              <a:off x="9570323" y="4041058"/>
              <a:ext cx="1338828" cy="5171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sz="1200" b="1" spc="300" dirty="0">
                  <a:solidFill>
                    <a:schemeClr val="bg1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扫码关注B站</a:t>
              </a:r>
            </a:p>
            <a:p>
              <a:pPr algn="ctr">
                <a:lnSpc>
                  <a:spcPct val="120000"/>
                </a:lnSpc>
              </a:pPr>
              <a:r>
                <a:rPr lang="en-US" sz="1200" b="1" spc="300" dirty="0">
                  <a:solidFill>
                    <a:schemeClr val="bg1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了解更多课程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186373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74B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50410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1">
            <a:extLst>
              <a:ext uri="{FF2B5EF4-FFF2-40B4-BE49-F238E27FC236}">
                <a16:creationId xmlns:a16="http://schemas.microsoft.com/office/drawing/2014/main" id="{7EE3692F-8E5E-DC21-38B2-2BEAD6B8A428}"/>
              </a:ext>
            </a:extLst>
          </p:cNvPr>
          <p:cNvSpPr txBox="1"/>
          <p:nvPr/>
        </p:nvSpPr>
        <p:spPr>
          <a:xfrm>
            <a:off x="1764801" y="4433297"/>
            <a:ext cx="37015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</a:rPr>
              <a:t>COMP9820 Week 2</a:t>
            </a:r>
            <a:endParaRPr lang="zh-CN" altLang="en-US" sz="3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24447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88136" y="384048"/>
            <a:ext cx="8229600" cy="86868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3000" b="1" dirty="0">
                <a:solidFill>
                  <a:srgbClr val="FFFFFF"/>
                </a:solidFill>
                <a:latin typeface="Arial"/>
              </a:rPr>
              <a:t>本节班课内容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altLang="zh-CN" sz="1600" b="0" dirty="0">
                <a:solidFill>
                  <a:srgbClr val="BDD7EE"/>
                </a:solidFill>
                <a:latin typeface="Arial"/>
              </a:rPr>
              <a:t>Outline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" y="1371600"/>
            <a:ext cx="9966960" cy="475488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2200" b="1" dirty="0">
                <a:solidFill>
                  <a:srgbClr val="FFFFFF"/>
                </a:solidFill>
                <a:latin typeface="Arial"/>
              </a:rPr>
              <a:t>Agile Software Development Practices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600" b="0" dirty="0">
                <a:solidFill>
                  <a:srgbClr val="BDD7EE"/>
                </a:solidFill>
                <a:latin typeface="Arial"/>
              </a:rPr>
              <a:t>敏捷软件开发实践</a:t>
            </a:r>
          </a:p>
          <a:p>
            <a:pPr marL="8001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altLang="zh-CN" sz="1900" b="1" dirty="0">
                <a:solidFill>
                  <a:srgbClr val="FFFFFF"/>
                </a:solidFill>
                <a:latin typeface="Arial"/>
              </a:rPr>
              <a:t>Agile Manifesto, and Principles</a:t>
            </a:r>
          </a:p>
          <a:p>
            <a:pPr marL="342900" indent="0">
              <a:spcBef>
                <a:spcPts val="100"/>
              </a:spcBef>
              <a:buNone/>
            </a:pPr>
            <a:r>
              <a:rPr lang="en-US" altLang="zh-CN" sz="1500" b="0" dirty="0">
                <a:solidFill>
                  <a:srgbClr val="BDD7EE"/>
                </a:solidFill>
                <a:latin typeface="Arial"/>
              </a:rPr>
              <a:t>敏捷宣言（4 条价值观）和 12 条原则</a:t>
            </a:r>
          </a:p>
          <a:p>
            <a:pPr marL="8001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altLang="zh-CN" sz="1900" b="1" dirty="0">
                <a:solidFill>
                  <a:srgbClr val="FFFFFF"/>
                </a:solidFill>
                <a:latin typeface="Arial"/>
              </a:rPr>
              <a:t>Scrum; Team Roles, Events, Artefacts, Planning, Estimation &amp; Monitoring</a:t>
            </a:r>
          </a:p>
          <a:p>
            <a:pPr marL="342900" indent="0">
              <a:spcBef>
                <a:spcPts val="100"/>
              </a:spcBef>
              <a:buNone/>
            </a:pPr>
            <a:r>
              <a:rPr lang="en-US" altLang="zh-CN" sz="1500" b="0" dirty="0">
                <a:solidFill>
                  <a:srgbClr val="BDD7EE"/>
                </a:solidFill>
                <a:latin typeface="Arial"/>
              </a:rPr>
              <a:t>Scrum：角色、事件、产物、计划、估算与进度跟踪（本周重点，也是你们项目要照着做的流程）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2200" b="1" dirty="0">
                <a:solidFill>
                  <a:srgbClr val="FFFFFF"/>
                </a:solidFill>
                <a:latin typeface="Arial"/>
              </a:rPr>
              <a:t>Agile Development (Software Requirements)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600" b="0" dirty="0">
                <a:solidFill>
                  <a:srgbClr val="BDD7EE"/>
                </a:solidFill>
                <a:latin typeface="Arial"/>
              </a:rPr>
              <a:t>敏捷开发中的需求：怎么写需求</a:t>
            </a:r>
          </a:p>
          <a:p>
            <a:pPr marL="8001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altLang="zh-CN" sz="1900" b="1" dirty="0">
                <a:solidFill>
                  <a:srgbClr val="FFFFFF"/>
                </a:solidFill>
                <a:latin typeface="Arial"/>
              </a:rPr>
              <a:t>User Stories</a:t>
            </a:r>
          </a:p>
          <a:p>
            <a:pPr marL="342900" indent="0">
              <a:spcBef>
                <a:spcPts val="100"/>
              </a:spcBef>
              <a:buNone/>
            </a:pPr>
            <a:r>
              <a:rPr lang="en-US" altLang="zh-CN" sz="1500" b="0" dirty="0">
                <a:solidFill>
                  <a:srgbClr val="BDD7EE"/>
                </a:solidFill>
                <a:latin typeface="Arial"/>
              </a:rPr>
              <a:t>用户故事：写需求的标准格式，Proposal / GitLab Issue 都要用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2200" b="1" dirty="0">
                <a:solidFill>
                  <a:srgbClr val="FFFFFF"/>
                </a:solidFill>
                <a:latin typeface="Arial"/>
              </a:rPr>
              <a:t>Revisit – Git Team practices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600" b="0" dirty="0">
                <a:solidFill>
                  <a:srgbClr val="BDD7EE"/>
                </a:solidFill>
                <a:latin typeface="Arial"/>
              </a:rPr>
              <a:t>回顾：Git / GitLab 团队协作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2200" b="1" dirty="0">
                <a:solidFill>
                  <a:srgbClr val="FFFFFF"/>
                </a:solidFill>
                <a:latin typeface="Arial"/>
              </a:rPr>
              <a:t>Q &amp; 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80160" y="2377440"/>
            <a:ext cx="9692640" cy="201168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4000" b="1" dirty="0">
                <a:solidFill>
                  <a:srgbClr val="FFFFFF"/>
                </a:solidFill>
                <a:latin typeface="Arial"/>
              </a:rPr>
              <a:t>Agile Software Development – Values &amp; Principles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altLang="zh-CN" sz="2600" b="0" dirty="0">
                <a:solidFill>
                  <a:srgbClr val="BDD7EE"/>
                </a:solidFill>
                <a:latin typeface="Arial"/>
              </a:rPr>
              <a:t>敏捷软件开发：价值观与原则</a:t>
            </a:r>
          </a:p>
          <a:p>
            <a:pPr marL="0" indent="0">
              <a:spcBef>
                <a:spcPts val="1400"/>
              </a:spcBef>
              <a:buNone/>
            </a:pPr>
            <a:r>
              <a:rPr lang="en-US" altLang="zh-CN" sz="1600" b="0" dirty="0">
                <a:solidFill>
                  <a:srgbClr val="BDD7EE"/>
                </a:solidFill>
                <a:latin typeface="Arial"/>
              </a:rPr>
              <a:t>先搞清"敏捷"到底提倡什么，再学 Scrum 这套具体做法；Proposal 和评分都可能考察 Manifesto 的 4 条</a:t>
            </a:r>
          </a:p>
          <a:p>
            <a:pPr marL="0" indent="0">
              <a:spcBef>
                <a:spcPts val="1400"/>
              </a:spcBef>
              <a:buNone/>
            </a:pPr>
            <a:r>
              <a:rPr lang="en-US" altLang="zh-CN" sz="1600" b="0" dirty="0">
                <a:solidFill>
                  <a:srgbClr val="BDD7EE"/>
                </a:solidFill>
                <a:latin typeface="Arial"/>
              </a:rPr>
              <a:t>讲师：敏捷 2001 年提出，2010 年后的创业潮（小团队、快速迭代）才真正流行；它的前提是组里每个人都能独当一面，否则很难推进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88136" y="384048"/>
            <a:ext cx="8229600" cy="86868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3000" b="1" dirty="0">
                <a:solidFill>
                  <a:srgbClr val="FFFFFF"/>
                </a:solidFill>
                <a:latin typeface="Arial"/>
              </a:rPr>
              <a:t>Agile Manifesto – Agile Values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altLang="zh-CN" sz="1600" b="0" dirty="0">
                <a:solidFill>
                  <a:srgbClr val="BDD7EE"/>
                </a:solidFill>
                <a:latin typeface="Arial"/>
              </a:rPr>
              <a:t>敏捷宣言：4 条价值观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" y="1325880"/>
            <a:ext cx="9966960" cy="484632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342900" indent="-342900"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“We are uncovering </a:t>
            </a:r>
            <a:r>
              <a:rPr lang="en-US" altLang="zh-CN" sz="1800" b="1" dirty="0">
                <a:solidFill>
                  <a:srgbClr val="F4B183"/>
                </a:solidFill>
                <a:latin typeface="Arial"/>
              </a:rPr>
              <a:t>better ways of developing software</a:t>
            </a: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 by doing it and helping others do it. Through this work we have come to </a:t>
            </a:r>
            <a:r>
              <a:rPr lang="en-US" altLang="zh-CN" sz="1800" b="1" dirty="0">
                <a:solidFill>
                  <a:srgbClr val="F4B183"/>
                </a:solidFill>
                <a:latin typeface="Arial"/>
              </a:rPr>
              <a:t>value</a:t>
            </a: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:”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2001 年 17 位软件大牛写的宣言：我们在实践中总结出更好的开发方式，并看重下面 4 点</a:t>
            </a:r>
          </a:p>
          <a:p>
            <a:pPr marL="8001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altLang="zh-CN" sz="1500" b="1" dirty="0">
                <a:solidFill>
                  <a:srgbClr val="F4B183"/>
                </a:solidFill>
                <a:latin typeface="Arial"/>
              </a:rPr>
              <a:t>Individuals and interactions</a:t>
            </a:r>
            <a:r>
              <a:rPr lang="en-US" altLang="zh-CN" sz="1500" b="1" dirty="0">
                <a:solidFill>
                  <a:srgbClr val="FFFFFF"/>
                </a:solidFill>
                <a:latin typeface="Arial"/>
              </a:rPr>
              <a:t> over processes and tools</a:t>
            </a:r>
          </a:p>
          <a:p>
            <a:pPr marL="34290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人和沟通 &gt; 流程和工具：工具是辅助，团队沟通才是关键</a:t>
            </a:r>
          </a:p>
          <a:p>
            <a:pPr marL="8001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altLang="zh-CN" sz="1500" b="1" dirty="0">
                <a:solidFill>
                  <a:srgbClr val="F4B183"/>
                </a:solidFill>
                <a:latin typeface="Arial"/>
              </a:rPr>
              <a:t>Working software</a:t>
            </a:r>
            <a:r>
              <a:rPr lang="en-US" altLang="zh-CN" sz="1500" b="1" dirty="0">
                <a:solidFill>
                  <a:srgbClr val="FFFFFF"/>
                </a:solidFill>
                <a:latin typeface="Arial"/>
              </a:rPr>
              <a:t> over comprehensive documentation</a:t>
            </a:r>
          </a:p>
          <a:p>
            <a:pPr marL="34290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能跑的软件 &gt; 大而全的文档：先做出能用的东西</a:t>
            </a:r>
          </a:p>
          <a:p>
            <a:pPr marL="8001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altLang="zh-CN" sz="1500" b="1" dirty="0">
                <a:solidFill>
                  <a:srgbClr val="F4B183"/>
                </a:solidFill>
                <a:latin typeface="Arial"/>
              </a:rPr>
              <a:t>Customer collaboration</a:t>
            </a:r>
            <a:r>
              <a:rPr lang="en-US" altLang="zh-CN" sz="1500" b="1" dirty="0">
                <a:solidFill>
                  <a:srgbClr val="FFFFFF"/>
                </a:solidFill>
                <a:latin typeface="Arial"/>
              </a:rPr>
              <a:t> over contract negotiation</a:t>
            </a:r>
          </a:p>
          <a:p>
            <a:pPr marL="34290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和客户合作 &gt; 合同谈判：边做边和客户确认，而不是签完合同就不联系</a:t>
            </a:r>
          </a:p>
          <a:p>
            <a:pPr marL="8001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altLang="zh-CN" sz="1500" b="1" dirty="0">
                <a:solidFill>
                  <a:srgbClr val="F4B183"/>
                </a:solidFill>
                <a:latin typeface="Arial"/>
              </a:rPr>
              <a:t>Responding to change</a:t>
            </a:r>
            <a:r>
              <a:rPr lang="en-US" altLang="zh-CN" sz="1500" b="1" dirty="0">
                <a:solidFill>
                  <a:srgbClr val="FFFFFF"/>
                </a:solidFill>
                <a:latin typeface="Arial"/>
              </a:rPr>
              <a:t> over following a plan</a:t>
            </a:r>
          </a:p>
          <a:p>
            <a:pPr marL="34290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响应变化 &gt; 死守计划：需求变了就调整</a:t>
            </a:r>
          </a:p>
          <a:p>
            <a:pPr marL="342900" indent="-342900"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The items on the left are </a:t>
            </a:r>
            <a:r>
              <a:rPr lang="en-US" altLang="zh-CN" sz="1800" b="1" dirty="0">
                <a:solidFill>
                  <a:srgbClr val="F4B183"/>
                </a:solidFill>
                <a:latin typeface="Arial"/>
              </a:rPr>
              <a:t>more valued</a:t>
            </a: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 than those at the right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注意：右边的东西也有价值，只是左边更重要——不是说不要文档、不要计划</a:t>
            </a:r>
          </a:p>
          <a:p>
            <a:pPr marL="342900" indent="-342900"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Agile Manifesto: http://agilemanifesto.org/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原文链接；"© 2001, the above authors" 表示可整体转载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88136" y="384048"/>
            <a:ext cx="8229600" cy="86868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3000" b="1" dirty="0">
                <a:solidFill>
                  <a:srgbClr val="FFFFFF"/>
                </a:solidFill>
                <a:latin typeface="Arial"/>
              </a:rPr>
              <a:t>Agile Principles (1)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altLang="zh-CN" sz="1600" b="0" dirty="0">
                <a:solidFill>
                  <a:srgbClr val="BDD7EE"/>
                </a:solidFill>
                <a:latin typeface="Arial"/>
              </a:rPr>
              <a:t>敏捷 12 原则（1–4）：围绕"客户"和"交付"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" y="1325880"/>
            <a:ext cx="9966960" cy="484632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1. Our highest priority is to </a:t>
            </a:r>
            <a:r>
              <a:rPr lang="en-US" altLang="zh-CN" sz="1800" b="1" dirty="0">
                <a:solidFill>
                  <a:srgbClr val="F4B183"/>
                </a:solidFill>
                <a:latin typeface="Arial"/>
              </a:rPr>
              <a:t>satisfy the customer</a:t>
            </a: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 through </a:t>
            </a:r>
            <a:r>
              <a:rPr lang="en-US" altLang="zh-CN" sz="1800" b="1" dirty="0">
                <a:solidFill>
                  <a:srgbClr val="F4B183"/>
                </a:solidFill>
                <a:latin typeface="Arial"/>
              </a:rPr>
              <a:t>early</a:t>
            </a: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 and </a:t>
            </a:r>
            <a:r>
              <a:rPr lang="en-US" altLang="zh-CN" sz="1800" b="1" dirty="0">
                <a:solidFill>
                  <a:srgbClr val="F4B183"/>
                </a:solidFill>
                <a:latin typeface="Arial"/>
              </a:rPr>
              <a:t>continuous delivery</a:t>
            </a: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 of </a:t>
            </a:r>
            <a:r>
              <a:rPr lang="en-US" altLang="zh-CN" sz="1800" b="1" dirty="0">
                <a:solidFill>
                  <a:srgbClr val="F4B183"/>
                </a:solidFill>
                <a:latin typeface="Arial"/>
              </a:rPr>
              <a:t>valuable software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最高优先级：尽早、持续地交付有价值的软件让客户满意——每个 Sprint 都要有能演示的东西</a:t>
            </a:r>
          </a:p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2. </a:t>
            </a:r>
            <a:r>
              <a:rPr lang="en-US" altLang="zh-CN" sz="1800" b="1" dirty="0">
                <a:solidFill>
                  <a:srgbClr val="F4B183"/>
                </a:solidFill>
                <a:latin typeface="Arial"/>
              </a:rPr>
              <a:t>Welcome changing requirements</a:t>
            </a: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, even late in development. Agile processes harness change for the customer’s competitive advantage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欢迎需求变更，哪怕很晚才提出——变化是帮客户抢先机的机会，不是麻烦</a:t>
            </a:r>
          </a:p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3. </a:t>
            </a:r>
            <a:r>
              <a:rPr lang="en-US" altLang="zh-CN" sz="1800" b="1" dirty="0">
                <a:solidFill>
                  <a:srgbClr val="F4B183"/>
                </a:solidFill>
                <a:latin typeface="Arial"/>
              </a:rPr>
              <a:t>Deliver working software frequently</a:t>
            </a: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, from a couple of weeks to a couple of months, with a preference to the </a:t>
            </a:r>
            <a:r>
              <a:rPr lang="en-US" altLang="zh-CN" sz="1800" b="1" dirty="0">
                <a:solidFill>
                  <a:srgbClr val="F4B183"/>
                </a:solidFill>
                <a:latin typeface="Arial"/>
              </a:rPr>
              <a:t>shorter timescale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频繁交付可运行的软件，几周到几个月一次，越短越好——这就是 Sprint 为什么只有 2–4 周</a:t>
            </a:r>
          </a:p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4. </a:t>
            </a:r>
            <a:r>
              <a:rPr lang="en-US" altLang="zh-CN" sz="1800" b="1" dirty="0">
                <a:solidFill>
                  <a:srgbClr val="F4B183"/>
                </a:solidFill>
                <a:latin typeface="Arial"/>
              </a:rPr>
              <a:t>Business people</a:t>
            </a: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 and </a:t>
            </a:r>
            <a:r>
              <a:rPr lang="en-US" altLang="zh-CN" sz="1800" b="1" dirty="0">
                <a:solidFill>
                  <a:srgbClr val="F4B183"/>
                </a:solidFill>
                <a:latin typeface="Arial"/>
              </a:rPr>
              <a:t>developers</a:t>
            </a: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 must </a:t>
            </a:r>
            <a:r>
              <a:rPr lang="en-US" altLang="zh-CN" sz="1800" b="1" dirty="0">
                <a:solidFill>
                  <a:srgbClr val="F4B183"/>
                </a:solidFill>
                <a:latin typeface="Arial"/>
              </a:rPr>
              <a:t>work together daily</a:t>
            </a: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 throughout the project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业务方和开发者要天天一起工作——对你们来说就是常和 client / tutor 沟通</a:t>
            </a:r>
          </a:p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Agile Alliance: http://www.agilealliance.org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12 条原则的出处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88136" y="384048"/>
            <a:ext cx="8229600" cy="86868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3000" b="1" dirty="0">
                <a:solidFill>
                  <a:srgbClr val="FFFFFF"/>
                </a:solidFill>
                <a:latin typeface="Arial"/>
              </a:rPr>
              <a:t>Agile Principles (2)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altLang="zh-CN" sz="1600" b="0" dirty="0">
                <a:solidFill>
                  <a:srgbClr val="BDD7EE"/>
                </a:solidFill>
                <a:latin typeface="Arial"/>
              </a:rPr>
              <a:t>敏捷 12 原则（5–8）：围绕"人"和"节奏"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" y="1325880"/>
            <a:ext cx="9966960" cy="484632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5. Build projects around </a:t>
            </a:r>
            <a:r>
              <a:rPr lang="en-US" altLang="zh-CN" sz="1800" b="1" dirty="0">
                <a:solidFill>
                  <a:srgbClr val="F4B183"/>
                </a:solidFill>
                <a:latin typeface="Arial"/>
              </a:rPr>
              <a:t>motivated individuals</a:t>
            </a: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. Give them the </a:t>
            </a:r>
            <a:r>
              <a:rPr lang="en-US" altLang="zh-CN" sz="1800" b="1" dirty="0">
                <a:solidFill>
                  <a:srgbClr val="F4B183"/>
                </a:solidFill>
                <a:latin typeface="Arial"/>
              </a:rPr>
              <a:t>environment and support</a:t>
            </a: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 they need, and </a:t>
            </a:r>
            <a:r>
              <a:rPr lang="en-US" altLang="zh-CN" sz="1800" b="1" dirty="0">
                <a:solidFill>
                  <a:srgbClr val="F4B183"/>
                </a:solidFill>
                <a:latin typeface="Arial"/>
              </a:rPr>
              <a:t>trust</a:t>
            </a: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 them to get the job done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围绕有干劲的人组建项目，给他们环境和支持，然后信任他们能完成</a:t>
            </a:r>
          </a:p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6. The most efficient and effective method of </a:t>
            </a:r>
            <a:r>
              <a:rPr lang="en-US" altLang="zh-CN" sz="1800" b="1" dirty="0">
                <a:solidFill>
                  <a:srgbClr val="F4B183"/>
                </a:solidFill>
                <a:latin typeface="Arial"/>
              </a:rPr>
              <a:t>conveying information</a:t>
            </a: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 to and within a development team is </a:t>
            </a:r>
            <a:r>
              <a:rPr lang="en-US" altLang="zh-CN" sz="1800" b="1" dirty="0">
                <a:solidFill>
                  <a:srgbClr val="F4B183"/>
                </a:solidFill>
                <a:latin typeface="Arial"/>
              </a:rPr>
              <a:t>face-to-face conversation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传递信息最高效的方式是面对面交流——所以 Scrum 要开站会，而不是只发消息</a:t>
            </a:r>
          </a:p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7. </a:t>
            </a:r>
            <a:r>
              <a:rPr lang="en-US" altLang="zh-CN" sz="1800" b="1" dirty="0">
                <a:solidFill>
                  <a:srgbClr val="F4B183"/>
                </a:solidFill>
                <a:latin typeface="Arial"/>
              </a:rPr>
              <a:t>Working software</a:t>
            </a: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 is the primary </a:t>
            </a:r>
            <a:r>
              <a:rPr lang="en-US" altLang="zh-CN" sz="1800" b="1" dirty="0">
                <a:solidFill>
                  <a:srgbClr val="F4B183"/>
                </a:solidFill>
                <a:latin typeface="Arial"/>
              </a:rPr>
              <a:t>measure of progress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衡量进度的首要标准是"软件能跑"，而不是写了多少文档或代码行数</a:t>
            </a:r>
          </a:p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8. Agile processes promote </a:t>
            </a:r>
            <a:r>
              <a:rPr lang="en-US" altLang="zh-CN" sz="1800" b="1" dirty="0">
                <a:solidFill>
                  <a:srgbClr val="F4B183"/>
                </a:solidFill>
                <a:latin typeface="Arial"/>
              </a:rPr>
              <a:t>sustainable development</a:t>
            </a: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. The sponsors, developers, and users should be able to maintain a </a:t>
            </a:r>
            <a:r>
              <a:rPr lang="en-US" altLang="zh-CN" sz="1800" b="1" dirty="0">
                <a:solidFill>
                  <a:srgbClr val="F4B183"/>
                </a:solidFill>
                <a:latin typeface="Arial"/>
              </a:rPr>
              <a:t>constant pace</a:t>
            </a: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 indefinitely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可持续的开发：保持稳定节奏，不要靠通宵赶工——Sprint 长度固定就是为了这个</a:t>
            </a:r>
          </a:p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Agile Alliance: http://www.agilealliance.org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88136" y="384048"/>
            <a:ext cx="8229600" cy="86868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3000" b="1" dirty="0">
                <a:solidFill>
                  <a:srgbClr val="FFFFFF"/>
                </a:solidFill>
                <a:latin typeface="Arial"/>
              </a:rPr>
              <a:t>Agile Principles (3)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altLang="zh-CN" sz="1600" b="0" dirty="0">
                <a:solidFill>
                  <a:srgbClr val="BDD7EE"/>
                </a:solidFill>
                <a:latin typeface="Arial"/>
              </a:rPr>
              <a:t>敏捷 12 原则（9–12）：围绕"质量"和"团队自我改进"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" y="1325880"/>
            <a:ext cx="9966960" cy="484632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9. </a:t>
            </a:r>
            <a:r>
              <a:rPr lang="en-US" altLang="zh-CN" sz="1800" b="1" dirty="0">
                <a:solidFill>
                  <a:srgbClr val="F4B183"/>
                </a:solidFill>
                <a:latin typeface="Arial"/>
              </a:rPr>
              <a:t>Continuous attention</a:t>
            </a: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 to </a:t>
            </a:r>
            <a:r>
              <a:rPr lang="en-US" altLang="zh-CN" sz="1800" b="1" dirty="0">
                <a:solidFill>
                  <a:srgbClr val="F4B183"/>
                </a:solidFill>
                <a:latin typeface="Arial"/>
              </a:rPr>
              <a:t>technical excellence</a:t>
            </a: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 and </a:t>
            </a:r>
            <a:r>
              <a:rPr lang="en-US" altLang="zh-CN" sz="1800" b="1" dirty="0">
                <a:solidFill>
                  <a:srgbClr val="F4B183"/>
                </a:solidFill>
                <a:latin typeface="Arial"/>
              </a:rPr>
              <a:t>good design</a:t>
            </a: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 enhances agility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持续关注技术卓越和好的设计——代码质量好，改起来才快，才"敏捷"得起来</a:t>
            </a:r>
          </a:p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10. </a:t>
            </a:r>
            <a:r>
              <a:rPr lang="en-US" altLang="zh-CN" sz="1800" b="1" dirty="0">
                <a:solidFill>
                  <a:srgbClr val="F4B183"/>
                </a:solidFill>
                <a:latin typeface="Arial"/>
              </a:rPr>
              <a:t>Simplicity</a:t>
            </a: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 – the art of maximizing the amount of work not done is essential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简单至上：尽量"不做"不必要的工作——别一上来就堆功能</a:t>
            </a:r>
          </a:p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11. The best architectures, requirements, and designs emerge from </a:t>
            </a:r>
            <a:r>
              <a:rPr lang="en-US" altLang="zh-CN" sz="1800" b="1" dirty="0">
                <a:solidFill>
                  <a:srgbClr val="F4B183"/>
                </a:solidFill>
                <a:latin typeface="Arial"/>
              </a:rPr>
              <a:t>self-organizing teams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最好的架构、需求和设计来自自组织团队——本课程：Sprint 1 给你们脚手架（scaffolding），Sprint 2 起由团队自己定义需求、自己主导；建议 Sprint 2 模仿 Sprint 1 的做法，每人提 1–2 个需求，别加太多，务必跑起来</a:t>
            </a:r>
          </a:p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12. At regular intervals, the </a:t>
            </a:r>
            <a:r>
              <a:rPr lang="en-US" altLang="zh-CN" sz="1800" b="1" dirty="0">
                <a:solidFill>
                  <a:srgbClr val="F4B183"/>
                </a:solidFill>
                <a:latin typeface="Arial"/>
              </a:rPr>
              <a:t>team reflects</a:t>
            </a: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 on how to become more </a:t>
            </a:r>
            <a:r>
              <a:rPr lang="en-US" altLang="zh-CN" sz="1800" b="1" dirty="0">
                <a:solidFill>
                  <a:srgbClr val="F4B183"/>
                </a:solidFill>
                <a:latin typeface="Arial"/>
              </a:rPr>
              <a:t>effective</a:t>
            </a: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, then </a:t>
            </a:r>
            <a:r>
              <a:rPr lang="en-US" altLang="zh-CN" sz="1800" b="1" dirty="0">
                <a:solidFill>
                  <a:srgbClr val="F4B183"/>
                </a:solidFill>
                <a:latin typeface="Arial"/>
              </a:rPr>
              <a:t>tunes and adjusts its behavior</a:t>
            </a: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 accordingly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定期反思如何更高效，并据此调整——这就是 Sprint Retrospective（回顾会）的来源</a:t>
            </a:r>
          </a:p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Agile Alliance: http://www.agilealliance.org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88136" y="384048"/>
            <a:ext cx="8229600" cy="86868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3000" b="1" dirty="0">
                <a:solidFill>
                  <a:srgbClr val="FFFFFF"/>
                </a:solidFill>
                <a:latin typeface="Arial"/>
              </a:rPr>
              <a:t>Agile Software Development Model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altLang="zh-CN" sz="1600" b="0" dirty="0">
                <a:solidFill>
                  <a:srgbClr val="BDD7EE"/>
                </a:solidFill>
                <a:latin typeface="Arial"/>
              </a:rPr>
              <a:t>敏捷开发模型：迭代 + 增量</a:t>
            </a:r>
          </a:p>
        </p:txBody>
      </p:sp>
      <p:pic>
        <p:nvPicPr>
          <p:cNvPr id="3" name="Picture 2" descr="lifecy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479216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46520" y="1280160"/>
            <a:ext cx="5257800" cy="475488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500" b="1" dirty="0">
                <a:solidFill>
                  <a:srgbClr val="FFFFFF"/>
                </a:solidFill>
                <a:latin typeface="Arial"/>
              </a:rPr>
              <a:t>Iterative &amp; </a:t>
            </a:r>
            <a:r>
              <a:rPr lang="en-US" altLang="zh-CN" sz="1500" b="1" dirty="0">
                <a:solidFill>
                  <a:srgbClr val="F4B183"/>
                </a:solidFill>
                <a:latin typeface="Arial"/>
              </a:rPr>
              <a:t>Incremental</a:t>
            </a:r>
            <a:r>
              <a:rPr lang="en-US" altLang="zh-CN" sz="1500" b="1" dirty="0">
                <a:solidFill>
                  <a:srgbClr val="FFFFFF"/>
                </a:solidFill>
                <a:latin typeface="Arial"/>
              </a:rPr>
              <a:t> development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迭代（Iterative）：一轮一轮循环做；增量（Incremental）：每轮都给产品多加一点能用的功能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500" b="1" dirty="0">
                <a:solidFill>
                  <a:srgbClr val="FFFFFF"/>
                </a:solidFill>
                <a:latin typeface="Arial"/>
              </a:rPr>
              <a:t>Start → Development phases → Review → Feedback → Approve? → Release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一轮流程：开始 → 开发 → 评审 → 收反馈 → 通过就发布，不通过就记录并修改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500" b="1" dirty="0">
                <a:solidFill>
                  <a:srgbClr val="FFFFFF"/>
                </a:solidFill>
                <a:latin typeface="Arial"/>
              </a:rPr>
              <a:t>Next iteration: Adjust &amp; Track, reprioritize features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下一轮之前重新排优先级，跟踪进度——需求可以在每轮之间调整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讲师经验：每次改动要小——一个 task 改动约 5 个文件，多了继续拆；一个 Sprint 约 20–30 个小任务；改动小，SM review 代码时才看得懂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500" b="1" dirty="0">
                <a:solidFill>
                  <a:srgbClr val="FFFFFF"/>
                </a:solidFill>
                <a:latin typeface="Arial"/>
              </a:rPr>
              <a:t>https://blog.capterra.com/agile-vs-waterfall/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图片来源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88136" y="384048"/>
            <a:ext cx="8229600" cy="86868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3000" b="1" dirty="0">
                <a:solidFill>
                  <a:srgbClr val="FFFFFF"/>
                </a:solidFill>
                <a:latin typeface="Arial"/>
              </a:rPr>
              <a:t>Scrum Software Development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altLang="zh-CN" sz="1600" b="0" dirty="0">
                <a:solidFill>
                  <a:srgbClr val="BDD7EE"/>
                </a:solidFill>
                <a:latin typeface="Arial"/>
              </a:rPr>
              <a:t>Scrum：最常用的一套敏捷"打法"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" y="1325880"/>
            <a:ext cx="9966960" cy="91440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An agile method for </a:t>
            </a:r>
            <a:r>
              <a:rPr lang="en-US" altLang="zh-CN" sz="1800" b="1" dirty="0">
                <a:solidFill>
                  <a:srgbClr val="F4B183"/>
                </a:solidFill>
                <a:latin typeface="Arial"/>
              </a:rPr>
              <a:t>managing software development</a:t>
            </a: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 focused on </a:t>
            </a:r>
            <a:r>
              <a:rPr lang="en-US" altLang="zh-CN" sz="1800" b="1" dirty="0">
                <a:solidFill>
                  <a:srgbClr val="F4B183"/>
                </a:solidFill>
                <a:latin typeface="Arial"/>
              </a:rPr>
              <a:t>delivering products of the highest value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Scrum 是一种敏捷方法：专注于交付"价值最高"的产品——例：Word 海量功能多数人没用过，先做写/改/存；WhatsApp 先只做即时消息，视频通话是主流化之后才加。它不规定技术细节，只规定角色、事件和产物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" y="2331720"/>
            <a:ext cx="3200400" cy="310896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2000" b="1" dirty="0">
                <a:solidFill>
                  <a:srgbClr val="FFFFFF"/>
                </a:solidFill>
                <a:latin typeface="Arial"/>
              </a:rPr>
              <a:t>Teams and roles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团队与角色</a:t>
            </a:r>
          </a:p>
          <a:p>
            <a:pPr marL="342900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500" b="1" dirty="0">
                <a:solidFill>
                  <a:srgbClr val="FFFFFF"/>
                </a:solidFill>
                <a:latin typeface="Arial"/>
              </a:rPr>
              <a:t>Product Owner</a:t>
            </a:r>
          </a:p>
          <a:p>
            <a:pPr marL="342900" indent="0">
              <a:spcBef>
                <a:spcPts val="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产品负责人：决定做什么、先做什么</a:t>
            </a:r>
          </a:p>
          <a:p>
            <a:pPr marL="342900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500" b="1" dirty="0">
                <a:solidFill>
                  <a:srgbClr val="FFFFFF"/>
                </a:solidFill>
                <a:latin typeface="Arial"/>
              </a:rPr>
              <a:t>Scrum Master</a:t>
            </a:r>
          </a:p>
          <a:p>
            <a:pPr marL="342900" indent="0">
              <a:spcBef>
                <a:spcPts val="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Scrum 教练：保证团队按 Scrum 来</a:t>
            </a:r>
          </a:p>
          <a:p>
            <a:pPr marL="342900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500" b="1" dirty="0">
                <a:solidFill>
                  <a:srgbClr val="FFFFFF"/>
                </a:solidFill>
                <a:latin typeface="Arial"/>
              </a:rPr>
              <a:t>Dev Team</a:t>
            </a:r>
          </a:p>
          <a:p>
            <a:pPr marL="342900" indent="0">
              <a:spcBef>
                <a:spcPts val="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开发团队：真正把功能做出来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71416" y="2331720"/>
            <a:ext cx="3200400" cy="310896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2000" b="1" dirty="0">
                <a:solidFill>
                  <a:srgbClr val="FFFFFF"/>
                </a:solidFill>
                <a:latin typeface="Arial"/>
              </a:rPr>
              <a:t>Events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事件（会议 / 活动）</a:t>
            </a:r>
          </a:p>
          <a:p>
            <a:pPr marL="342900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500" b="1" dirty="0">
                <a:solidFill>
                  <a:srgbClr val="FFFFFF"/>
                </a:solidFill>
                <a:latin typeface="Arial"/>
              </a:rPr>
              <a:t>Sprint</a:t>
            </a:r>
          </a:p>
          <a:p>
            <a:pPr marL="342900" indent="0">
              <a:spcBef>
                <a:spcPts val="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一轮迭代，2–4 周</a:t>
            </a:r>
          </a:p>
          <a:p>
            <a:pPr marL="342900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500" b="1" dirty="0">
                <a:solidFill>
                  <a:srgbClr val="FFFFFF"/>
                </a:solidFill>
                <a:latin typeface="Arial"/>
              </a:rPr>
              <a:t>Sprint Planning</a:t>
            </a:r>
          </a:p>
          <a:p>
            <a:pPr marL="342900" indent="0">
              <a:spcBef>
                <a:spcPts val="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冲刺计划会</a:t>
            </a:r>
          </a:p>
          <a:p>
            <a:pPr marL="342900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500" b="1" dirty="0">
                <a:solidFill>
                  <a:srgbClr val="FFFFFF"/>
                </a:solidFill>
                <a:latin typeface="Arial"/>
              </a:rPr>
              <a:t>Daily Scrum</a:t>
            </a:r>
          </a:p>
          <a:p>
            <a:pPr marL="342900" indent="0">
              <a:spcBef>
                <a:spcPts val="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每日站会</a:t>
            </a:r>
          </a:p>
          <a:p>
            <a:pPr marL="342900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500" b="1" dirty="0">
                <a:solidFill>
                  <a:srgbClr val="FFFFFF"/>
                </a:solidFill>
                <a:latin typeface="Arial"/>
              </a:rPr>
              <a:t>Sprint Review</a:t>
            </a:r>
          </a:p>
          <a:p>
            <a:pPr marL="342900" indent="0">
              <a:spcBef>
                <a:spcPts val="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冲刺评审会（演示）</a:t>
            </a:r>
          </a:p>
          <a:p>
            <a:pPr marL="342900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500" b="1" dirty="0">
                <a:solidFill>
                  <a:srgbClr val="FFFFFF"/>
                </a:solidFill>
                <a:latin typeface="Arial"/>
              </a:rPr>
              <a:t>Retrospective</a:t>
            </a:r>
          </a:p>
          <a:p>
            <a:pPr marL="342900" indent="0">
              <a:spcBef>
                <a:spcPts val="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冲刺回顾会（反思）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54696" y="2331720"/>
            <a:ext cx="3200400" cy="310896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2000" b="1" dirty="0">
                <a:solidFill>
                  <a:srgbClr val="FFFFFF"/>
                </a:solidFill>
                <a:latin typeface="Arial"/>
              </a:rPr>
              <a:t>Artefacts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产物</a:t>
            </a:r>
          </a:p>
          <a:p>
            <a:pPr marL="342900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500" b="1" dirty="0">
                <a:solidFill>
                  <a:srgbClr val="FFFFFF"/>
                </a:solidFill>
                <a:latin typeface="Arial"/>
              </a:rPr>
              <a:t>Product Backlog</a:t>
            </a:r>
          </a:p>
          <a:p>
            <a:pPr marL="342900" indent="0">
              <a:spcBef>
                <a:spcPts val="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产品待办列表：所有需求</a:t>
            </a:r>
          </a:p>
          <a:p>
            <a:pPr marL="342900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500" b="1" dirty="0">
                <a:solidFill>
                  <a:srgbClr val="FFFFFF"/>
                </a:solidFill>
                <a:latin typeface="Arial"/>
              </a:rPr>
              <a:t>Sprint Backlog</a:t>
            </a:r>
          </a:p>
          <a:p>
            <a:pPr marL="342900" indent="0">
              <a:spcBef>
                <a:spcPts val="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冲刺待办列表：本轮要做的</a:t>
            </a:r>
          </a:p>
          <a:p>
            <a:pPr marL="342900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500" b="1" dirty="0">
                <a:solidFill>
                  <a:srgbClr val="FFFFFF"/>
                </a:solidFill>
                <a:latin typeface="Arial"/>
              </a:rPr>
              <a:t>Increment</a:t>
            </a:r>
          </a:p>
          <a:p>
            <a:pPr marL="342900" indent="0">
              <a:spcBef>
                <a:spcPts val="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增量：本轮做完的可用功能</a:t>
            </a:r>
          </a:p>
          <a:p>
            <a:pPr marL="342900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500" b="1" dirty="0">
                <a:solidFill>
                  <a:srgbClr val="FFFFFF"/>
                </a:solidFill>
                <a:latin typeface="Arial"/>
              </a:rPr>
              <a:t>Project &amp; Sprint estimation</a:t>
            </a:r>
          </a:p>
          <a:p>
            <a:pPr marL="342900" indent="0">
              <a:spcBef>
                <a:spcPts val="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项目 / 冲刺估算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" y="5394960"/>
            <a:ext cx="9966960" cy="82296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1500" b="1" dirty="0">
                <a:solidFill>
                  <a:srgbClr val="FFFFFF"/>
                </a:solidFill>
                <a:latin typeface="Arial"/>
              </a:rPr>
              <a:t>Rules govern the relationships between roles, events and artifacts — all the above components are essential for Scrum success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规则把角色、事件、产物串起来；三者缺一不可——项目里不能只开站会不写 Backlog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80160" y="2377440"/>
            <a:ext cx="9692640" cy="201168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4000" b="1" dirty="0">
                <a:solidFill>
                  <a:srgbClr val="FFFFFF"/>
                </a:solidFill>
                <a:latin typeface="Arial"/>
              </a:rPr>
              <a:t>The Scrum Team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altLang="zh-CN" sz="2600" b="0" dirty="0">
                <a:solidFill>
                  <a:srgbClr val="BDD7EE"/>
                </a:solidFill>
                <a:latin typeface="Arial"/>
              </a:rPr>
              <a:t>Scrum 团队：三种角色</a:t>
            </a:r>
          </a:p>
          <a:p>
            <a:pPr marL="0" indent="0">
              <a:spcBef>
                <a:spcPts val="1400"/>
              </a:spcBef>
              <a:buNone/>
            </a:pPr>
            <a:r>
              <a:rPr lang="en-US" altLang="zh-CN" sz="1600" b="0" dirty="0">
                <a:solidFill>
                  <a:srgbClr val="BDD7EE"/>
                </a:solidFill>
                <a:latin typeface="Arial"/>
              </a:rPr>
              <a:t>你们组也要定 PO 和 SM——谁负责和 client 谈需求、谁负责盯流程</a:t>
            </a:r>
          </a:p>
          <a:p>
            <a:pPr marL="0" indent="0">
              <a:spcBef>
                <a:spcPts val="1400"/>
              </a:spcBef>
              <a:buNone/>
            </a:pPr>
            <a:r>
              <a:rPr lang="en-US" altLang="zh-CN" sz="1600" b="0" dirty="0">
                <a:solidFill>
                  <a:srgbClr val="BDD7EE"/>
                </a:solidFill>
                <a:latin typeface="Arial"/>
              </a:rPr>
              <a:t>Scrum 里没有"项目经理 / team lead"。讲师：capstone 曾有同学结课时邮件自称 Project Manager——面试这么说对方立刻知道不是 Scrum；评分看的就是你是否正确理解并应用这三种角色</a:t>
            </a:r>
          </a:p>
          <a:p>
            <a:pPr marL="0" indent="0">
              <a:spcBef>
                <a:spcPts val="1400"/>
              </a:spcBef>
              <a:buNone/>
            </a:pPr>
            <a:r>
              <a:rPr lang="en-US" altLang="zh-CN" sz="1600" b="0" dirty="0">
                <a:solidFill>
                  <a:srgbClr val="BDD7EE"/>
                </a:solidFill>
                <a:latin typeface="Arial"/>
              </a:rPr>
              <a:t>三种角色里 PO 和 SM 最重要，一定要负起责来；但 PO / SM 也要上课也很忙，所以每个人都要多盯 Issue 和流程、相互督促——敏捷项目的成败依赖每一个人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88136" y="384048"/>
            <a:ext cx="8229600" cy="86868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3000" b="1" dirty="0">
                <a:solidFill>
                  <a:srgbClr val="FFFFFF"/>
                </a:solidFill>
                <a:latin typeface="Arial"/>
              </a:rPr>
              <a:t>Scrum Team – The Product Owner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altLang="zh-CN" sz="1600" b="0" dirty="0">
                <a:solidFill>
                  <a:srgbClr val="BDD7EE"/>
                </a:solidFill>
                <a:latin typeface="Arial"/>
              </a:rPr>
              <a:t>产品负责人（PO）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" y="1325880"/>
            <a:ext cx="9966960" cy="484632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342900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700" b="1" dirty="0">
                <a:solidFill>
                  <a:srgbClr val="F4B183"/>
                </a:solidFill>
                <a:latin typeface="Arial"/>
              </a:rPr>
              <a:t>Product Owner (PO)</a:t>
            </a:r>
            <a:r>
              <a:rPr lang="en-US" altLang="zh-CN" sz="1700" b="1" dirty="0">
                <a:solidFill>
                  <a:srgbClr val="FFFFFF"/>
                </a:solidFill>
                <a:latin typeface="Arial"/>
              </a:rPr>
              <a:t> maximize the </a:t>
            </a:r>
            <a:r>
              <a:rPr lang="en-US" altLang="zh-CN" sz="1700" b="1" dirty="0">
                <a:solidFill>
                  <a:srgbClr val="F4B183"/>
                </a:solidFill>
                <a:latin typeface="Arial"/>
              </a:rPr>
              <a:t>value</a:t>
            </a:r>
            <a:r>
              <a:rPr lang="en-US" altLang="zh-CN" sz="1700" b="1" dirty="0">
                <a:solidFill>
                  <a:srgbClr val="FFFFFF"/>
                </a:solidFill>
                <a:latin typeface="Arial"/>
              </a:rPr>
              <a:t> of the </a:t>
            </a:r>
            <a:r>
              <a:rPr lang="en-US" altLang="zh-CN" sz="1700" b="1" dirty="0">
                <a:solidFill>
                  <a:srgbClr val="F4B183"/>
                </a:solidFill>
                <a:latin typeface="Arial"/>
              </a:rPr>
              <a:t>product</a:t>
            </a:r>
            <a:r>
              <a:rPr lang="en-US" altLang="zh-CN" sz="1700" b="1" dirty="0">
                <a:solidFill>
                  <a:srgbClr val="FFFFFF"/>
                </a:solidFill>
                <a:latin typeface="Arial"/>
              </a:rPr>
              <a:t> and the </a:t>
            </a:r>
            <a:r>
              <a:rPr lang="en-US" altLang="zh-CN" sz="1700" b="1" dirty="0">
                <a:solidFill>
                  <a:srgbClr val="F4B183"/>
                </a:solidFill>
                <a:latin typeface="Arial"/>
              </a:rPr>
              <a:t>work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PO 的目标：让产品和团队的工作产生最大价值</a:t>
            </a:r>
          </a:p>
          <a:p>
            <a:pPr marL="8001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altLang="zh-CN" sz="1400" b="1" dirty="0">
                <a:solidFill>
                  <a:srgbClr val="FFFFFF"/>
                </a:solidFill>
                <a:latin typeface="Arial"/>
              </a:rPr>
              <a:t>Talks to customer/clients, understand requirements and its priorities</a:t>
            </a:r>
          </a:p>
          <a:p>
            <a:pPr marL="34290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和客户沟通，弄清需求以及哪个更重要</a:t>
            </a:r>
          </a:p>
          <a:p>
            <a:pPr marL="8001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altLang="zh-CN" sz="1400" b="1" dirty="0">
                <a:solidFill>
                  <a:srgbClr val="F4B183"/>
                </a:solidFill>
                <a:latin typeface="Arial"/>
              </a:rPr>
              <a:t>Managing</a:t>
            </a:r>
            <a:r>
              <a:rPr lang="en-US" altLang="zh-CN" sz="1400" b="1" dirty="0">
                <a:solidFill>
                  <a:srgbClr val="FFFFFF"/>
                </a:solidFill>
                <a:latin typeface="Arial"/>
              </a:rPr>
              <a:t> the </a:t>
            </a:r>
            <a:r>
              <a:rPr lang="en-US" altLang="zh-CN" sz="1400" b="1" dirty="0">
                <a:solidFill>
                  <a:srgbClr val="F4B183"/>
                </a:solidFill>
                <a:latin typeface="Arial"/>
              </a:rPr>
              <a:t>Product Backlog</a:t>
            </a:r>
            <a:r>
              <a:rPr lang="en-US" altLang="zh-CN" sz="1400" b="1" dirty="0">
                <a:solidFill>
                  <a:srgbClr val="FFFFFF"/>
                </a:solidFill>
                <a:latin typeface="Arial"/>
              </a:rPr>
              <a:t> (only person)</a:t>
            </a:r>
          </a:p>
          <a:p>
            <a:pPr marL="34290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唯一负责管理 Product Backlog 的人</a:t>
            </a:r>
          </a:p>
          <a:p>
            <a:pPr marL="12000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altLang="zh-CN" sz="1400" b="1" dirty="0">
                <a:solidFill>
                  <a:srgbClr val="FFFFFF"/>
                </a:solidFill>
                <a:latin typeface="Arial"/>
              </a:rPr>
              <a:t>Can assign it to the development team, but still accountable</a:t>
            </a:r>
          </a:p>
          <a:p>
            <a:pPr marL="80010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可以让开发团队帮忙维护，但责任还是 PO 的——光靠 PO 一个人往往不够，同学们要帮忙维护</a:t>
            </a:r>
          </a:p>
          <a:p>
            <a:pPr marL="342900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700" b="1" dirty="0">
                <a:solidFill>
                  <a:srgbClr val="F4B183"/>
                </a:solidFill>
                <a:latin typeface="Arial"/>
              </a:rPr>
              <a:t>Managing the product backlog: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具体做四件事：</a:t>
            </a:r>
          </a:p>
          <a:p>
            <a:pPr marL="8001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altLang="zh-CN" sz="1400" b="1" dirty="0">
                <a:solidFill>
                  <a:srgbClr val="FFFFFF"/>
                </a:solidFill>
                <a:latin typeface="Arial"/>
              </a:rPr>
              <a:t>Record product backlog items and order it</a:t>
            </a:r>
          </a:p>
          <a:p>
            <a:pPr marL="34290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记录每一条需求，并排好顺序</a:t>
            </a:r>
          </a:p>
          <a:p>
            <a:pPr marL="8001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altLang="zh-CN" sz="1400" b="1" dirty="0">
                <a:solidFill>
                  <a:srgbClr val="FFFFFF"/>
                </a:solidFill>
                <a:latin typeface="Arial"/>
              </a:rPr>
              <a:t>Optimize the value of the work the development team performs</a:t>
            </a:r>
          </a:p>
          <a:p>
            <a:pPr marL="34290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让团队做的事尽量都有价值</a:t>
            </a:r>
          </a:p>
          <a:p>
            <a:pPr marL="8001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altLang="zh-CN" sz="1400" b="1" dirty="0">
                <a:solidFill>
                  <a:srgbClr val="FFFFFF"/>
                </a:solidFill>
                <a:latin typeface="Arial"/>
              </a:rPr>
              <a:t>Ensure transparency and clarity of the product backlog</a:t>
            </a:r>
          </a:p>
          <a:p>
            <a:pPr marL="34290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Backlog 对所有人透明、清楚——开发、测试、上线部署、CI/CD 所有任务都列上</a:t>
            </a:r>
          </a:p>
          <a:p>
            <a:pPr marL="8001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altLang="zh-CN" sz="1400" b="1" dirty="0">
                <a:solidFill>
                  <a:srgbClr val="FFFFFF"/>
                </a:solidFill>
                <a:latin typeface="Arial"/>
              </a:rPr>
              <a:t>Ensure the development team understands product backlog</a:t>
            </a:r>
          </a:p>
          <a:p>
            <a:pPr marL="34290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确保开发团队理解每一条需求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88136" y="384048"/>
            <a:ext cx="8229600" cy="86868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3000" b="1" dirty="0">
                <a:solidFill>
                  <a:srgbClr val="FFFFFF"/>
                </a:solidFill>
                <a:latin typeface="Arial"/>
              </a:rPr>
              <a:t>Scrum Team – The Development Team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altLang="zh-CN" sz="1600" b="0" dirty="0">
                <a:solidFill>
                  <a:srgbClr val="BDD7EE"/>
                </a:solidFill>
                <a:latin typeface="Arial"/>
              </a:rPr>
              <a:t>开发团队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" y="1325880"/>
            <a:ext cx="9966960" cy="484632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342900" indent="-3429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CN" sz="1900" b="1" dirty="0">
                <a:solidFill>
                  <a:srgbClr val="F4B183"/>
                </a:solidFill>
                <a:latin typeface="Arial"/>
              </a:rPr>
              <a:t>Self-organizing</a:t>
            </a:r>
            <a:r>
              <a:rPr lang="en-US" altLang="zh-CN" sz="1900" b="1" dirty="0">
                <a:solidFill>
                  <a:srgbClr val="FFFFFF"/>
                </a:solidFill>
                <a:latin typeface="Arial"/>
              </a:rPr>
              <a:t>: turns Product Backlog into increments of potentially releasable functionality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500" b="0" dirty="0">
                <a:solidFill>
                  <a:srgbClr val="BDD7EE"/>
                </a:solidFill>
                <a:latin typeface="Arial"/>
              </a:rPr>
              <a:t>自组织：自己决定怎么把 Backlog 里的需求变成"可发布的功能增量"</a:t>
            </a:r>
          </a:p>
          <a:p>
            <a:pPr marL="342900" indent="-3429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CN" sz="1900" b="1" dirty="0">
                <a:solidFill>
                  <a:srgbClr val="F4B183"/>
                </a:solidFill>
                <a:latin typeface="Arial"/>
              </a:rPr>
              <a:t>Two-pizza team</a:t>
            </a:r>
            <a:r>
              <a:rPr lang="en-US" altLang="zh-CN" sz="1900" b="1" dirty="0">
                <a:solidFill>
                  <a:srgbClr val="FFFFFF"/>
                </a:solidFill>
                <a:latin typeface="Arial"/>
              </a:rPr>
              <a:t> (4-9 members)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500" b="0" dirty="0">
                <a:solidFill>
                  <a:srgbClr val="BDD7EE"/>
                </a:solidFill>
                <a:latin typeface="Arial"/>
              </a:rPr>
              <a:t>"两个披萨能喂饱"的规模：4–9 人（你们 6 人一组，和 capstone 一样；人越多互动越复杂，太少又做不出东西）</a:t>
            </a:r>
          </a:p>
          <a:p>
            <a:pPr marL="342900" indent="-3429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CN" sz="1900" b="1" dirty="0">
                <a:solidFill>
                  <a:srgbClr val="F4B183"/>
                </a:solidFill>
                <a:latin typeface="Arial"/>
              </a:rPr>
              <a:t>Cross-functional</a:t>
            </a:r>
            <a:r>
              <a:rPr lang="en-US" altLang="zh-CN" sz="1900" b="1" dirty="0">
                <a:solidFill>
                  <a:srgbClr val="FFFFFF"/>
                </a:solidFill>
                <a:latin typeface="Arial"/>
              </a:rPr>
              <a:t>: skills mix necessary to create a product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500" b="0" dirty="0">
                <a:solidFill>
                  <a:srgbClr val="BDD7EE"/>
                </a:solidFill>
                <a:latin typeface="Arial"/>
              </a:rPr>
              <a:t>跨职能：前端、后端、测试、设计等技能都齐</a:t>
            </a:r>
          </a:p>
          <a:p>
            <a:pPr marL="342900" indent="-3429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CN" sz="1900" b="1" dirty="0">
                <a:solidFill>
                  <a:srgbClr val="FFFFFF"/>
                </a:solidFill>
                <a:latin typeface="Arial"/>
              </a:rPr>
              <a:t>Whole team is </a:t>
            </a:r>
            <a:r>
              <a:rPr lang="en-US" altLang="zh-CN" sz="1900" b="1" dirty="0">
                <a:solidFill>
                  <a:srgbClr val="F4B183"/>
                </a:solidFill>
                <a:latin typeface="Arial"/>
              </a:rPr>
              <a:t>accountable (often no sub-teams)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500" b="0" dirty="0">
                <a:solidFill>
                  <a:srgbClr val="BDD7EE"/>
                </a:solidFill>
                <a:latin typeface="Arial"/>
              </a:rPr>
              <a:t>整个团队共同负责，通常不再分小组——每个人都要参与、尽量接 task；有一个人不干活，整个团队质量大打折扣：他在 Backlog 里占着人头，不做就只能别人补</a:t>
            </a:r>
          </a:p>
          <a:p>
            <a:pPr marL="342900" indent="-3429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CN" sz="1900" b="1" dirty="0">
                <a:solidFill>
                  <a:srgbClr val="FFFFFF"/>
                </a:solidFill>
                <a:latin typeface="Arial"/>
              </a:rPr>
              <a:t>Less emphasis on </a:t>
            </a:r>
            <a:r>
              <a:rPr lang="en-US" altLang="zh-CN" sz="1900" b="1" dirty="0">
                <a:solidFill>
                  <a:srgbClr val="F4B183"/>
                </a:solidFill>
                <a:latin typeface="Arial"/>
              </a:rPr>
              <a:t>titles</a:t>
            </a:r>
            <a:r>
              <a:rPr lang="en-US" altLang="zh-CN" sz="1900" b="1" dirty="0">
                <a:solidFill>
                  <a:srgbClr val="FFFFFF"/>
                </a:solidFill>
                <a:latin typeface="Arial"/>
              </a:rPr>
              <a:t> for Dev team members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500" b="0" dirty="0">
                <a:solidFill>
                  <a:srgbClr val="BDD7EE"/>
                </a:solidFill>
                <a:latin typeface="Arial"/>
              </a:rPr>
              <a:t>不强调头衔——没有"架构师""高级工程师"之分，都是 Developer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88136" y="384048"/>
            <a:ext cx="8229600" cy="86868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3000" b="1" dirty="0">
                <a:solidFill>
                  <a:srgbClr val="FFFFFF"/>
                </a:solidFill>
                <a:latin typeface="Arial"/>
              </a:rPr>
              <a:t>Scrum Team – The Scrum Master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altLang="zh-CN" sz="1600" b="0" dirty="0">
                <a:solidFill>
                  <a:srgbClr val="BDD7EE"/>
                </a:solidFill>
                <a:latin typeface="Arial"/>
              </a:rPr>
              <a:t>Scrum Master（SM）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" y="1325880"/>
            <a:ext cx="9966960" cy="484632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342900" indent="-3429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CN" sz="1800" b="1" dirty="0">
                <a:solidFill>
                  <a:srgbClr val="F4B183"/>
                </a:solidFill>
                <a:latin typeface="Arial"/>
              </a:rPr>
              <a:t>Scrum Master (SM)</a:t>
            </a: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 Keeps the team focused on </a:t>
            </a:r>
            <a:r>
              <a:rPr lang="en-US" altLang="zh-CN" sz="1800" b="1" dirty="0">
                <a:solidFill>
                  <a:srgbClr val="F4B183"/>
                </a:solidFill>
                <a:latin typeface="Arial"/>
              </a:rPr>
              <a:t>using Scrum properly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SM 的职责：让团队正确地使用 Scrum——不是经理，是教练/服务者</a:t>
            </a:r>
          </a:p>
          <a:p>
            <a:pPr marL="8001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altLang="zh-CN" sz="1500" b="1" dirty="0">
                <a:solidFill>
                  <a:srgbClr val="FFFFFF"/>
                </a:solidFill>
                <a:latin typeface="Arial"/>
              </a:rPr>
              <a:t>Everyone </a:t>
            </a:r>
            <a:r>
              <a:rPr lang="en-US" altLang="zh-CN" sz="1500" b="1" dirty="0">
                <a:solidFill>
                  <a:srgbClr val="F4B183"/>
                </a:solidFill>
                <a:latin typeface="Arial"/>
              </a:rPr>
              <a:t>understands Scrum rules</a:t>
            </a:r>
            <a:r>
              <a:rPr lang="en-US" altLang="zh-CN" sz="1500" b="1" dirty="0">
                <a:solidFill>
                  <a:srgbClr val="FFFFFF"/>
                </a:solidFill>
                <a:latin typeface="Arial"/>
              </a:rPr>
              <a:t> and </a:t>
            </a:r>
            <a:r>
              <a:rPr lang="en-US" altLang="zh-CN" sz="1500" b="1" dirty="0">
                <a:solidFill>
                  <a:srgbClr val="F4B183"/>
                </a:solidFill>
                <a:latin typeface="Arial"/>
              </a:rPr>
              <a:t>values</a:t>
            </a:r>
            <a:r>
              <a:rPr lang="en-US" altLang="zh-CN" sz="1500" b="1" dirty="0">
                <a:solidFill>
                  <a:srgbClr val="FFFFFF"/>
                </a:solidFill>
                <a:latin typeface="Arial"/>
              </a:rPr>
              <a:t> (</a:t>
            </a:r>
            <a:r>
              <a:rPr lang="en-US" altLang="zh-CN" sz="1500" b="1" dirty="0">
                <a:solidFill>
                  <a:srgbClr val="F4B183"/>
                </a:solidFill>
                <a:latin typeface="Arial"/>
              </a:rPr>
              <a:t>coaching</a:t>
            </a:r>
            <a:r>
              <a:rPr lang="en-US" altLang="zh-CN" sz="1500" b="1" dirty="0">
                <a:solidFill>
                  <a:srgbClr val="FFFFFF"/>
                </a:solidFill>
                <a:latin typeface="Arial"/>
              </a:rPr>
              <a:t>)</a:t>
            </a:r>
          </a:p>
          <a:p>
            <a:pPr marL="34290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辅导大家理解 Scrum 的规则和价值观</a:t>
            </a:r>
          </a:p>
          <a:p>
            <a:pPr marL="8001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altLang="zh-CN" sz="1500" b="1" dirty="0">
                <a:solidFill>
                  <a:srgbClr val="FFFFFF"/>
                </a:solidFill>
                <a:latin typeface="Arial"/>
              </a:rPr>
              <a:t>Remove roadblocks</a:t>
            </a:r>
          </a:p>
          <a:p>
            <a:pPr marL="34290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清除障碍：谁被卡住了（环境、权限、依赖）就帮忙解决</a:t>
            </a:r>
          </a:p>
          <a:p>
            <a:pPr marL="8001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altLang="zh-CN" sz="1500" b="1" dirty="0">
                <a:solidFill>
                  <a:srgbClr val="FFFFFF"/>
                </a:solidFill>
                <a:latin typeface="Arial"/>
              </a:rPr>
              <a:t>Helps those outside the Scrum team which of their interactions with the Scrum team are/aren’t helpful</a:t>
            </a:r>
          </a:p>
          <a:p>
            <a:pPr marL="34290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帮团队外的人（客户、老师）知道怎样和团队打交道是有帮助的</a:t>
            </a:r>
          </a:p>
          <a:p>
            <a:pPr marL="8001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altLang="zh-CN" sz="1500" b="1" dirty="0">
                <a:solidFill>
                  <a:srgbClr val="F4B183"/>
                </a:solidFill>
                <a:latin typeface="Arial"/>
              </a:rPr>
              <a:t>Maximize the value</a:t>
            </a:r>
            <a:r>
              <a:rPr lang="en-US" altLang="zh-CN" sz="1500" b="1" dirty="0">
                <a:solidFill>
                  <a:srgbClr val="FFFFFF"/>
                </a:solidFill>
                <a:latin typeface="Arial"/>
              </a:rPr>
              <a:t> created by the Scrum team through changing team interactions</a:t>
            </a:r>
          </a:p>
          <a:p>
            <a:pPr marL="34290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通过改善团队互动方式来提高团队产出——比如站会没人说话就改形式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88136" y="384048"/>
            <a:ext cx="8229600" cy="86868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3000" b="1" dirty="0">
                <a:solidFill>
                  <a:srgbClr val="FFFFFF"/>
                </a:solidFill>
                <a:latin typeface="Arial"/>
              </a:rPr>
              <a:t>Scrum Team – Which structure is Scrum?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altLang="zh-CN" sz="1600" b="0" dirty="0">
                <a:solidFill>
                  <a:srgbClr val="BDD7EE"/>
                </a:solidFill>
                <a:latin typeface="Arial"/>
              </a:rPr>
              <a:t>思考：哪种结构更像 Scrum 团队？（Which structure better describes the Scrum team?）</a:t>
            </a:r>
          </a:p>
        </p:txBody>
      </p:sp>
      <p:pic>
        <p:nvPicPr>
          <p:cNvPr id="3" name="Picture 2" descr="team_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04877"/>
            <a:ext cx="7406640" cy="256808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183880" y="1280160"/>
            <a:ext cx="3520439" cy="475488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altLang="zh-CN" sz="1500" b="1" dirty="0">
                <a:solidFill>
                  <a:srgbClr val="F4B183"/>
                </a:solidFill>
                <a:latin typeface="Arial"/>
              </a:rPr>
              <a:t>Team A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左图：所有人围着中间的一颗星（同一个目标），人人平等、互相沟通</a:t>
            </a:r>
          </a:p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altLang="zh-CN" sz="1500" b="1" dirty="0">
                <a:solidFill>
                  <a:srgbClr val="F4B183"/>
                </a:solidFill>
                <a:latin typeface="Arial"/>
              </a:rPr>
              <a:t>Team B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右图：每个人脑子里想的是自己的星星，各干各的，有 Project Manager 的头衔</a:t>
            </a:r>
          </a:p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altLang="zh-CN" sz="1500" b="1" dirty="0">
                <a:solidFill>
                  <a:srgbClr val="FFFFFF"/>
                </a:solidFill>
                <a:latin typeface="Arial"/>
              </a:rPr>
              <a:t>Slido.com --&gt; # 3301735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课堂 Slido：A 79% / B 14% / 两者 7%（28 票）；学生答 "open communication"。答案 Team A——共同愿景、开放沟通、没有 Project Manager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80160" y="2377440"/>
            <a:ext cx="9692640" cy="201168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4000" b="1" dirty="0">
                <a:solidFill>
                  <a:srgbClr val="FFFFFF"/>
                </a:solidFill>
                <a:latin typeface="Arial"/>
              </a:rPr>
              <a:t>The Scrum Events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altLang="zh-CN" sz="2600" b="0" dirty="0">
                <a:solidFill>
                  <a:srgbClr val="BDD7EE"/>
                </a:solidFill>
                <a:latin typeface="Arial"/>
              </a:rPr>
              <a:t>Scrum 事件：5 种活动</a:t>
            </a:r>
          </a:p>
          <a:p>
            <a:pPr marL="0" indent="0">
              <a:spcBef>
                <a:spcPts val="1400"/>
              </a:spcBef>
              <a:buNone/>
            </a:pPr>
            <a:r>
              <a:rPr lang="en-US" altLang="zh-CN" sz="1600" b="0" dirty="0">
                <a:solidFill>
                  <a:srgbClr val="BDD7EE"/>
                </a:solidFill>
                <a:latin typeface="Arial"/>
              </a:rPr>
              <a:t>Sprint 里的每个会议在你们项目里都要真的开，而且要留记录（Work Diary / Jira / GitLab）——计划会、站会、评审、回顾都要有记录，评分会据此检查是否按 Scrum 正确执行</a:t>
            </a:r>
          </a:p>
          <a:p>
            <a:pPr marL="0" indent="0">
              <a:spcBef>
                <a:spcPts val="1400"/>
              </a:spcBef>
              <a:buNone/>
            </a:pPr>
            <a:r>
              <a:rPr lang="en-US" altLang="zh-CN" sz="1600" b="0" dirty="0">
                <a:solidFill>
                  <a:srgbClr val="BDD7EE"/>
                </a:solidFill>
                <a:latin typeface="Arial"/>
              </a:rPr>
              <a:t>讲师：tutor 可能会问你们每天做了什么，所以要写工作日报和周报（Work Diary / Weekly Diary）；站会可以每天线上开（如腾讯会议），每人说两句在做什么，让工具生成会议总结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88136" y="384048"/>
            <a:ext cx="8229600" cy="86868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3000" b="1" dirty="0">
                <a:solidFill>
                  <a:srgbClr val="FFFFFF"/>
                </a:solidFill>
                <a:latin typeface="Arial"/>
              </a:rPr>
              <a:t>Scrum Events – The Sprint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altLang="zh-CN" sz="1600" b="0" dirty="0">
                <a:solidFill>
                  <a:srgbClr val="BDD7EE"/>
                </a:solidFill>
                <a:latin typeface="Arial"/>
              </a:rPr>
              <a:t>冲刺（Sprint）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" y="1325880"/>
            <a:ext cx="9966960" cy="484632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342900" indent="-3429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CN" sz="1900" b="1" dirty="0">
                <a:solidFill>
                  <a:srgbClr val="FFFFFF"/>
                </a:solidFill>
                <a:latin typeface="Arial"/>
              </a:rPr>
              <a:t>A development </a:t>
            </a:r>
            <a:r>
              <a:rPr lang="en-US" altLang="zh-CN" sz="1900" b="1" dirty="0">
                <a:solidFill>
                  <a:srgbClr val="F4B183"/>
                </a:solidFill>
                <a:latin typeface="Arial"/>
              </a:rPr>
              <a:t>iteration</a:t>
            </a:r>
            <a:r>
              <a:rPr lang="en-US" altLang="zh-CN" sz="1900" b="1" dirty="0">
                <a:solidFill>
                  <a:srgbClr val="FFFFFF"/>
                </a:solidFill>
                <a:latin typeface="Arial"/>
              </a:rPr>
              <a:t> (one cycle)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500" b="0" dirty="0">
                <a:solidFill>
                  <a:srgbClr val="BDD7EE"/>
                </a:solidFill>
                <a:latin typeface="Arial"/>
              </a:rPr>
              <a:t>一个开发迭代周期</a:t>
            </a:r>
          </a:p>
          <a:p>
            <a:pPr marL="8001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altLang="zh-CN" sz="1600" b="1" dirty="0">
                <a:solidFill>
                  <a:srgbClr val="FFFFFF"/>
                </a:solidFill>
                <a:latin typeface="Arial"/>
              </a:rPr>
              <a:t>Useable and potentially </a:t>
            </a:r>
            <a:r>
              <a:rPr lang="en-US" altLang="zh-CN" sz="1600" b="1" dirty="0">
                <a:solidFill>
                  <a:srgbClr val="F4B183"/>
                </a:solidFill>
                <a:latin typeface="Arial"/>
              </a:rPr>
              <a:t>releasable product increment</a:t>
            </a:r>
            <a:r>
              <a:rPr lang="en-US" altLang="zh-CN" sz="1600" b="1" dirty="0">
                <a:solidFill>
                  <a:srgbClr val="FFFFFF"/>
                </a:solidFill>
                <a:latin typeface="Arial"/>
              </a:rPr>
              <a:t> is created</a:t>
            </a:r>
          </a:p>
          <a:p>
            <a:pPr marL="342900" indent="0">
              <a:spcBef>
                <a:spcPts val="10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每个 Sprint 结束都要产出"能用、可发布"的功能增量——调研性任务不要写进 Sprint（放 Future Tasks 或用自己的时间）；任务别写得抽象，尽量细化</a:t>
            </a:r>
          </a:p>
          <a:p>
            <a:pPr marL="342900" indent="-3429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CN" sz="1900" b="1" dirty="0">
                <a:solidFill>
                  <a:srgbClr val="F4B183"/>
                </a:solidFill>
                <a:latin typeface="Arial"/>
              </a:rPr>
              <a:t>Time-boxed</a:t>
            </a:r>
            <a:r>
              <a:rPr lang="en-US" altLang="zh-CN" sz="1900" b="1" dirty="0">
                <a:solidFill>
                  <a:srgbClr val="FFFFFF"/>
                </a:solidFill>
                <a:latin typeface="Arial"/>
              </a:rPr>
              <a:t> (typically 2-4 weeks)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500" b="0" dirty="0">
                <a:solidFill>
                  <a:srgbClr val="BDD7EE"/>
                </a:solidFill>
                <a:latin typeface="Arial"/>
              </a:rPr>
              <a:t>有固定时长（一般 2–4 周），到点就结束，不延期——本项目固定 2 周一个 Sprint，配合 10 周学期，整个项目约 3 个 Sprint</a:t>
            </a:r>
          </a:p>
          <a:p>
            <a:pPr marL="8001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altLang="zh-CN" sz="1600" b="1" dirty="0">
                <a:solidFill>
                  <a:srgbClr val="FFFFFF"/>
                </a:solidFill>
                <a:latin typeface="Arial"/>
              </a:rPr>
              <a:t>Too long sprints may lead to changes in the definition</a:t>
            </a:r>
          </a:p>
          <a:p>
            <a:pPr marL="342900" indent="0">
              <a:spcBef>
                <a:spcPts val="10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Sprint 太长，中途需求可能就变了</a:t>
            </a:r>
          </a:p>
          <a:p>
            <a:pPr marL="342900" indent="-3429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CN" sz="1900" b="1" dirty="0">
                <a:solidFill>
                  <a:srgbClr val="FFFFFF"/>
                </a:solidFill>
                <a:latin typeface="Arial"/>
              </a:rPr>
              <a:t>Sprints have </a:t>
            </a:r>
            <a:r>
              <a:rPr lang="en-US" altLang="zh-CN" sz="1900" b="1" dirty="0">
                <a:solidFill>
                  <a:srgbClr val="F4B183"/>
                </a:solidFill>
                <a:latin typeface="Arial"/>
              </a:rPr>
              <a:t>consistent durations</a:t>
            </a:r>
            <a:r>
              <a:rPr lang="en-US" altLang="zh-CN" sz="1900" b="1" dirty="0">
                <a:solidFill>
                  <a:srgbClr val="FFFFFF"/>
                </a:solidFill>
                <a:latin typeface="Arial"/>
              </a:rPr>
              <a:t> during the product development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500" b="0" dirty="0">
                <a:solidFill>
                  <a:srgbClr val="BDD7EE"/>
                </a:solidFill>
                <a:latin typeface="Arial"/>
              </a:rPr>
              <a:t>整个项目里每个 Sprint 的长度保持一致，形成节奏</a:t>
            </a:r>
          </a:p>
          <a:p>
            <a:pPr marL="342900" indent="-3429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CN" sz="1900" b="1" dirty="0">
                <a:solidFill>
                  <a:srgbClr val="FFFFFF"/>
                </a:solidFill>
                <a:latin typeface="Arial"/>
              </a:rPr>
              <a:t>Sprint Planning, Daily Scrum (Stand-ups), the Development Work, the Sprint Review and the Sprint Retrospective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500" b="0" dirty="0">
                <a:solidFill>
                  <a:srgbClr val="BDD7EE"/>
                </a:solidFill>
                <a:latin typeface="Arial"/>
              </a:rPr>
              <a:t>一个 Sprint 包含：计划会 → 每日站会 + 开发 → 评审会 → 回顾会。压力大时可以"一天一个小 Sprint"：早上小会定今天做哪几个任务，晚上对一下是否完成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88136" y="384048"/>
            <a:ext cx="8229600" cy="86868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3000" b="1" dirty="0">
                <a:solidFill>
                  <a:srgbClr val="FFFFFF"/>
                </a:solidFill>
                <a:latin typeface="Arial"/>
              </a:rPr>
              <a:t>Scrum Events – Sprint Planning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altLang="zh-CN" sz="1600" b="0" dirty="0">
                <a:solidFill>
                  <a:srgbClr val="BDD7EE"/>
                </a:solidFill>
                <a:latin typeface="Arial"/>
              </a:rPr>
              <a:t>冲刺计划会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" y="1325880"/>
            <a:ext cx="9966960" cy="484632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700" b="1" dirty="0">
                <a:solidFill>
                  <a:srgbClr val="FFFFFF"/>
                </a:solidFill>
                <a:latin typeface="Arial"/>
              </a:rPr>
              <a:t>Identify the </a:t>
            </a:r>
            <a:r>
              <a:rPr lang="en-US" altLang="zh-CN" sz="1700" b="1" dirty="0">
                <a:solidFill>
                  <a:srgbClr val="F4B183"/>
                </a:solidFill>
                <a:latin typeface="Arial"/>
              </a:rPr>
              <a:t>Sprint Goal</a:t>
            </a:r>
            <a:r>
              <a:rPr lang="en-US" altLang="zh-CN" sz="1700" b="1" dirty="0">
                <a:solidFill>
                  <a:srgbClr val="FFFFFF"/>
                </a:solidFill>
                <a:latin typeface="Arial"/>
              </a:rPr>
              <a:t> (items from the “Product Backlog”)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第一步：定这轮的目标——从 Product Backlog 里挑要做的条目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700" b="1" dirty="0">
                <a:solidFill>
                  <a:srgbClr val="FFFFFF"/>
                </a:solidFill>
                <a:latin typeface="Arial"/>
              </a:rPr>
              <a:t>Identify </a:t>
            </a:r>
            <a:r>
              <a:rPr lang="en-US" altLang="zh-CN" sz="1700" b="1" dirty="0">
                <a:solidFill>
                  <a:srgbClr val="F4B183"/>
                </a:solidFill>
                <a:latin typeface="Arial"/>
              </a:rPr>
              <a:t>work to be done</a:t>
            </a:r>
            <a:r>
              <a:rPr lang="en-US" altLang="zh-CN" sz="1700" b="1" dirty="0">
                <a:solidFill>
                  <a:srgbClr val="FFFFFF"/>
                </a:solidFill>
                <a:latin typeface="Arial"/>
              </a:rPr>
              <a:t> to deliver this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第二步：把这些条目拆成具体要干的活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700" b="1" dirty="0">
                <a:solidFill>
                  <a:srgbClr val="F4B183"/>
                </a:solidFill>
                <a:latin typeface="Arial"/>
              </a:rPr>
              <a:t>Two-parts meeting</a:t>
            </a:r>
            <a:r>
              <a:rPr lang="en-US" altLang="zh-CN" sz="1700" b="1" dirty="0">
                <a:solidFill>
                  <a:srgbClr val="FFFFFF"/>
                </a:solidFill>
                <a:latin typeface="Arial"/>
              </a:rPr>
              <a:t> (SM, PO, and Dev team)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会议分两部分，三种角色都参加</a:t>
            </a:r>
          </a:p>
          <a:p>
            <a:pPr marL="8001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altLang="zh-CN" sz="1400" b="1" dirty="0">
                <a:solidFill>
                  <a:srgbClr val="F4B183"/>
                </a:solidFill>
                <a:latin typeface="Arial"/>
              </a:rPr>
              <a:t>Before meeting</a:t>
            </a:r>
            <a:r>
              <a:rPr lang="en-US" altLang="zh-CN" sz="1400" b="1" dirty="0">
                <a:solidFill>
                  <a:srgbClr val="FFFFFF"/>
                </a:solidFill>
                <a:latin typeface="Arial"/>
              </a:rPr>
              <a:t>: PO prepares prioritized list of most valuable items</a:t>
            </a:r>
          </a:p>
          <a:p>
            <a:pPr marL="34290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会前：PO 先把最有价值的需求按优先级排好——平时每个人随时把想法记进 Product Backlog，开会再汇总挑选，光靠开会那点时间不够</a:t>
            </a:r>
          </a:p>
          <a:p>
            <a:pPr marL="8001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altLang="zh-CN" sz="1400" b="1" dirty="0">
                <a:solidFill>
                  <a:srgbClr val="F4B183"/>
                </a:solidFill>
                <a:latin typeface="Arial"/>
              </a:rPr>
              <a:t>Meeting part 1</a:t>
            </a:r>
            <a:r>
              <a:rPr lang="en-US" altLang="zh-CN" sz="1400" b="1" dirty="0">
                <a:solidFill>
                  <a:srgbClr val="FFFFFF"/>
                </a:solidFill>
                <a:latin typeface="Arial"/>
              </a:rPr>
              <a:t>: PO &amp; Dev team select items to be delivered at the end of the sprint based on their value and on the team’s estimate of how much work needed</a:t>
            </a:r>
          </a:p>
          <a:p>
            <a:pPr marL="34290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第 1 部分：PO 和开发团队一起选本轮要交付的条目——看价值，也看团队估计的工作量</a:t>
            </a:r>
          </a:p>
          <a:p>
            <a:pPr marL="8001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altLang="zh-CN" sz="1400" b="1" dirty="0">
                <a:solidFill>
                  <a:srgbClr val="F4B183"/>
                </a:solidFill>
                <a:latin typeface="Arial"/>
              </a:rPr>
              <a:t>Meeting part 2</a:t>
            </a:r>
            <a:r>
              <a:rPr lang="en-US" altLang="zh-CN" sz="1400" b="1" dirty="0">
                <a:solidFill>
                  <a:srgbClr val="FFFFFF"/>
                </a:solidFill>
                <a:latin typeface="Arial"/>
              </a:rPr>
              <a:t>: Dev team figure out the individual tasks they’ll use to implement those items</a:t>
            </a:r>
          </a:p>
          <a:p>
            <a:pPr marL="34290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第 2 部分：开发团队把每个条目拆成具体任务——拆得足够细，太大改代码太多，review 就读不懂了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700" b="1" dirty="0">
                <a:solidFill>
                  <a:srgbClr val="F4B183"/>
                </a:solidFill>
                <a:latin typeface="Arial"/>
              </a:rPr>
              <a:t>Output</a:t>
            </a:r>
            <a:r>
              <a:rPr lang="en-US" altLang="zh-CN" sz="1700" b="1" dirty="0">
                <a:solidFill>
                  <a:srgbClr val="FFFFFF"/>
                </a:solidFill>
                <a:latin typeface="Arial"/>
              </a:rPr>
              <a:t>: Sprint Backlog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产出：Sprint Backlog（本轮待办列表）——在 GitLab 里就是绑定到 milestone 的 Issues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88136" y="384048"/>
            <a:ext cx="8229600" cy="86868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3000" b="1" dirty="0">
                <a:solidFill>
                  <a:srgbClr val="FFFFFF"/>
                </a:solidFill>
                <a:latin typeface="Arial"/>
              </a:rPr>
              <a:t>Scrum – Team Structure: Sprint planning?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altLang="zh-CN" sz="1600" b="0" dirty="0">
                <a:solidFill>
                  <a:srgbClr val="BDD7EE"/>
                </a:solidFill>
                <a:latin typeface="Arial"/>
              </a:rPr>
              <a:t>思考：哪种组织方式更像 Scrum 的 Sprint 计划？</a:t>
            </a:r>
          </a:p>
        </p:txBody>
      </p:sp>
      <p:pic>
        <p:nvPicPr>
          <p:cNvPr id="3" name="Picture 2" descr="team_c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29796"/>
            <a:ext cx="6949440" cy="270112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26680" y="1280160"/>
            <a:ext cx="3977639" cy="475488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342900" indent="-342900"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US" altLang="zh-CN" sz="1500" b="1" dirty="0">
                <a:solidFill>
                  <a:srgbClr val="FFFFFF"/>
                </a:solidFill>
                <a:latin typeface="Arial"/>
              </a:rPr>
              <a:t>Which team organization better describes the Scrum Sprint/iteration planning?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问题：哪种团队组织更符合 Scrum 的迭代计划？</a:t>
            </a:r>
          </a:p>
          <a:p>
            <a:pPr marL="342900" indent="-342900"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US" altLang="zh-CN" sz="1500" b="1" dirty="0">
                <a:solidFill>
                  <a:srgbClr val="F4B183"/>
                </a:solidFill>
                <a:latin typeface="Arial"/>
              </a:rPr>
              <a:t>Team C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左图：Project Manager 一个人拿着计划分配任务，其他人等指令</a:t>
            </a:r>
          </a:p>
          <a:p>
            <a:pPr marL="342900" indent="-342900"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US" altLang="zh-CN" sz="1500" b="1" dirty="0">
                <a:solidFill>
                  <a:srgbClr val="F4B183"/>
                </a:solidFill>
                <a:latin typeface="Arial"/>
              </a:rPr>
              <a:t>Team D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右图：大家围着任务板，一起讨论、自己认领任务</a:t>
            </a:r>
          </a:p>
          <a:p>
            <a:pPr marL="342900" indent="-342900"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US" altLang="zh-CN" sz="1500" b="1" dirty="0">
                <a:solidFill>
                  <a:srgbClr val="FFFFFF"/>
                </a:solidFill>
                <a:latin typeface="Arial"/>
              </a:rPr>
              <a:t>Slido.com --&gt; # 3301735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课堂 Slido：C 48% / D 52%（31 票，很接近）；学生答 "Scrum 里没有项目经理"。答案 Team D——Sprint 计划全员一起做，不是一个人派活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88136" y="384048"/>
            <a:ext cx="8229600" cy="86868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2600" b="1" dirty="0">
                <a:solidFill>
                  <a:srgbClr val="FFFFFF"/>
                </a:solidFill>
                <a:latin typeface="Arial"/>
              </a:rPr>
              <a:t>Scrum Events – Daily Scrum Meeting (Stand-ups)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altLang="zh-CN" sz="1600" b="0" dirty="0">
                <a:solidFill>
                  <a:srgbClr val="BDD7EE"/>
                </a:solidFill>
                <a:latin typeface="Arial"/>
              </a:rPr>
              <a:t>每日站会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" y="1325880"/>
            <a:ext cx="9966960" cy="484632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342900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700" b="1" dirty="0">
                <a:solidFill>
                  <a:srgbClr val="FFFFFF"/>
                </a:solidFill>
                <a:latin typeface="Arial"/>
              </a:rPr>
              <a:t>To ensure </a:t>
            </a:r>
            <a:r>
              <a:rPr lang="en-US" altLang="zh-CN" sz="1700" b="1" dirty="0">
                <a:solidFill>
                  <a:srgbClr val="F4B183"/>
                </a:solidFill>
                <a:latin typeface="Arial"/>
              </a:rPr>
              <a:t>problems and obstacles are visible</a:t>
            </a:r>
            <a:r>
              <a:rPr lang="en-US" altLang="zh-CN" sz="1700" b="1" dirty="0">
                <a:solidFill>
                  <a:srgbClr val="FFFFFF"/>
                </a:solidFill>
                <a:latin typeface="Arial"/>
              </a:rPr>
              <a:t> to the team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目的：让问题和障碍尽早被所有人看到</a:t>
            </a:r>
          </a:p>
          <a:p>
            <a:pPr marL="342900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700" b="1" dirty="0">
                <a:solidFill>
                  <a:srgbClr val="F4B183"/>
                </a:solidFill>
                <a:latin typeface="Arial"/>
              </a:rPr>
              <a:t>Timeboxed 15 minutes</a:t>
            </a:r>
            <a:r>
              <a:rPr lang="en-US" altLang="zh-CN" sz="1700" b="1" dirty="0">
                <a:solidFill>
                  <a:srgbClr val="FFFFFF"/>
                </a:solidFill>
                <a:latin typeface="Arial"/>
              </a:rPr>
              <a:t> (same time and place each day)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限时 15 分钟，每天同一时间、同一地点（线上也行）</a:t>
            </a:r>
          </a:p>
          <a:p>
            <a:pPr marL="342900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700" b="1" dirty="0">
                <a:solidFill>
                  <a:srgbClr val="F4B183"/>
                </a:solidFill>
                <a:latin typeface="Arial"/>
              </a:rPr>
              <a:t>All team members</a:t>
            </a:r>
            <a:r>
              <a:rPr lang="en-US" altLang="zh-CN" sz="1700" b="1" dirty="0">
                <a:solidFill>
                  <a:srgbClr val="FFFFFF"/>
                </a:solidFill>
                <a:latin typeface="Arial"/>
              </a:rPr>
              <a:t> including SM and PO must attend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所有人都要到，包括 SM 和 PO</a:t>
            </a:r>
          </a:p>
          <a:p>
            <a:pPr marL="342900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700" b="1" dirty="0">
                <a:solidFill>
                  <a:srgbClr val="FFFFFF"/>
                </a:solidFill>
                <a:latin typeface="Arial"/>
              </a:rPr>
              <a:t>Each briefly </a:t>
            </a:r>
            <a:r>
              <a:rPr lang="en-US" altLang="zh-CN" sz="1700" b="1" dirty="0">
                <a:solidFill>
                  <a:srgbClr val="F4B183"/>
                </a:solidFill>
                <a:latin typeface="Arial"/>
              </a:rPr>
              <a:t>answers three questions</a:t>
            </a:r>
            <a:r>
              <a:rPr lang="en-US" altLang="zh-CN" sz="1700" b="1" dirty="0">
                <a:solidFill>
                  <a:srgbClr val="FFFFFF"/>
                </a:solidFill>
                <a:latin typeface="Arial"/>
              </a:rPr>
              <a:t>: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每个人简短回答三个问题：</a:t>
            </a:r>
          </a:p>
          <a:p>
            <a:pPr marL="8001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altLang="zh-CN" sz="1400" b="1" dirty="0">
                <a:solidFill>
                  <a:srgbClr val="FFFFFF"/>
                </a:solidFill>
                <a:latin typeface="Arial"/>
              </a:rPr>
              <a:t>What did I do yesterday that helped the development team meet the Sprint Goal?</a:t>
            </a:r>
          </a:p>
          <a:p>
            <a:pPr marL="34290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昨天做了什么？</a:t>
            </a:r>
          </a:p>
          <a:p>
            <a:pPr marL="8001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altLang="zh-CN" sz="1400" b="1" dirty="0">
                <a:solidFill>
                  <a:srgbClr val="FFFFFF"/>
                </a:solidFill>
                <a:latin typeface="Arial"/>
              </a:rPr>
              <a:t>What will I do today to help the development team meet the Sprint Goal?</a:t>
            </a:r>
          </a:p>
          <a:p>
            <a:pPr marL="34290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今天打算做什么？</a:t>
            </a:r>
          </a:p>
          <a:p>
            <a:pPr marL="8001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altLang="zh-CN" sz="1400" b="1" dirty="0">
                <a:solidFill>
                  <a:srgbClr val="FFFFFF"/>
                </a:solidFill>
                <a:latin typeface="Arial"/>
              </a:rPr>
              <a:t>do I see any obstacles that prevent me or the Dev team to meeting the Sprint Goal?</a:t>
            </a:r>
          </a:p>
          <a:p>
            <a:pPr marL="34290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有没有什么阻碍？</a:t>
            </a:r>
          </a:p>
          <a:p>
            <a:pPr marL="342900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700" b="1" dirty="0">
                <a:solidFill>
                  <a:srgbClr val="F4B183"/>
                </a:solidFill>
                <a:latin typeface="Arial"/>
              </a:rPr>
              <a:t>No problem-solving</a:t>
            </a:r>
            <a:r>
              <a:rPr lang="en-US" altLang="zh-CN" sz="1700" b="1" dirty="0">
                <a:solidFill>
                  <a:srgbClr val="FFFFFF"/>
                </a:solidFill>
                <a:latin typeface="Arial"/>
              </a:rPr>
              <a:t> during the meeting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站会上不解决问题，只暴露问题</a:t>
            </a:r>
          </a:p>
          <a:p>
            <a:pPr marL="8001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altLang="zh-CN" sz="1400" b="1" dirty="0">
                <a:solidFill>
                  <a:srgbClr val="FFFFFF"/>
                </a:solidFill>
                <a:latin typeface="Arial"/>
              </a:rPr>
              <a:t>Follow-up meetings if further discussion is required</a:t>
            </a:r>
          </a:p>
          <a:p>
            <a:pPr marL="34290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需要深入讨论的，会后单独拉相关人再聊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88136" y="384048"/>
            <a:ext cx="8229600" cy="86868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2600" b="1" dirty="0">
                <a:solidFill>
                  <a:srgbClr val="FFFFFF"/>
                </a:solidFill>
                <a:latin typeface="Arial"/>
              </a:rPr>
              <a:t>Scrum Events – Development Work &amp; Sprint Review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altLang="zh-CN" sz="1600" b="0" dirty="0">
                <a:solidFill>
                  <a:srgbClr val="BDD7EE"/>
                </a:solidFill>
                <a:latin typeface="Arial"/>
              </a:rPr>
              <a:t>开发工作 与 冲刺评审会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" y="1371600"/>
            <a:ext cx="4480560" cy="475488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342900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b="1" dirty="0">
                <a:solidFill>
                  <a:srgbClr val="F4B183"/>
                </a:solidFill>
                <a:latin typeface="Arial"/>
              </a:rPr>
              <a:t>Development Work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开发阶段（Sprint 中间的大部分时间）</a:t>
            </a:r>
          </a:p>
          <a:p>
            <a:pPr marL="8001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altLang="zh-CN" sz="1300" b="1" dirty="0">
                <a:solidFill>
                  <a:srgbClr val="FFFFFF"/>
                </a:solidFill>
                <a:latin typeface="Arial"/>
              </a:rPr>
              <a:t>Dev team Builds the items in the </a:t>
            </a:r>
            <a:r>
              <a:rPr lang="en-US" altLang="zh-CN" sz="1300" b="1" dirty="0">
                <a:solidFill>
                  <a:srgbClr val="F4B183"/>
                </a:solidFill>
                <a:latin typeface="Arial"/>
              </a:rPr>
              <a:t>Sprint Backlog</a:t>
            </a:r>
            <a:r>
              <a:rPr lang="en-US" altLang="zh-CN" sz="1300" b="1" dirty="0">
                <a:solidFill>
                  <a:srgbClr val="FFFFFF"/>
                </a:solidFill>
                <a:latin typeface="Arial"/>
              </a:rPr>
              <a:t> into working software</a:t>
            </a:r>
          </a:p>
          <a:p>
            <a:pPr marL="342900" indent="0">
              <a:spcBef>
                <a:spcPts val="100"/>
              </a:spcBef>
              <a:buNone/>
            </a:pPr>
            <a:r>
              <a:rPr lang="en-US" altLang="zh-CN" sz="1100" b="0" dirty="0">
                <a:solidFill>
                  <a:srgbClr val="BDD7EE"/>
                </a:solidFill>
                <a:latin typeface="Arial"/>
              </a:rPr>
              <a:t>把 Sprint Backlog 里的条目做成能跑的软件</a:t>
            </a:r>
          </a:p>
          <a:p>
            <a:pPr marL="8001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altLang="zh-CN" sz="1300" b="1" dirty="0">
                <a:solidFill>
                  <a:srgbClr val="FFFFFF"/>
                </a:solidFill>
                <a:latin typeface="Arial"/>
              </a:rPr>
              <a:t>Should inform the PO if they are overcommitted or can add extra items if time allows</a:t>
            </a:r>
          </a:p>
          <a:p>
            <a:pPr marL="342900" indent="0">
              <a:spcBef>
                <a:spcPts val="100"/>
              </a:spcBef>
              <a:buNone/>
            </a:pPr>
            <a:r>
              <a:rPr lang="en-US" altLang="zh-CN" sz="1100" b="0" dirty="0">
                <a:solidFill>
                  <a:srgbClr val="BDD7EE"/>
                </a:solidFill>
                <a:latin typeface="Arial"/>
              </a:rPr>
              <a:t>做不完要早点告诉 PO；有余力可以再加条目</a:t>
            </a:r>
          </a:p>
          <a:p>
            <a:pPr marL="8001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altLang="zh-CN" sz="1300" b="1" dirty="0">
                <a:solidFill>
                  <a:srgbClr val="FFFFFF"/>
                </a:solidFill>
                <a:latin typeface="Arial"/>
              </a:rPr>
              <a:t>Must </a:t>
            </a:r>
            <a:r>
              <a:rPr lang="en-US" altLang="zh-CN" sz="1300" b="1" dirty="0">
                <a:solidFill>
                  <a:srgbClr val="F4B183"/>
                </a:solidFill>
                <a:latin typeface="Arial"/>
              </a:rPr>
              <a:t>update the Sprint backlog</a:t>
            </a:r>
            <a:r>
              <a:rPr lang="en-US" altLang="zh-CN" sz="1300" b="1" dirty="0">
                <a:solidFill>
                  <a:srgbClr val="FFFFFF"/>
                </a:solidFill>
                <a:latin typeface="Arial"/>
              </a:rPr>
              <a:t> and keep it </a:t>
            </a:r>
            <a:r>
              <a:rPr lang="en-US" altLang="zh-CN" sz="1300" b="1" dirty="0">
                <a:solidFill>
                  <a:srgbClr val="F4B183"/>
                </a:solidFill>
                <a:latin typeface="Arial"/>
              </a:rPr>
              <a:t>visible</a:t>
            </a:r>
            <a:r>
              <a:rPr lang="en-US" altLang="zh-CN" sz="1300" b="1" dirty="0">
                <a:solidFill>
                  <a:srgbClr val="FFFFFF"/>
                </a:solidFill>
                <a:latin typeface="Arial"/>
              </a:rPr>
              <a:t> to everyone</a:t>
            </a:r>
          </a:p>
          <a:p>
            <a:pPr marL="342900" indent="0">
              <a:spcBef>
                <a:spcPts val="100"/>
              </a:spcBef>
              <a:buNone/>
            </a:pPr>
            <a:r>
              <a:rPr lang="en-US" altLang="zh-CN" sz="1100" b="0" dirty="0">
                <a:solidFill>
                  <a:srgbClr val="BDD7EE"/>
                </a:solidFill>
                <a:latin typeface="Arial"/>
              </a:rPr>
              <a:t>随时更新 Sprint Backlog（移动任务卡），对所有人可见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3016" y="1371600"/>
            <a:ext cx="5943599" cy="475488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342900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b="1" dirty="0">
                <a:solidFill>
                  <a:srgbClr val="F4B183"/>
                </a:solidFill>
                <a:latin typeface="Arial"/>
              </a:rPr>
              <a:t>Sprint Review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评审会：Sprint 结束时的非正式会议（最多 4 小时；2 周的 Sprint 约 1–2 小时，SM 控时）</a:t>
            </a:r>
          </a:p>
          <a:p>
            <a:pPr marL="8001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altLang="zh-CN" sz="1300" b="1" dirty="0">
                <a:solidFill>
                  <a:srgbClr val="F4B183"/>
                </a:solidFill>
                <a:latin typeface="Arial"/>
              </a:rPr>
              <a:t>Dev team demonstrates working software</a:t>
            </a:r>
            <a:r>
              <a:rPr lang="en-US" altLang="zh-CN" sz="1300" b="1" dirty="0">
                <a:solidFill>
                  <a:srgbClr val="FFFFFF"/>
                </a:solidFill>
                <a:latin typeface="Arial"/>
              </a:rPr>
              <a:t> to customers/stakeholders</a:t>
            </a:r>
          </a:p>
          <a:p>
            <a:pPr marL="342900" indent="0">
              <a:spcBef>
                <a:spcPts val="100"/>
              </a:spcBef>
              <a:buNone/>
            </a:pPr>
            <a:r>
              <a:rPr lang="en-US" altLang="zh-CN" sz="1100" b="0" dirty="0">
                <a:solidFill>
                  <a:srgbClr val="BDD7EE"/>
                </a:solidFill>
                <a:latin typeface="Arial"/>
              </a:rPr>
              <a:t>开发团队向客户 / 相关方演示能跑的软件（你们是和 tutor 一起评审）</a:t>
            </a:r>
          </a:p>
          <a:p>
            <a:pPr marL="12000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altLang="zh-CN" sz="1300" b="1" dirty="0">
                <a:solidFill>
                  <a:srgbClr val="FFFFFF"/>
                </a:solidFill>
                <a:latin typeface="Arial"/>
              </a:rPr>
              <a:t>Items done – completed, tested &amp; accepted by the product owner</a:t>
            </a:r>
          </a:p>
          <a:p>
            <a:pPr marL="800100" indent="0">
              <a:spcBef>
                <a:spcPts val="100"/>
              </a:spcBef>
              <a:buNone/>
            </a:pPr>
            <a:r>
              <a:rPr lang="en-US" altLang="zh-CN" sz="1100" b="0" dirty="0">
                <a:solidFill>
                  <a:srgbClr val="BDD7EE"/>
                </a:solidFill>
                <a:latin typeface="Arial"/>
              </a:rPr>
              <a:t>"完成"= 做完 + 测过 + PO 验收</a:t>
            </a:r>
          </a:p>
          <a:p>
            <a:pPr marL="12000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altLang="zh-CN" sz="1300" b="1" dirty="0">
                <a:solidFill>
                  <a:srgbClr val="FFFFFF"/>
                </a:solidFill>
                <a:latin typeface="Arial"/>
              </a:rPr>
              <a:t>Only functional working software – not architecture, database design etc.</a:t>
            </a:r>
          </a:p>
          <a:p>
            <a:pPr marL="800100" indent="0">
              <a:spcBef>
                <a:spcPts val="100"/>
              </a:spcBef>
              <a:buNone/>
            </a:pPr>
            <a:r>
              <a:rPr lang="en-US" altLang="zh-CN" sz="1100" b="0" dirty="0">
                <a:solidFill>
                  <a:srgbClr val="BDD7EE"/>
                </a:solidFill>
                <a:latin typeface="Arial"/>
              </a:rPr>
              <a:t>只演示功能，不讲架构和数据库设计</a:t>
            </a:r>
          </a:p>
          <a:p>
            <a:pPr marL="8001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altLang="zh-CN" sz="1300" b="1" dirty="0">
                <a:solidFill>
                  <a:srgbClr val="F4B183"/>
                </a:solidFill>
                <a:latin typeface="Arial"/>
              </a:rPr>
              <a:t>Stakeholders share</a:t>
            </a:r>
            <a:r>
              <a:rPr lang="en-US" altLang="zh-CN" sz="1300" b="1" dirty="0">
                <a:solidFill>
                  <a:srgbClr val="FFFFFF"/>
                </a:solidFill>
                <a:latin typeface="Arial"/>
              </a:rPr>
              <a:t> their feedback, ideas, feelings, thoughts about the demo</a:t>
            </a:r>
          </a:p>
          <a:p>
            <a:pPr marL="342900" indent="0">
              <a:spcBef>
                <a:spcPts val="100"/>
              </a:spcBef>
              <a:buNone/>
            </a:pPr>
            <a:r>
              <a:rPr lang="en-US" altLang="zh-CN" sz="1100" b="0" dirty="0">
                <a:solidFill>
                  <a:srgbClr val="BDD7EE"/>
                </a:solidFill>
                <a:latin typeface="Arial"/>
              </a:rPr>
              <a:t>相关方给反馈——要邀请能影响"能否发布"决策的相关方，否则等于把决策者排除在外</a:t>
            </a:r>
          </a:p>
          <a:p>
            <a:pPr marL="8001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altLang="zh-CN" sz="1300" b="1" dirty="0">
                <a:solidFill>
                  <a:srgbClr val="FFFFFF"/>
                </a:solidFill>
                <a:latin typeface="Arial"/>
              </a:rPr>
              <a:t>The Product Owner explains “Done” and “Not Done” items</a:t>
            </a:r>
          </a:p>
          <a:p>
            <a:pPr marL="342900" indent="0">
              <a:spcBef>
                <a:spcPts val="100"/>
              </a:spcBef>
              <a:buNone/>
            </a:pPr>
            <a:r>
              <a:rPr lang="en-US" altLang="zh-CN" sz="1100" b="0" dirty="0">
                <a:solidFill>
                  <a:srgbClr val="BDD7EE"/>
                </a:solidFill>
                <a:latin typeface="Arial"/>
              </a:rPr>
              <a:t>PO 说明哪些完成了、哪些没完成——没完成的要有去向：挪到下个 Sprint / 放 Future / 太难就废弃</a:t>
            </a:r>
          </a:p>
          <a:p>
            <a:pPr marL="8001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altLang="zh-CN" sz="1300" b="1" dirty="0">
                <a:solidFill>
                  <a:srgbClr val="F4B183"/>
                </a:solidFill>
                <a:latin typeface="Arial"/>
              </a:rPr>
              <a:t>Output</a:t>
            </a:r>
            <a:r>
              <a:rPr lang="en-US" altLang="zh-CN" sz="1300" b="1" dirty="0">
                <a:solidFill>
                  <a:srgbClr val="FFFFFF"/>
                </a:solidFill>
                <a:latin typeface="Arial"/>
              </a:rPr>
              <a:t>: revised Product Backlog and probable items for next iteration</a:t>
            </a:r>
          </a:p>
          <a:p>
            <a:pPr marL="342900" indent="0">
              <a:spcBef>
                <a:spcPts val="100"/>
              </a:spcBef>
              <a:buNone/>
            </a:pPr>
            <a:r>
              <a:rPr lang="en-US" altLang="zh-CN" sz="1100" b="0" dirty="0">
                <a:solidFill>
                  <a:srgbClr val="BDD7EE"/>
                </a:solidFill>
                <a:latin typeface="Arial"/>
              </a:rPr>
              <a:t>产出：更新后的 Product Backlog 和下轮候选条目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88136" y="384048"/>
            <a:ext cx="8229600" cy="86868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3000" b="1" dirty="0">
                <a:solidFill>
                  <a:srgbClr val="FFFFFF"/>
                </a:solidFill>
                <a:latin typeface="Arial"/>
              </a:rPr>
              <a:t>Scrum Iteration (Sprint) Process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altLang="zh-CN" sz="1600" b="0" dirty="0">
                <a:solidFill>
                  <a:srgbClr val="BDD7EE"/>
                </a:solidFill>
                <a:latin typeface="Arial"/>
              </a:rPr>
              <a:t>Sprint 迭代过程</a:t>
            </a:r>
          </a:p>
        </p:txBody>
      </p:sp>
      <p:pic>
        <p:nvPicPr>
          <p:cNvPr id="3" name="Picture 2" descr="sprint_proc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37104"/>
            <a:ext cx="7132320" cy="290363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09560" y="1280160"/>
            <a:ext cx="3794760" cy="475488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altLang="zh-CN" sz="1500" b="1" dirty="0">
                <a:solidFill>
                  <a:srgbClr val="FFFFFF"/>
                </a:solidFill>
                <a:latin typeface="Arial"/>
              </a:rPr>
              <a:t>Iteration #1 → #2 → #3 …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左图：一轮轮迭代，每一轮都是完整的"计划 → 开发 → 评审"循环</a:t>
            </a:r>
          </a:p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altLang="zh-CN" sz="1500" b="1" dirty="0">
                <a:solidFill>
                  <a:srgbClr val="FFFFFF"/>
                </a:solidFill>
                <a:latin typeface="Arial"/>
              </a:rPr>
              <a:t>Backlog 1 → Backlog 2 → Backlog 3 → Backlog 4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右图：每轮从 Product Backlog 里取一部分（Sprint Backlog）来做，Backlog 逐渐减少</a:t>
            </a:r>
          </a:p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altLang="zh-CN" sz="1500" b="1" dirty="0">
                <a:solidFill>
                  <a:srgbClr val="FFFFFF"/>
                </a:solidFill>
                <a:latin typeface="Arial"/>
              </a:rPr>
              <a:t>* </a:t>
            </a:r>
            <a:r>
              <a:rPr lang="en-US" altLang="zh-CN" sz="1500" b="1" dirty="0">
                <a:solidFill>
                  <a:srgbClr val="F4B183"/>
                </a:solidFill>
                <a:latin typeface="Arial"/>
              </a:rPr>
              <a:t>Product Backlog</a:t>
            </a:r>
            <a:r>
              <a:rPr lang="en-US" altLang="zh-CN" sz="1500" b="1" dirty="0">
                <a:solidFill>
                  <a:srgbClr val="FFFFFF"/>
                </a:solidFill>
                <a:latin typeface="Arial"/>
              </a:rPr>
              <a:t>: set of all features and sub-features (items) needed to build the product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Product Backlog = 做出这个产品需要的所有功能和子功能的集合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88136" y="384048"/>
            <a:ext cx="8229600" cy="86868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3000" b="1" dirty="0">
                <a:solidFill>
                  <a:srgbClr val="FFFFFF"/>
                </a:solidFill>
                <a:latin typeface="Arial"/>
              </a:rPr>
              <a:t>Scrum Events – Retrospectives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altLang="zh-CN" sz="1600" b="0" dirty="0">
                <a:solidFill>
                  <a:srgbClr val="BDD7EE"/>
                </a:solidFill>
                <a:latin typeface="Arial"/>
              </a:rPr>
              <a:t>冲刺回顾会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" y="1371600"/>
            <a:ext cx="4572000" cy="475488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342900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b="1" dirty="0">
                <a:solidFill>
                  <a:srgbClr val="FFFFFF"/>
                </a:solidFill>
                <a:latin typeface="Arial"/>
              </a:rPr>
              <a:t>Opportunity for the </a:t>
            </a:r>
            <a:r>
              <a:rPr lang="en-US" altLang="zh-CN" sz="1600" b="1" dirty="0">
                <a:solidFill>
                  <a:srgbClr val="F4B183"/>
                </a:solidFill>
                <a:latin typeface="Arial"/>
              </a:rPr>
              <a:t>Scrum team to inspect itself and create plan for improvements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团队"照镜子"的机会：反思自己，制定改进计划</a:t>
            </a:r>
          </a:p>
          <a:p>
            <a:pPr marL="8001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altLang="zh-CN" sz="1300" b="1" dirty="0">
                <a:solidFill>
                  <a:srgbClr val="F4B183"/>
                </a:solidFill>
                <a:latin typeface="Arial"/>
              </a:rPr>
              <a:t>Inspect</a:t>
            </a:r>
            <a:r>
              <a:rPr lang="en-US" altLang="zh-CN" sz="1300" b="1" dirty="0">
                <a:solidFill>
                  <a:srgbClr val="FFFFFF"/>
                </a:solidFill>
                <a:latin typeface="Arial"/>
              </a:rPr>
              <a:t> how the last Sprint went with regards to </a:t>
            </a:r>
            <a:r>
              <a:rPr lang="en-US" altLang="zh-CN" sz="1300" b="1" dirty="0">
                <a:solidFill>
                  <a:srgbClr val="F4B183"/>
                </a:solidFill>
                <a:latin typeface="Arial"/>
              </a:rPr>
              <a:t>people</a:t>
            </a:r>
            <a:r>
              <a:rPr lang="en-US" altLang="zh-CN" sz="1300" b="1" dirty="0">
                <a:solidFill>
                  <a:srgbClr val="FFFFFF"/>
                </a:solidFill>
                <a:latin typeface="Arial"/>
              </a:rPr>
              <a:t>, </a:t>
            </a:r>
            <a:r>
              <a:rPr lang="en-US" altLang="zh-CN" sz="1300" b="1" dirty="0">
                <a:solidFill>
                  <a:srgbClr val="F4B183"/>
                </a:solidFill>
                <a:latin typeface="Arial"/>
              </a:rPr>
              <a:t>relationships</a:t>
            </a:r>
            <a:r>
              <a:rPr lang="en-US" altLang="zh-CN" sz="1300" b="1" dirty="0">
                <a:solidFill>
                  <a:srgbClr val="FFFFFF"/>
                </a:solidFill>
                <a:latin typeface="Arial"/>
              </a:rPr>
              <a:t>, </a:t>
            </a:r>
            <a:r>
              <a:rPr lang="en-US" altLang="zh-CN" sz="1300" b="1" dirty="0">
                <a:solidFill>
                  <a:srgbClr val="F4B183"/>
                </a:solidFill>
                <a:latin typeface="Arial"/>
              </a:rPr>
              <a:t>process</a:t>
            </a:r>
            <a:r>
              <a:rPr lang="en-US" altLang="zh-CN" sz="1300" b="1" dirty="0">
                <a:solidFill>
                  <a:srgbClr val="FFFFFF"/>
                </a:solidFill>
                <a:latin typeface="Arial"/>
              </a:rPr>
              <a:t>, and </a:t>
            </a:r>
            <a:r>
              <a:rPr lang="en-US" altLang="zh-CN" sz="1300" b="1" dirty="0">
                <a:solidFill>
                  <a:srgbClr val="F4B183"/>
                </a:solidFill>
                <a:latin typeface="Arial"/>
              </a:rPr>
              <a:t>tools</a:t>
            </a:r>
          </a:p>
          <a:p>
            <a:pPr marL="342900" indent="0">
              <a:spcBef>
                <a:spcPts val="100"/>
              </a:spcBef>
              <a:buNone/>
            </a:pPr>
            <a:r>
              <a:rPr lang="en-US" altLang="zh-CN" sz="1100" b="0" dirty="0">
                <a:solidFill>
                  <a:srgbClr val="BDD7EE"/>
                </a:solidFill>
                <a:latin typeface="Arial"/>
              </a:rPr>
              <a:t>检查上一轮：人、协作关系、流程、工具，哪里好哪里不好</a:t>
            </a:r>
          </a:p>
          <a:p>
            <a:pPr marL="8001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altLang="zh-CN" sz="1300" b="1" dirty="0">
                <a:solidFill>
                  <a:srgbClr val="FFFFFF"/>
                </a:solidFill>
                <a:latin typeface="Arial"/>
              </a:rPr>
              <a:t>Identify and order the major </a:t>
            </a:r>
            <a:r>
              <a:rPr lang="en-US" altLang="zh-CN" sz="1300" b="1" dirty="0">
                <a:solidFill>
                  <a:srgbClr val="F4B183"/>
                </a:solidFill>
                <a:latin typeface="Arial"/>
              </a:rPr>
              <a:t>items that went well</a:t>
            </a:r>
            <a:r>
              <a:rPr lang="en-US" altLang="zh-CN" sz="1300" b="1" dirty="0">
                <a:solidFill>
                  <a:srgbClr val="FFFFFF"/>
                </a:solidFill>
                <a:latin typeface="Arial"/>
              </a:rPr>
              <a:t> and </a:t>
            </a:r>
            <a:r>
              <a:rPr lang="en-US" altLang="zh-CN" sz="1300" b="1" dirty="0">
                <a:solidFill>
                  <a:srgbClr val="F4B183"/>
                </a:solidFill>
                <a:latin typeface="Arial"/>
              </a:rPr>
              <a:t>potential improvements</a:t>
            </a:r>
          </a:p>
          <a:p>
            <a:pPr marL="342900" indent="0">
              <a:spcBef>
                <a:spcPts val="100"/>
              </a:spcBef>
              <a:buNone/>
            </a:pPr>
            <a:r>
              <a:rPr lang="en-US" altLang="zh-CN" sz="1100" b="0" dirty="0">
                <a:solidFill>
                  <a:srgbClr val="BDD7EE"/>
                </a:solidFill>
                <a:latin typeface="Arial"/>
              </a:rPr>
              <a:t>列出做得好的和可以改进的，并排序</a:t>
            </a:r>
          </a:p>
          <a:p>
            <a:pPr marL="8001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altLang="zh-CN" sz="1300" b="1" dirty="0">
                <a:solidFill>
                  <a:srgbClr val="FFFFFF"/>
                </a:solidFill>
                <a:latin typeface="Arial"/>
              </a:rPr>
              <a:t>Create a plan for </a:t>
            </a:r>
            <a:r>
              <a:rPr lang="en-US" altLang="zh-CN" sz="1300" b="1" dirty="0">
                <a:solidFill>
                  <a:srgbClr val="F4B183"/>
                </a:solidFill>
                <a:latin typeface="Arial"/>
              </a:rPr>
              <a:t>implementing improvements</a:t>
            </a:r>
            <a:r>
              <a:rPr lang="en-US" altLang="zh-CN" sz="1300" b="1" dirty="0">
                <a:solidFill>
                  <a:srgbClr val="FFFFFF"/>
                </a:solidFill>
                <a:latin typeface="Arial"/>
              </a:rPr>
              <a:t> to the way the Scrum Team does its work</a:t>
            </a:r>
          </a:p>
          <a:p>
            <a:pPr marL="342900" indent="0">
              <a:spcBef>
                <a:spcPts val="100"/>
              </a:spcBef>
              <a:buNone/>
            </a:pPr>
            <a:r>
              <a:rPr lang="en-US" altLang="zh-CN" sz="1100" b="0" dirty="0">
                <a:solidFill>
                  <a:srgbClr val="BDD7EE"/>
                </a:solidFill>
                <a:latin typeface="Arial"/>
              </a:rPr>
              <a:t>制定改进计划并在下轮执行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34455" y="1371600"/>
            <a:ext cx="5852159" cy="475488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342900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b="1" dirty="0">
                <a:solidFill>
                  <a:srgbClr val="F4B183"/>
                </a:solidFill>
                <a:latin typeface="Arial"/>
              </a:rPr>
              <a:t>Retrospective meetings</a:t>
            </a:r>
            <a:r>
              <a:rPr lang="en-US" altLang="zh-CN" sz="1600" b="1" dirty="0">
                <a:solidFill>
                  <a:srgbClr val="FFFFFF"/>
                </a:solidFill>
                <a:latin typeface="Arial"/>
              </a:rPr>
              <a:t> (max. 1-2 hours)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时长最多 1–2 小时</a:t>
            </a:r>
          </a:p>
          <a:p>
            <a:pPr marL="342900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b="1" dirty="0">
                <a:solidFill>
                  <a:srgbClr val="FFFFFF"/>
                </a:solidFill>
                <a:latin typeface="Arial"/>
              </a:rPr>
              <a:t>The SM and the Dev. team (maybe product owner)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参加者：SM + 开发团队（PO 可选）</a:t>
            </a:r>
          </a:p>
          <a:p>
            <a:pPr marL="342900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b="1" dirty="0">
                <a:solidFill>
                  <a:srgbClr val="FFFFFF"/>
                </a:solidFill>
                <a:latin typeface="Arial"/>
              </a:rPr>
              <a:t>Each person answer </a:t>
            </a:r>
            <a:r>
              <a:rPr lang="en-US" altLang="zh-CN" sz="1600" b="1" dirty="0">
                <a:solidFill>
                  <a:srgbClr val="F4B183"/>
                </a:solidFill>
                <a:latin typeface="Arial"/>
              </a:rPr>
              <a:t>two questions</a:t>
            </a:r>
            <a:r>
              <a:rPr lang="en-US" altLang="zh-CN" sz="1600" b="1" dirty="0">
                <a:solidFill>
                  <a:srgbClr val="FFFFFF"/>
                </a:solidFill>
                <a:latin typeface="Arial"/>
              </a:rPr>
              <a:t>: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每人回答两个问题：</a:t>
            </a:r>
          </a:p>
          <a:p>
            <a:pPr marL="8001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altLang="zh-CN" sz="1300" b="1" dirty="0">
                <a:solidFill>
                  <a:srgbClr val="FFFFFF"/>
                </a:solidFill>
                <a:latin typeface="Arial"/>
              </a:rPr>
              <a:t>What went well during the Sprint?</a:t>
            </a:r>
          </a:p>
          <a:p>
            <a:pPr marL="342900" indent="0">
              <a:spcBef>
                <a:spcPts val="100"/>
              </a:spcBef>
              <a:buNone/>
            </a:pPr>
            <a:r>
              <a:rPr lang="en-US" altLang="zh-CN" sz="1100" b="0" dirty="0">
                <a:solidFill>
                  <a:srgbClr val="BDD7EE"/>
                </a:solidFill>
                <a:latin typeface="Arial"/>
              </a:rPr>
              <a:t>这轮什么做得好？</a:t>
            </a:r>
          </a:p>
          <a:p>
            <a:pPr marL="8001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altLang="zh-CN" sz="1300" b="1" dirty="0">
                <a:solidFill>
                  <a:srgbClr val="FFFFFF"/>
                </a:solidFill>
                <a:latin typeface="Arial"/>
              </a:rPr>
              <a:t>What can be improved in the future?</a:t>
            </a:r>
          </a:p>
          <a:p>
            <a:pPr marL="342900" indent="0">
              <a:spcBef>
                <a:spcPts val="100"/>
              </a:spcBef>
              <a:buNone/>
            </a:pPr>
            <a:r>
              <a:rPr lang="en-US" altLang="zh-CN" sz="1100" b="0" dirty="0">
                <a:solidFill>
                  <a:srgbClr val="BDD7EE"/>
                </a:solidFill>
                <a:latin typeface="Arial"/>
              </a:rPr>
              <a:t>以后什么可以改进？</a:t>
            </a:r>
          </a:p>
          <a:p>
            <a:pPr marL="342900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b="1" dirty="0">
                <a:solidFill>
                  <a:srgbClr val="FFFFFF"/>
                </a:solidFill>
                <a:latin typeface="Arial"/>
              </a:rPr>
              <a:t>The </a:t>
            </a:r>
            <a:r>
              <a:rPr lang="en-US" altLang="zh-CN" sz="1600" b="1" dirty="0">
                <a:solidFill>
                  <a:srgbClr val="F4B183"/>
                </a:solidFill>
                <a:latin typeface="Arial"/>
              </a:rPr>
              <a:t>SM notes improvements</a:t>
            </a:r>
            <a:r>
              <a:rPr lang="en-US" altLang="zh-CN" sz="1600" b="1" dirty="0">
                <a:solidFill>
                  <a:srgbClr val="FFFFFF"/>
                </a:solidFill>
                <a:latin typeface="Arial"/>
              </a:rPr>
              <a:t> that should be added to the Product Backlog (non-functional items)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SM 把改进项记进 Product Backlog（属于非功能性条目）</a:t>
            </a:r>
          </a:p>
          <a:p>
            <a:pPr marL="8001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altLang="zh-CN" sz="1300" b="1" dirty="0">
                <a:solidFill>
                  <a:srgbClr val="FFFFFF"/>
                </a:solidFill>
                <a:latin typeface="Arial"/>
              </a:rPr>
              <a:t>E.g., set-up a better build server, adopting design principles, changing office layout</a:t>
            </a:r>
          </a:p>
          <a:p>
            <a:pPr marL="342900" indent="0">
              <a:spcBef>
                <a:spcPts val="100"/>
              </a:spcBef>
              <a:buNone/>
            </a:pPr>
            <a:r>
              <a:rPr lang="en-US" altLang="zh-CN" sz="1100" b="0" dirty="0">
                <a:solidFill>
                  <a:srgbClr val="BDD7EE"/>
                </a:solidFill>
                <a:latin typeface="Arial"/>
              </a:rPr>
              <a:t>例如：搭更好的构建服务器、采用设计原则、改办公布局</a:t>
            </a:r>
          </a:p>
          <a:p>
            <a:pPr marL="342900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b="1" dirty="0">
                <a:solidFill>
                  <a:srgbClr val="F4B183"/>
                </a:solidFill>
                <a:latin typeface="Arial"/>
              </a:rPr>
              <a:t>Output</a:t>
            </a:r>
            <a:r>
              <a:rPr lang="en-US" altLang="zh-CN" sz="1600" b="1" dirty="0">
                <a:solidFill>
                  <a:srgbClr val="FFFFFF"/>
                </a:solidFill>
                <a:latin typeface="Arial"/>
              </a:rPr>
              <a:t>: identified improvements to be implemented in the next Sprint (adaptation)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产出：下轮要落实的改进（适应）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88136" y="384048"/>
            <a:ext cx="8229600" cy="86868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2600" b="1" dirty="0">
                <a:solidFill>
                  <a:srgbClr val="FFFFFF"/>
                </a:solidFill>
                <a:latin typeface="Arial"/>
              </a:rPr>
              <a:t>Sprint Retrospective – Example for Sprint 1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altLang="zh-CN" sz="1600" b="0" dirty="0">
                <a:solidFill>
                  <a:srgbClr val="BDD7EE"/>
                </a:solidFill>
                <a:latin typeface="Arial"/>
              </a:rPr>
              <a:t>回顾会示例：第 1 轮</a:t>
            </a:r>
          </a:p>
        </p:txBody>
      </p:sp>
      <p:pic>
        <p:nvPicPr>
          <p:cNvPr id="3" name="Picture 2" descr="retr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73270"/>
            <a:ext cx="7315199" cy="357993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092440" y="1280160"/>
            <a:ext cx="3611879" cy="475488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500" b="1" dirty="0">
                <a:solidFill>
                  <a:srgbClr val="FFFFFF"/>
                </a:solidFill>
                <a:latin typeface="Arial"/>
              </a:rPr>
              <a:t>Last retrospective’s To Try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上次要尝试的：第一轮没有，所以 N/A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500" b="1" dirty="0">
                <a:solidFill>
                  <a:srgbClr val="FFFFFF"/>
                </a:solidFill>
                <a:latin typeface="Arial"/>
              </a:rPr>
              <a:t>What went well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做得好：达成了 Sprint 目标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500" b="1" dirty="0">
                <a:solidFill>
                  <a:srgbClr val="FFFFFF"/>
                </a:solidFill>
                <a:latin typeface="Arial"/>
              </a:rPr>
              <a:t>What didn’t go so well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没做好：两个人不知情地做了同一个任务（重复劳动）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500" b="1" dirty="0">
                <a:solidFill>
                  <a:srgbClr val="FFFFFF"/>
                </a:solidFill>
                <a:latin typeface="Arial"/>
              </a:rPr>
              <a:t>To Try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下轮尝试：缺席站会的人必须发每日更新；Adam 负责点名，提醒缺席的人发邮件汇报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21208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建议：你们每个 Sprint 的回顾也照这 4 列记到 Work Diary / Confluence 里，老师看得懂，也方便下轮对照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88136" y="384048"/>
            <a:ext cx="8229600" cy="86868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2600" b="1" dirty="0">
                <a:solidFill>
                  <a:srgbClr val="FFFFFF"/>
                </a:solidFill>
                <a:latin typeface="Arial"/>
              </a:rPr>
              <a:t>Sprint Retrospective – Example for Sprint 2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altLang="zh-CN" sz="1600" b="0" dirty="0">
                <a:solidFill>
                  <a:srgbClr val="BDD7EE"/>
                </a:solidFill>
                <a:latin typeface="Arial"/>
              </a:rPr>
              <a:t>回顾会示例：第 2 轮</a:t>
            </a:r>
          </a:p>
        </p:txBody>
      </p:sp>
      <p:pic>
        <p:nvPicPr>
          <p:cNvPr id="3" name="Picture 2" descr="retro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42799"/>
            <a:ext cx="7315199" cy="364088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092440" y="1280160"/>
            <a:ext cx="3611879" cy="475488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500" b="1" dirty="0">
                <a:solidFill>
                  <a:srgbClr val="FFFFFF"/>
                </a:solidFill>
                <a:latin typeface="Arial"/>
              </a:rPr>
              <a:t>Last retrospective’s To Try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上次要尝试的：就是第 1 轮的 To Try 原样搬过来；下面注明"This worked well — no more duplicate work"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500" b="1" dirty="0">
                <a:solidFill>
                  <a:srgbClr val="FFFFFF"/>
                </a:solidFill>
                <a:latin typeface="Arial"/>
              </a:rPr>
              <a:t>What went well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做得好：达成目标；不再有重复劳动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500" b="1" dirty="0">
                <a:solidFill>
                  <a:srgbClr val="FFFFFF"/>
                </a:solidFill>
                <a:latin typeface="Arial"/>
              </a:rPr>
              <a:t>What didn’t go so well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没做好：演示的软件模块有 bug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500" b="1" dirty="0">
                <a:solidFill>
                  <a:srgbClr val="FFFFFF"/>
                </a:solidFill>
                <a:latin typeface="Arial"/>
              </a:rPr>
              <a:t>To Try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下轮尝试：每个开发的单元都写单元测试（所有成员跟进）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21208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要点：回顾会是一个闭环——上一轮的 To Try 在这一轮检查有没有奏效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80160" y="2377440"/>
            <a:ext cx="9692640" cy="201168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4000" b="1" dirty="0">
                <a:solidFill>
                  <a:srgbClr val="FFFFFF"/>
                </a:solidFill>
                <a:latin typeface="Arial"/>
              </a:rPr>
              <a:t>Scrum Artifacts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altLang="zh-CN" sz="2600" b="0" dirty="0">
                <a:solidFill>
                  <a:srgbClr val="BDD7EE"/>
                </a:solidFill>
                <a:latin typeface="Arial"/>
              </a:rPr>
              <a:t>Scrum 产物：三样东西</a:t>
            </a:r>
          </a:p>
          <a:p>
            <a:pPr marL="0" indent="0">
              <a:spcBef>
                <a:spcPts val="1400"/>
              </a:spcBef>
              <a:buNone/>
            </a:pPr>
            <a:r>
              <a:rPr lang="en-US" altLang="zh-CN" sz="1600" b="0" dirty="0">
                <a:solidFill>
                  <a:srgbClr val="BDD7EE"/>
                </a:solidFill>
                <a:latin typeface="Arial"/>
              </a:rPr>
              <a:t>Product Backlog / Sprint Backlog / Increment——你们的 GitLab Issues + Milestones 就是这两个 Backlog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88136" y="384048"/>
            <a:ext cx="8229600" cy="86868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3000" b="1" dirty="0">
                <a:solidFill>
                  <a:srgbClr val="FFFFFF"/>
                </a:solidFill>
                <a:latin typeface="Arial"/>
              </a:rPr>
              <a:t>Scrum Artifacts – Product Backlog (PB)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altLang="zh-CN" sz="1600" b="0" dirty="0">
                <a:solidFill>
                  <a:srgbClr val="BDD7EE"/>
                </a:solidFill>
                <a:latin typeface="Arial"/>
              </a:rPr>
              <a:t>产品待办列表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" y="1325880"/>
            <a:ext cx="9966960" cy="484632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700" b="1" dirty="0">
                <a:solidFill>
                  <a:srgbClr val="FFFFFF"/>
                </a:solidFill>
                <a:latin typeface="Arial"/>
              </a:rPr>
              <a:t>Set of </a:t>
            </a:r>
            <a:r>
              <a:rPr lang="en-US" altLang="zh-CN" sz="1700" b="1" dirty="0">
                <a:solidFill>
                  <a:srgbClr val="F4B183"/>
                </a:solidFill>
                <a:latin typeface="Arial"/>
              </a:rPr>
              <a:t>all features and sub-features</a:t>
            </a:r>
            <a:r>
              <a:rPr lang="en-US" altLang="zh-CN" sz="1700" b="1" dirty="0">
                <a:solidFill>
                  <a:srgbClr val="FFFFFF"/>
                </a:solidFill>
                <a:latin typeface="Arial"/>
              </a:rPr>
              <a:t> (items) needed to build the product (the “Plan” for multiple iterations)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做出产品所需的全部功能和子功能——相当于跨多轮迭代的总计划</a:t>
            </a:r>
          </a:p>
          <a:p>
            <a:pPr marL="8001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altLang="zh-CN" sz="1400" b="1" dirty="0">
                <a:solidFill>
                  <a:srgbClr val="FFFFFF"/>
                </a:solidFill>
                <a:latin typeface="Arial"/>
              </a:rPr>
              <a:t>Features, functions, requirements, enhancements and fixes from previous Sprints</a:t>
            </a:r>
          </a:p>
          <a:p>
            <a:pPr marL="34290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包括功能、需求、改进，以及上轮遗留的修复</a:t>
            </a:r>
          </a:p>
          <a:p>
            <a:pPr marL="8001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altLang="zh-CN" sz="1400" b="1" dirty="0">
                <a:solidFill>
                  <a:srgbClr val="FFFFFF"/>
                </a:solidFill>
                <a:latin typeface="Arial"/>
              </a:rPr>
              <a:t>Expressed as User Stories</a:t>
            </a:r>
          </a:p>
          <a:p>
            <a:pPr marL="34290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每一条用 User Story 的格式写（后面详细讲）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700" b="1" dirty="0">
                <a:solidFill>
                  <a:srgbClr val="F4B183"/>
                </a:solidFill>
                <a:latin typeface="Arial"/>
              </a:rPr>
              <a:t>Maintained by the PO</a:t>
            </a:r>
            <a:r>
              <a:rPr lang="en-US" altLang="zh-CN" sz="1700" b="1" dirty="0">
                <a:solidFill>
                  <a:srgbClr val="FFFFFF"/>
                </a:solidFill>
                <a:latin typeface="Arial"/>
              </a:rPr>
              <a:t> in collaboration with customers and team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由 PO 维护，和客户、团队一起——讲师：这不是真实项目，建议每个人都提交想法，由 PO 汇总审核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700" b="1" dirty="0">
                <a:solidFill>
                  <a:srgbClr val="FFFFFF"/>
                </a:solidFill>
                <a:latin typeface="Arial"/>
              </a:rPr>
              <a:t>The source of the </a:t>
            </a:r>
            <a:r>
              <a:rPr lang="en-US" altLang="zh-CN" sz="1700" b="1" dirty="0">
                <a:solidFill>
                  <a:srgbClr val="F4B183"/>
                </a:solidFill>
                <a:latin typeface="Arial"/>
              </a:rPr>
              <a:t>product (software) requirements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它就是软件需求的来源</a:t>
            </a:r>
          </a:p>
          <a:p>
            <a:pPr marL="8001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altLang="zh-CN" sz="1400" b="1" dirty="0">
                <a:solidFill>
                  <a:srgbClr val="FFFFFF"/>
                </a:solidFill>
                <a:latin typeface="Arial"/>
              </a:rPr>
              <a:t>Evolves over the time and never complete (dynamic)</a:t>
            </a:r>
          </a:p>
          <a:p>
            <a:pPr marL="34290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随时间演进，永远不算"写完"——是动态的。讲师：PB 不演进说明有问题（在试图一次定义完美）；初始需求靠和客户开工作坊（便利贴）收集，做的过程中再补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700" b="1" dirty="0">
                <a:solidFill>
                  <a:srgbClr val="FFFFFF"/>
                </a:solidFill>
                <a:latin typeface="Arial"/>
              </a:rPr>
              <a:t>The </a:t>
            </a:r>
            <a:r>
              <a:rPr lang="en-US" altLang="zh-CN" sz="1700" b="1" dirty="0">
                <a:solidFill>
                  <a:srgbClr val="F4B183"/>
                </a:solidFill>
                <a:latin typeface="Arial"/>
              </a:rPr>
              <a:t>items ordered by priority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条目按优先级排序</a:t>
            </a:r>
          </a:p>
          <a:p>
            <a:pPr marL="8001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altLang="zh-CN" sz="1400" b="1" dirty="0">
                <a:solidFill>
                  <a:srgbClr val="FFFFFF"/>
                </a:solidFill>
                <a:latin typeface="Arial"/>
              </a:rPr>
              <a:t>To deliver value to the customer in each iteration, put the most important things early</a:t>
            </a:r>
          </a:p>
          <a:p>
            <a:pPr marL="34290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最重要的放最前面，保证每轮都交付价值。需求"砍一刀"：列了 100 条就砍到 50 条，其余记进 Future Tasks 以后再捞；GitLab 里靠 label 管优先级或阶段（讨论 / 开发 / 测试），一个 Issue 可打多个 label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88136" y="384048"/>
            <a:ext cx="8229600" cy="86868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3000" b="1" dirty="0">
                <a:solidFill>
                  <a:srgbClr val="FFFFFF"/>
                </a:solidFill>
                <a:latin typeface="Arial"/>
              </a:rPr>
              <a:t>Scrum Artifacts – Sprint Backlog (SB)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altLang="zh-CN" sz="1600" b="0" dirty="0">
                <a:solidFill>
                  <a:srgbClr val="BDD7EE"/>
                </a:solidFill>
                <a:latin typeface="Arial"/>
              </a:rPr>
              <a:t>冲刺待办列表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" y="1325880"/>
            <a:ext cx="9966960" cy="484632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342900" indent="-342900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Set of </a:t>
            </a:r>
            <a:r>
              <a:rPr lang="en-US" altLang="zh-CN" sz="1800" b="1" dirty="0">
                <a:solidFill>
                  <a:srgbClr val="F4B183"/>
                </a:solidFill>
                <a:latin typeface="Arial"/>
              </a:rPr>
              <a:t>PB items selected for the Sprint</a:t>
            </a: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, and a plan for delivering the product increment and realize the Sprint Goal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从 Product Backlog 里挑出来本轮要做的条目 + 一份实现计划</a:t>
            </a:r>
          </a:p>
          <a:p>
            <a:pPr marL="342900" indent="-342900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The Dev. team to forecasts next items to be implemented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开发团队预测接下来要实现的条目</a:t>
            </a:r>
          </a:p>
          <a:p>
            <a:pPr marL="342900" indent="-342900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Includes high-priority improvement identified from previous Sprint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也包括上一轮回顾会定下的高优先级改进项</a:t>
            </a:r>
          </a:p>
          <a:p>
            <a:pPr marL="342900" indent="-342900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The Dev. team </a:t>
            </a:r>
            <a:r>
              <a:rPr lang="en-US" altLang="zh-CN" sz="1800" b="1" dirty="0">
                <a:solidFill>
                  <a:srgbClr val="F4B183"/>
                </a:solidFill>
                <a:latin typeface="Arial"/>
              </a:rPr>
              <a:t>adds new work</a:t>
            </a: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 to the SB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开发团队可以往里加新任务；也可以删，但不建议删——改成低优先级即可（例：高并发往后放）</a:t>
            </a:r>
          </a:p>
          <a:p>
            <a:pPr marL="342900" indent="-342900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The estimated remaining work is updated once an item is completed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每完成一项就更新"剩余工作量"——燃尽图就靠这个画；实际操作通常只看还剩多少任务，燃尽图了解即可</a:t>
            </a:r>
          </a:p>
          <a:p>
            <a:pPr marL="342900" indent="-342900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Visible to anyone and to be </a:t>
            </a:r>
            <a:r>
              <a:rPr lang="en-US" altLang="zh-CN" sz="1800" b="1" dirty="0">
                <a:solidFill>
                  <a:srgbClr val="F4B183"/>
                </a:solidFill>
                <a:latin typeface="Arial"/>
              </a:rPr>
              <a:t>modified by the Dev. team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对所有人可见，只有开发团队能改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88136" y="384048"/>
            <a:ext cx="8229600" cy="86868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3000" b="1" dirty="0">
                <a:solidFill>
                  <a:srgbClr val="FFFFFF"/>
                </a:solidFill>
                <a:latin typeface="Arial"/>
              </a:rPr>
              <a:t>Sprint Backlog – Example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altLang="zh-CN" sz="1600" b="0" dirty="0">
                <a:solidFill>
                  <a:srgbClr val="BDD7EE"/>
                </a:solidFill>
                <a:latin typeface="Arial"/>
              </a:rPr>
              <a:t>冲刺待办列表示例：任务板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" y="1371600"/>
            <a:ext cx="6035040" cy="475488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342900" indent="-3429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Typically divided into </a:t>
            </a:r>
            <a:r>
              <a:rPr lang="en-US" altLang="zh-CN" sz="1800" b="1" dirty="0">
                <a:solidFill>
                  <a:srgbClr val="F4B183"/>
                </a:solidFill>
                <a:latin typeface="Arial"/>
              </a:rPr>
              <a:t>3 sections</a:t>
            </a: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; “To Do”, “In Progress”, “Done”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通常分三列：待做 / 进行中 / 已完成，任务卡从左往右移——三列不够可以加状态：In Test、In Review、In Deploy，最后才 Done</a:t>
            </a:r>
          </a:p>
          <a:p>
            <a:pPr marL="342900" indent="-3429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Tools to support Sprint planning and monitoring; e.g., </a:t>
            </a:r>
            <a:r>
              <a:rPr lang="en-US" altLang="zh-CN" sz="1800" b="1" dirty="0">
                <a:solidFill>
                  <a:srgbClr val="F4B183"/>
                </a:solidFill>
                <a:latin typeface="Arial"/>
              </a:rPr>
              <a:t>Jira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常用工具：Jira、GitLab Boards、Trello——本课程项目用 GitLab Issue Board 即可</a:t>
            </a:r>
          </a:p>
        </p:txBody>
      </p:sp>
      <p:pic>
        <p:nvPicPr>
          <p:cNvPr id="4" name="Picture 3" descr="sprint_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8936" y="2252266"/>
            <a:ext cx="4306824" cy="2627786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80160" y="2377440"/>
            <a:ext cx="9692640" cy="201168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4000" b="1" dirty="0">
                <a:solidFill>
                  <a:srgbClr val="FFFFFF"/>
                </a:solidFill>
                <a:latin typeface="Arial"/>
              </a:rPr>
              <a:t>Agile Planning (Requirements) – User Stories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altLang="zh-CN" sz="2600" b="0" dirty="0">
                <a:solidFill>
                  <a:srgbClr val="BDD7EE"/>
                </a:solidFill>
                <a:latin typeface="Arial"/>
              </a:rPr>
              <a:t>敏捷计划（需求）：用户故事</a:t>
            </a:r>
          </a:p>
          <a:p>
            <a:pPr marL="0" indent="0">
              <a:spcBef>
                <a:spcPts val="1400"/>
              </a:spcBef>
              <a:buNone/>
            </a:pPr>
            <a:r>
              <a:rPr lang="en-US" altLang="zh-CN" sz="1600" b="0" dirty="0">
                <a:solidFill>
                  <a:srgbClr val="BDD7EE"/>
                </a:solidFill>
                <a:latin typeface="Arial"/>
              </a:rPr>
              <a:t>Proposal 里的需求、GitLab 里的每个 Issue 都要写成 User Story，这一章是作业直接考察的内容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88136" y="384048"/>
            <a:ext cx="8229600" cy="86868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3000" b="1" dirty="0">
                <a:solidFill>
                  <a:srgbClr val="FFFFFF"/>
                </a:solidFill>
                <a:latin typeface="Arial"/>
              </a:rPr>
              <a:t>User Stories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altLang="zh-CN" sz="1600" b="0" dirty="0">
                <a:solidFill>
                  <a:srgbClr val="BDD7EE"/>
                </a:solidFill>
                <a:latin typeface="Arial"/>
              </a:rPr>
              <a:t>用户故事是什么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" y="1325880"/>
            <a:ext cx="9966960" cy="484632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A method for describing software requirements, tasks or issues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一种描述需求 / 任务 / 问题的方法</a:t>
            </a:r>
          </a:p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It helps </a:t>
            </a:r>
            <a:r>
              <a:rPr lang="en-US" altLang="zh-CN" sz="1800" b="1" dirty="0">
                <a:solidFill>
                  <a:srgbClr val="F4B183"/>
                </a:solidFill>
                <a:latin typeface="Arial"/>
              </a:rPr>
              <a:t>agile software development teams</a:t>
            </a: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 capture a </a:t>
            </a:r>
            <a:r>
              <a:rPr lang="en-US" altLang="zh-CN" sz="1800" b="1" dirty="0">
                <a:solidFill>
                  <a:srgbClr val="F4B183"/>
                </a:solidFill>
                <a:latin typeface="Arial"/>
              </a:rPr>
              <a:t>simplified</a:t>
            </a: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 and </a:t>
            </a:r>
            <a:r>
              <a:rPr lang="en-US" altLang="zh-CN" sz="1800" b="1" dirty="0">
                <a:solidFill>
                  <a:srgbClr val="F4B183"/>
                </a:solidFill>
                <a:latin typeface="Arial"/>
              </a:rPr>
              <a:t>high-level</a:t>
            </a: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 description of a </a:t>
            </a:r>
            <a:r>
              <a:rPr lang="en-US" altLang="zh-CN" sz="1800" b="1" dirty="0">
                <a:solidFill>
                  <a:srgbClr val="F4B183"/>
                </a:solidFill>
                <a:latin typeface="Arial"/>
              </a:rPr>
              <a:t>requirement</a:t>
            </a: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 from an </a:t>
            </a:r>
            <a:r>
              <a:rPr lang="en-US" altLang="zh-CN" sz="1800" b="1" dirty="0">
                <a:solidFill>
                  <a:srgbClr val="F4B183"/>
                </a:solidFill>
                <a:latin typeface="Arial"/>
              </a:rPr>
              <a:t>end user perspective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从最终用户的角度，用简化、高层次的语言描述一条需求</a:t>
            </a:r>
          </a:p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Focuses on </a:t>
            </a:r>
            <a:r>
              <a:rPr lang="en-US" altLang="zh-CN" sz="1800" b="1" dirty="0">
                <a:solidFill>
                  <a:srgbClr val="F4B183"/>
                </a:solidFill>
                <a:latin typeface="Arial"/>
              </a:rPr>
              <a:t>value (benefit)</a:t>
            </a: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 delivered, not technical implementation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关注给用户带来的价值，而不是技术实现细节</a:t>
            </a:r>
          </a:p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Agile Development (Planning)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在敏捷计划中的位置：</a:t>
            </a:r>
          </a:p>
          <a:p>
            <a:pPr marL="8001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altLang="zh-CN" sz="1500" b="1" dirty="0">
                <a:solidFill>
                  <a:srgbClr val="FFFFFF"/>
                </a:solidFill>
                <a:latin typeface="Arial"/>
              </a:rPr>
              <a:t>Ligh-weight planning – iterative and incremental</a:t>
            </a:r>
          </a:p>
          <a:p>
            <a:pPr marL="34290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轻量级计划——迭代、增量</a:t>
            </a:r>
          </a:p>
          <a:p>
            <a:pPr marL="8001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altLang="zh-CN" sz="1500" b="1" dirty="0">
                <a:solidFill>
                  <a:srgbClr val="FFFFFF"/>
                </a:solidFill>
                <a:latin typeface="Arial"/>
              </a:rPr>
              <a:t>Small enough to build and test within a single Sprint</a:t>
            </a:r>
          </a:p>
          <a:p>
            <a:pPr marL="34290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每条故事要小到一个 Sprint 内能做完并测完</a:t>
            </a:r>
          </a:p>
          <a:p>
            <a:pPr marL="8001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altLang="zh-CN" sz="1500" b="1" dirty="0">
                <a:solidFill>
                  <a:srgbClr val="FFFFFF"/>
                </a:solidFill>
                <a:latin typeface="Arial"/>
              </a:rPr>
              <a:t>Captured in Product backlog and Sprint Backlog</a:t>
            </a:r>
          </a:p>
          <a:p>
            <a:pPr marL="34290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记录在 Product Backlog 和 Sprint Backlog 里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88136" y="384048"/>
            <a:ext cx="8229600" cy="86868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3000" b="1" dirty="0">
                <a:solidFill>
                  <a:srgbClr val="FFFFFF"/>
                </a:solidFill>
                <a:latin typeface="Arial"/>
              </a:rPr>
              <a:t>User Story – Format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altLang="zh-CN" sz="1600" b="0" dirty="0">
                <a:solidFill>
                  <a:srgbClr val="BDD7EE"/>
                </a:solidFill>
                <a:latin typeface="Arial"/>
              </a:rPr>
              <a:t>用户故事的格式（Connextra 模板）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" y="1371600"/>
            <a:ext cx="5852160" cy="475488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342900" indent="-342900"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US" altLang="zh-CN" sz="1600" b="1" dirty="0">
                <a:solidFill>
                  <a:srgbClr val="FFFFFF"/>
                </a:solidFill>
                <a:latin typeface="Arial"/>
              </a:rPr>
              <a:t>A user story often follows the following </a:t>
            </a:r>
            <a:r>
              <a:rPr lang="en-US" altLang="zh-CN" sz="1600" b="1" dirty="0">
                <a:solidFill>
                  <a:srgbClr val="F4B183"/>
                </a:solidFill>
                <a:latin typeface="Arial"/>
              </a:rPr>
              <a:t>Connextra</a:t>
            </a:r>
            <a:r>
              <a:rPr lang="en-US" altLang="zh-CN" sz="1600" b="1" dirty="0">
                <a:solidFill>
                  <a:srgbClr val="FFFFFF"/>
                </a:solidFill>
                <a:latin typeface="Arial"/>
              </a:rPr>
              <a:t> format/template: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标准三段式模板：</a:t>
            </a:r>
          </a:p>
          <a:p>
            <a:pPr marL="342900" indent="-342900"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US" altLang="zh-CN" sz="1600" b="1" dirty="0">
                <a:solidFill>
                  <a:srgbClr val="F4B183"/>
                </a:solidFill>
                <a:latin typeface="Arial"/>
              </a:rPr>
              <a:t>As a [who] I want to [what] so that [why]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作为【谁】，我想要【什么】，以便【为什么】</a:t>
            </a:r>
          </a:p>
          <a:p>
            <a:pPr marL="8001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altLang="zh-CN" sz="1300" b="1" dirty="0">
                <a:solidFill>
                  <a:srgbClr val="FFFFFF"/>
                </a:solidFill>
                <a:latin typeface="Arial"/>
              </a:rPr>
              <a:t>As a &lt;type of user&gt; – this is the </a:t>
            </a:r>
            <a:r>
              <a:rPr lang="en-US" altLang="zh-CN" sz="1300" b="1" dirty="0">
                <a:solidFill>
                  <a:srgbClr val="F4B183"/>
                </a:solidFill>
                <a:latin typeface="Arial"/>
              </a:rPr>
              <a:t>WHO</a:t>
            </a:r>
          </a:p>
          <a:p>
            <a:pPr marL="34290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Role（角色）：我们在为谁做？谁是用户？</a:t>
            </a:r>
          </a:p>
          <a:p>
            <a:pPr marL="8001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altLang="zh-CN" sz="1300" b="1" dirty="0">
                <a:solidFill>
                  <a:srgbClr val="FFFFFF"/>
                </a:solidFill>
                <a:latin typeface="Arial"/>
              </a:rPr>
              <a:t>I want &lt;some feature&gt; – this is the </a:t>
            </a:r>
            <a:r>
              <a:rPr lang="en-US" altLang="zh-CN" sz="1300" b="1" dirty="0">
                <a:solidFill>
                  <a:srgbClr val="F4B183"/>
                </a:solidFill>
                <a:latin typeface="Arial"/>
              </a:rPr>
              <a:t>WHAT</a:t>
            </a:r>
          </a:p>
          <a:p>
            <a:pPr marL="34290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Goal（目标）：要做什么？意图是什么？</a:t>
            </a:r>
          </a:p>
          <a:p>
            <a:pPr marL="8001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altLang="zh-CN" sz="1300" b="1" dirty="0">
                <a:solidFill>
                  <a:srgbClr val="FFFFFF"/>
                </a:solidFill>
                <a:latin typeface="Arial"/>
              </a:rPr>
              <a:t>So that &lt;some reason&gt; – this is the </a:t>
            </a:r>
            <a:r>
              <a:rPr lang="en-US" altLang="zh-CN" sz="1300" b="1" dirty="0">
                <a:solidFill>
                  <a:srgbClr val="F4B183"/>
                </a:solidFill>
                <a:latin typeface="Arial"/>
              </a:rPr>
              <a:t>WHY</a:t>
            </a:r>
          </a:p>
          <a:p>
            <a:pPr marL="34290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Benefit（收益）：为什么做？对客户的价值是什么？</a:t>
            </a:r>
          </a:p>
          <a:p>
            <a:pPr marL="342900" indent="-342900"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US" altLang="zh-CN" sz="1600" b="1" dirty="0">
                <a:solidFill>
                  <a:srgbClr val="FFFFFF"/>
                </a:solidFill>
                <a:latin typeface="Arial"/>
              </a:rPr>
              <a:t>As a [role], I want [goal], so that [benefit]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记住这三个关键词：role / goal / benefit</a:t>
            </a:r>
          </a:p>
        </p:txBody>
      </p:sp>
      <p:pic>
        <p:nvPicPr>
          <p:cNvPr id="4" name="Picture 3" descr="story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6056" y="2427437"/>
            <a:ext cx="4489704" cy="2277445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88136" y="384048"/>
            <a:ext cx="8229600" cy="86868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3000" b="1" dirty="0">
                <a:solidFill>
                  <a:srgbClr val="FFFFFF"/>
                </a:solidFill>
                <a:latin typeface="Arial"/>
              </a:rPr>
              <a:t>User Stories – Examples &amp; Your Turn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altLang="zh-CN" sz="1600" b="0" dirty="0">
                <a:solidFill>
                  <a:srgbClr val="BDD7EE"/>
                </a:solidFill>
                <a:latin typeface="Arial"/>
              </a:rPr>
              <a:t>用户故事示例 + 课堂练习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" y="1325880"/>
            <a:ext cx="9966960" cy="484632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342900" indent="-3429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CN" sz="1800" b="1" dirty="0">
                <a:solidFill>
                  <a:srgbClr val="F4B183"/>
                </a:solidFill>
                <a:latin typeface="Arial"/>
              </a:rPr>
              <a:t>Example</a:t>
            </a: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: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两个合格的例子：</a:t>
            </a:r>
          </a:p>
          <a:p>
            <a:pPr marL="8001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altLang="zh-CN" sz="1500" b="1" dirty="0">
                <a:solidFill>
                  <a:srgbClr val="FFFFFF"/>
                </a:solidFill>
                <a:latin typeface="Arial"/>
              </a:rPr>
              <a:t>As an </a:t>
            </a:r>
            <a:r>
              <a:rPr lang="en-US" altLang="zh-CN" sz="1500" b="1" dirty="0">
                <a:solidFill>
                  <a:srgbClr val="F4B183"/>
                </a:solidFill>
                <a:latin typeface="Arial"/>
              </a:rPr>
              <a:t>online shopper</a:t>
            </a:r>
            <a:r>
              <a:rPr lang="en-US" altLang="zh-CN" sz="1500" b="1" dirty="0">
                <a:solidFill>
                  <a:srgbClr val="FFFFFF"/>
                </a:solidFill>
                <a:latin typeface="Arial"/>
              </a:rPr>
              <a:t>, I want to </a:t>
            </a:r>
            <a:r>
              <a:rPr lang="en-US" altLang="zh-CN" sz="1500" b="1" dirty="0">
                <a:solidFill>
                  <a:srgbClr val="F4B183"/>
                </a:solidFill>
                <a:latin typeface="Arial"/>
              </a:rPr>
              <a:t>add an item to my cart</a:t>
            </a:r>
            <a:r>
              <a:rPr lang="en-US" altLang="zh-CN" sz="1500" b="1" dirty="0">
                <a:solidFill>
                  <a:srgbClr val="FFFFFF"/>
                </a:solidFill>
                <a:latin typeface="Arial"/>
              </a:rPr>
              <a:t>, so that I </a:t>
            </a:r>
            <a:r>
              <a:rPr lang="en-US" altLang="zh-CN" sz="1500" b="1" dirty="0">
                <a:solidFill>
                  <a:srgbClr val="F4B183"/>
                </a:solidFill>
                <a:latin typeface="Arial"/>
              </a:rPr>
              <a:t>can purchase it</a:t>
            </a:r>
          </a:p>
          <a:p>
            <a:pPr marL="34290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作为网购用户，我想把商品加入购物车，以便购买——角色、目标、收益都有</a:t>
            </a:r>
          </a:p>
          <a:p>
            <a:pPr marL="8001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altLang="zh-CN" sz="1500" b="1" dirty="0">
                <a:solidFill>
                  <a:srgbClr val="FFFFFF"/>
                </a:solidFill>
                <a:latin typeface="Arial"/>
              </a:rPr>
              <a:t>As a </a:t>
            </a:r>
            <a:r>
              <a:rPr lang="en-US" altLang="zh-CN" sz="1500" b="1" dirty="0">
                <a:solidFill>
                  <a:srgbClr val="F4B183"/>
                </a:solidFill>
                <a:latin typeface="Arial"/>
              </a:rPr>
              <a:t>group member</a:t>
            </a:r>
            <a:r>
              <a:rPr lang="en-US" altLang="zh-CN" sz="1500" b="1" dirty="0">
                <a:solidFill>
                  <a:srgbClr val="FFFFFF"/>
                </a:solidFill>
                <a:latin typeface="Arial"/>
              </a:rPr>
              <a:t>, I want to </a:t>
            </a:r>
            <a:r>
              <a:rPr lang="en-US" altLang="zh-CN" sz="1500" b="1" dirty="0">
                <a:solidFill>
                  <a:srgbClr val="F4B183"/>
                </a:solidFill>
                <a:latin typeface="Arial"/>
              </a:rPr>
              <a:t>record an expense</a:t>
            </a:r>
            <a:r>
              <a:rPr lang="en-US" altLang="zh-CN" sz="1500" b="1" dirty="0">
                <a:solidFill>
                  <a:srgbClr val="FFFFFF"/>
                </a:solidFill>
                <a:latin typeface="Arial"/>
              </a:rPr>
              <a:t>, so that </a:t>
            </a:r>
            <a:r>
              <a:rPr lang="en-US" altLang="zh-CN" sz="1500" b="1" dirty="0">
                <a:solidFill>
                  <a:srgbClr val="F4B183"/>
                </a:solidFill>
                <a:latin typeface="Arial"/>
              </a:rPr>
              <a:t>my group knows who paid</a:t>
            </a:r>
          </a:p>
          <a:p>
            <a:pPr marL="34290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作为小组成员，我想记录一笔开销，以便组里知道谁付了钱（老师课上的分账 App 例子）。也可以让 AI 帮你写 user story（推荐 GitHub 的 Spec Kit：说清想做什么，它会列出相关的 user stories）</a:t>
            </a:r>
          </a:p>
          <a:p>
            <a:pPr marL="342900" indent="-3429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CN" sz="1800" b="1" dirty="0">
                <a:solidFill>
                  <a:srgbClr val="F4B183"/>
                </a:solidFill>
                <a:latin typeface="Arial"/>
              </a:rPr>
              <a:t>Your Turn</a:t>
            </a: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 – What do you think of this User Story?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轮到你：下面这条写得怎么样？</a:t>
            </a:r>
          </a:p>
          <a:p>
            <a:pPr marL="8001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altLang="zh-CN" sz="1500" b="1" dirty="0">
                <a:solidFill>
                  <a:srgbClr val="FFFFFF"/>
                </a:solidFill>
                <a:latin typeface="Arial"/>
              </a:rPr>
              <a:t>“I want to cover the expense when I join a group activity and store that in the databased persistently”</a:t>
            </a:r>
          </a:p>
          <a:p>
            <a:pPr marL="34290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"我想在参加小组活动时承担费用，并把它持久化存进数据库"——先自己想想问题在哪，下一页揭晓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88136" y="384048"/>
            <a:ext cx="8229600" cy="86868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3000" b="1" dirty="0">
                <a:solidFill>
                  <a:srgbClr val="FFFFFF"/>
                </a:solidFill>
                <a:latin typeface="Arial"/>
              </a:rPr>
              <a:t>Poor vs Good User Story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altLang="zh-CN" sz="1600" b="0" dirty="0">
                <a:solidFill>
                  <a:srgbClr val="BDD7EE"/>
                </a:solidFill>
                <a:latin typeface="Arial"/>
              </a:rPr>
              <a:t>差的 vs 好的用户故事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" y="1325880"/>
            <a:ext cx="9966960" cy="484632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“I want to cover the expense when I join a group activity and store that in the databased persistently”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刚才那条：</a:t>
            </a:r>
          </a:p>
          <a:p>
            <a:pPr marL="8001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altLang="zh-CN" sz="1500" b="1" dirty="0">
                <a:solidFill>
                  <a:srgbClr val="F4B183"/>
                </a:solidFill>
                <a:latin typeface="Arial"/>
              </a:rPr>
              <a:t>Poor User Story</a:t>
            </a:r>
            <a:r>
              <a:rPr lang="en-US" altLang="zh-CN" sz="1500" b="1" dirty="0">
                <a:solidFill>
                  <a:srgbClr val="FFFFFF"/>
                </a:solidFill>
                <a:latin typeface="Arial"/>
              </a:rPr>
              <a:t>: vague, no role, no value stated, technical implementation, other?</a:t>
            </a:r>
          </a:p>
          <a:p>
            <a:pPr marL="34290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差在：含糊；没写角色（As a …）；没写价值（so that …）；混进了技术实现（存数据库）——还有拼写错 "databased"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“As a group member, I want to split an expense unevenly, so that the split matches how group members shared the expense”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改写后：</a:t>
            </a:r>
          </a:p>
          <a:p>
            <a:pPr marL="8001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altLang="zh-CN" sz="1500" b="1" dirty="0">
                <a:solidFill>
                  <a:srgbClr val="F4B183"/>
                </a:solidFill>
                <a:latin typeface="Arial"/>
              </a:rPr>
              <a:t>A better User Story</a:t>
            </a:r>
            <a:r>
              <a:rPr lang="en-US" altLang="zh-CN" sz="1500" b="1" dirty="0">
                <a:solidFill>
                  <a:srgbClr val="FFFFFF"/>
                </a:solidFill>
                <a:latin typeface="Arial"/>
              </a:rPr>
              <a:t>: specific, testable, and tied to a real need</a:t>
            </a:r>
          </a:p>
          <a:p>
            <a:pPr marL="34290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好在：具体（不均分账）、可测试（分账结果对不对）、对应真实需求；技术怎么存不写在故事里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88136" y="384048"/>
            <a:ext cx="8229600" cy="86868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3000" b="1" dirty="0">
                <a:solidFill>
                  <a:srgbClr val="FFFFFF"/>
                </a:solidFill>
                <a:latin typeface="Arial"/>
              </a:rPr>
              <a:t>Writing Good User Stories (INVEST)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altLang="zh-CN" sz="1600" b="0" dirty="0">
                <a:solidFill>
                  <a:srgbClr val="BDD7EE"/>
                </a:solidFill>
                <a:latin typeface="Arial"/>
              </a:rPr>
              <a:t>好故事的 6 个标准：INVEST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" y="1325880"/>
            <a:ext cx="9966960" cy="484632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342900" indent="-342900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altLang="zh-CN" sz="1900" b="1" dirty="0">
                <a:solidFill>
                  <a:srgbClr val="F4B183"/>
                </a:solidFill>
                <a:latin typeface="Arial"/>
              </a:rPr>
              <a:t>I</a:t>
            </a:r>
            <a:r>
              <a:rPr lang="en-US" altLang="zh-CN" sz="1900" b="1" dirty="0">
                <a:solidFill>
                  <a:srgbClr val="FFFFFF"/>
                </a:solidFill>
                <a:latin typeface="Arial"/>
              </a:rPr>
              <a:t>ndependent: can be worked on without waiting on another story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500" b="0" dirty="0">
                <a:solidFill>
                  <a:srgbClr val="BDD7EE"/>
                </a:solidFill>
                <a:latin typeface="Arial"/>
              </a:rPr>
              <a:t>独立：不用等别的故事做完就能开工</a:t>
            </a:r>
          </a:p>
          <a:p>
            <a:pPr marL="342900" indent="-342900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altLang="zh-CN" sz="1900" b="1" dirty="0">
                <a:solidFill>
                  <a:srgbClr val="F4B183"/>
                </a:solidFill>
                <a:latin typeface="Arial"/>
              </a:rPr>
              <a:t>N</a:t>
            </a:r>
            <a:r>
              <a:rPr lang="en-US" altLang="zh-CN" sz="1900" b="1" dirty="0">
                <a:solidFill>
                  <a:srgbClr val="FFFFFF"/>
                </a:solidFill>
                <a:latin typeface="Arial"/>
              </a:rPr>
              <a:t>egotiable: details can be discussed, not fixed in stone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500" b="0" dirty="0">
                <a:solidFill>
                  <a:srgbClr val="BDD7EE"/>
                </a:solidFill>
                <a:latin typeface="Arial"/>
              </a:rPr>
              <a:t>可协商：细节可以和客户、团队讨论，不是死规定</a:t>
            </a:r>
          </a:p>
          <a:p>
            <a:pPr marL="342900" indent="-342900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altLang="zh-CN" sz="1900" b="1" dirty="0">
                <a:solidFill>
                  <a:srgbClr val="F4B183"/>
                </a:solidFill>
                <a:latin typeface="Arial"/>
              </a:rPr>
              <a:t>V</a:t>
            </a:r>
            <a:r>
              <a:rPr lang="en-US" altLang="zh-CN" sz="1900" b="1" dirty="0">
                <a:solidFill>
                  <a:srgbClr val="FFFFFF"/>
                </a:solidFill>
                <a:latin typeface="Arial"/>
              </a:rPr>
              <a:t>aluable: delivers real value to a user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500" b="0" dirty="0">
                <a:solidFill>
                  <a:srgbClr val="BDD7EE"/>
                </a:solidFill>
                <a:latin typeface="Arial"/>
              </a:rPr>
              <a:t>有价值：对用户真的有用</a:t>
            </a:r>
          </a:p>
          <a:p>
            <a:pPr marL="342900" indent="-342900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altLang="zh-CN" sz="1900" b="1" dirty="0">
                <a:solidFill>
                  <a:srgbClr val="F4B183"/>
                </a:solidFill>
                <a:latin typeface="Arial"/>
              </a:rPr>
              <a:t>E</a:t>
            </a:r>
            <a:r>
              <a:rPr lang="en-US" altLang="zh-CN" sz="1900" b="1" dirty="0">
                <a:solidFill>
                  <a:srgbClr val="FFFFFF"/>
                </a:solidFill>
                <a:latin typeface="Arial"/>
              </a:rPr>
              <a:t>stimable: the team can size it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500" b="0" dirty="0">
                <a:solidFill>
                  <a:srgbClr val="BDD7EE"/>
                </a:solidFill>
                <a:latin typeface="Arial"/>
              </a:rPr>
              <a:t>可估算：团队能估出大概工作量</a:t>
            </a:r>
          </a:p>
          <a:p>
            <a:pPr marL="342900" indent="-342900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altLang="zh-CN" sz="1900" b="1" dirty="0">
                <a:solidFill>
                  <a:srgbClr val="F4B183"/>
                </a:solidFill>
                <a:latin typeface="Arial"/>
              </a:rPr>
              <a:t>S</a:t>
            </a:r>
            <a:r>
              <a:rPr lang="en-US" altLang="zh-CN" sz="1900" b="1" dirty="0">
                <a:solidFill>
                  <a:srgbClr val="FFFFFF"/>
                </a:solidFill>
                <a:latin typeface="Arial"/>
              </a:rPr>
              <a:t>mall: fits comfortably in one sprint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500" b="0" dirty="0">
                <a:solidFill>
                  <a:srgbClr val="BDD7EE"/>
                </a:solidFill>
                <a:latin typeface="Arial"/>
              </a:rPr>
              <a:t>够小：一个 Sprint 内轻松做完</a:t>
            </a:r>
          </a:p>
          <a:p>
            <a:pPr marL="342900" indent="-342900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altLang="zh-CN" sz="1900" b="1" dirty="0">
                <a:solidFill>
                  <a:srgbClr val="F4B183"/>
                </a:solidFill>
                <a:latin typeface="Arial"/>
              </a:rPr>
              <a:t>T</a:t>
            </a:r>
            <a:r>
              <a:rPr lang="en-US" altLang="zh-CN" sz="1900" b="1" dirty="0">
                <a:solidFill>
                  <a:srgbClr val="FFFFFF"/>
                </a:solidFill>
                <a:latin typeface="Arial"/>
              </a:rPr>
              <a:t>estable: has a clear way to verify it’s done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500" b="0" dirty="0">
                <a:solidFill>
                  <a:srgbClr val="BDD7EE"/>
                </a:solidFill>
                <a:latin typeface="Arial"/>
              </a:rPr>
              <a:t>可测试：有明确的验收方法（下面讲的 Acceptance Criteria）</a:t>
            </a:r>
          </a:p>
          <a:p>
            <a:pPr marL="342900" indent="-342900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altLang="zh-CN" sz="1900" b="1" dirty="0">
                <a:solidFill>
                  <a:srgbClr val="FFFFFF"/>
                </a:solidFill>
                <a:latin typeface="Arial"/>
              </a:rPr>
              <a:t>agilealliance.org/glossary/invest/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500" b="0" dirty="0">
                <a:solidFill>
                  <a:srgbClr val="BDD7EE"/>
                </a:solidFill>
                <a:latin typeface="Arial"/>
              </a:rPr>
              <a:t>出处；写 Proposal 时按这 6 条自查。讲师点名的常见错误：写"作为用户"太泛（要写清系统管理员 / 学生等具体角色）；"我要用这个和这个和那个"一条塞太多。建议把这 6 条做成项目目录下的 INVEST.md，每次让 AI 写需求时要求它按此规则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88136" y="384048"/>
            <a:ext cx="8229600" cy="86868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3000" b="1" dirty="0">
                <a:solidFill>
                  <a:srgbClr val="FFFFFF"/>
                </a:solidFill>
                <a:latin typeface="Arial"/>
              </a:rPr>
              <a:t>Acceptance Criteria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altLang="zh-CN" sz="1600" b="0" dirty="0">
                <a:solidFill>
                  <a:srgbClr val="BDD7EE"/>
                </a:solidFill>
                <a:latin typeface="Arial"/>
              </a:rPr>
              <a:t>验收标准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" y="1325880"/>
            <a:ext cx="9966960" cy="484632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342900" indent="-342900"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US" altLang="zh-CN" sz="1700" b="1" dirty="0">
                <a:solidFill>
                  <a:srgbClr val="F4B183"/>
                </a:solidFill>
                <a:latin typeface="Arial"/>
              </a:rPr>
              <a:t>Acceptance criteria</a:t>
            </a:r>
            <a:r>
              <a:rPr lang="en-US" altLang="zh-CN" sz="1700" b="1" dirty="0">
                <a:solidFill>
                  <a:srgbClr val="FFFFFF"/>
                </a:solidFill>
                <a:latin typeface="Arial"/>
              </a:rPr>
              <a:t> (</a:t>
            </a:r>
            <a:r>
              <a:rPr lang="en-US" altLang="zh-CN" sz="1700" b="1" dirty="0">
                <a:solidFill>
                  <a:srgbClr val="F4B183"/>
                </a:solidFill>
                <a:latin typeface="Arial"/>
              </a:rPr>
              <a:t>satisfaction conditions</a:t>
            </a:r>
            <a:r>
              <a:rPr lang="en-US" altLang="zh-CN" sz="1700" b="1" dirty="0">
                <a:solidFill>
                  <a:srgbClr val="FFFFFF"/>
                </a:solidFill>
                <a:latin typeface="Arial"/>
              </a:rPr>
              <a:t>), provide a detailed scope of end users requirements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验收标准（满足条件）：把用户需求的范围写细——什么情况算"做对了"</a:t>
            </a:r>
          </a:p>
          <a:p>
            <a:pPr marL="342900" indent="-342900"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US" altLang="zh-CN" sz="1700" b="1" dirty="0">
                <a:solidFill>
                  <a:srgbClr val="FFFFFF"/>
                </a:solidFill>
                <a:latin typeface="Arial"/>
              </a:rPr>
              <a:t>Help the development team understand the </a:t>
            </a:r>
            <a:r>
              <a:rPr lang="en-US" altLang="zh-CN" sz="1700" b="1" dirty="0">
                <a:solidFill>
                  <a:srgbClr val="F4B183"/>
                </a:solidFill>
                <a:latin typeface="Arial"/>
              </a:rPr>
              <a:t>value of the user story</a:t>
            </a:r>
            <a:r>
              <a:rPr lang="en-US" altLang="zh-CN" sz="1700" b="1" dirty="0">
                <a:solidFill>
                  <a:srgbClr val="FFFFFF"/>
                </a:solidFill>
                <a:latin typeface="Arial"/>
              </a:rPr>
              <a:t> and </a:t>
            </a:r>
            <a:r>
              <a:rPr lang="en-US" altLang="zh-CN" sz="1700" b="1" dirty="0">
                <a:solidFill>
                  <a:srgbClr val="F4B183"/>
                </a:solidFill>
                <a:latin typeface="Arial"/>
              </a:rPr>
              <a:t>set expectations</a:t>
            </a:r>
            <a:r>
              <a:rPr lang="en-US" altLang="zh-CN" sz="1700" b="1" dirty="0">
                <a:solidFill>
                  <a:srgbClr val="FFFFFF"/>
                </a:solidFill>
                <a:latin typeface="Arial"/>
              </a:rPr>
              <a:t> as to when a team should consider something </a:t>
            </a:r>
            <a:r>
              <a:rPr lang="en-US" altLang="zh-CN" sz="1700" b="1" dirty="0">
                <a:solidFill>
                  <a:srgbClr val="F4B183"/>
                </a:solidFill>
                <a:latin typeface="Arial"/>
              </a:rPr>
              <a:t>done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帮团队理解故事的价值，并统一"什么叫做完"的预期</a:t>
            </a:r>
          </a:p>
          <a:p>
            <a:pPr marL="342900" indent="-342900"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US" altLang="zh-CN" sz="1700" b="1" dirty="0">
                <a:solidFill>
                  <a:srgbClr val="FFFFFF"/>
                </a:solidFill>
                <a:latin typeface="Arial"/>
              </a:rPr>
              <a:t>Acceptance Criteria Goals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四个目的：</a:t>
            </a:r>
          </a:p>
          <a:p>
            <a:pPr marL="8001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altLang="zh-CN" sz="1400" b="1" dirty="0">
                <a:solidFill>
                  <a:srgbClr val="F4B183"/>
                </a:solidFill>
                <a:latin typeface="Arial"/>
              </a:rPr>
              <a:t>clarify</a:t>
            </a:r>
            <a:r>
              <a:rPr lang="en-US" altLang="zh-CN" sz="1400" b="1" dirty="0">
                <a:solidFill>
                  <a:srgbClr val="FFFFFF"/>
                </a:solidFill>
                <a:latin typeface="Arial"/>
              </a:rPr>
              <a:t> what the team should </a:t>
            </a:r>
            <a:r>
              <a:rPr lang="en-US" altLang="zh-CN" sz="1400" b="1" dirty="0">
                <a:solidFill>
                  <a:srgbClr val="F4B183"/>
                </a:solidFill>
                <a:latin typeface="Arial"/>
              </a:rPr>
              <a:t>build</a:t>
            </a:r>
            <a:r>
              <a:rPr lang="en-US" altLang="zh-CN" sz="1400" b="1" dirty="0">
                <a:solidFill>
                  <a:srgbClr val="FFFFFF"/>
                </a:solidFill>
                <a:latin typeface="Arial"/>
              </a:rPr>
              <a:t> before they start</a:t>
            </a:r>
          </a:p>
          <a:p>
            <a:pPr marL="34290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开工前就说清要做什么——但一开始常常想不清楚（登录支持邮箱还是用户名？密码要校验吗？）：第一版可以什么校验都不做，邮箱 + 密码能登就行，先跑通演示，验证后面再加</a:t>
            </a:r>
          </a:p>
          <a:p>
            <a:pPr marL="8001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altLang="zh-CN" sz="1400" b="1" dirty="0">
                <a:solidFill>
                  <a:srgbClr val="F4B183"/>
                </a:solidFill>
                <a:latin typeface="Arial"/>
              </a:rPr>
              <a:t>ensure</a:t>
            </a:r>
            <a:r>
              <a:rPr lang="en-US" altLang="zh-CN" sz="1400" b="1" dirty="0">
                <a:solidFill>
                  <a:srgbClr val="FFFFFF"/>
                </a:solidFill>
                <a:latin typeface="Arial"/>
              </a:rPr>
              <a:t> everyone has a </a:t>
            </a:r>
            <a:r>
              <a:rPr lang="en-US" altLang="zh-CN" sz="1400" b="1" dirty="0">
                <a:solidFill>
                  <a:srgbClr val="F4B183"/>
                </a:solidFill>
                <a:latin typeface="Arial"/>
              </a:rPr>
              <a:t>common understanding</a:t>
            </a:r>
            <a:r>
              <a:rPr lang="en-US" altLang="zh-CN" sz="1400" b="1" dirty="0">
                <a:solidFill>
                  <a:srgbClr val="FFFFFF"/>
                </a:solidFill>
                <a:latin typeface="Arial"/>
              </a:rPr>
              <a:t> of the </a:t>
            </a:r>
            <a:r>
              <a:rPr lang="en-US" altLang="zh-CN" sz="1400" b="1" dirty="0">
                <a:solidFill>
                  <a:srgbClr val="F4B183"/>
                </a:solidFill>
                <a:latin typeface="Arial"/>
              </a:rPr>
              <a:t>functionality</a:t>
            </a:r>
          </a:p>
          <a:p>
            <a:pPr marL="34290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所有人对功能理解一致</a:t>
            </a:r>
          </a:p>
          <a:p>
            <a:pPr marL="8001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altLang="zh-CN" sz="1400" b="1" dirty="0">
                <a:solidFill>
                  <a:srgbClr val="FFFFFF"/>
                </a:solidFill>
                <a:latin typeface="Arial"/>
              </a:rPr>
              <a:t>help the team members know </a:t>
            </a:r>
            <a:r>
              <a:rPr lang="en-US" altLang="zh-CN" sz="1400" b="1" dirty="0">
                <a:solidFill>
                  <a:srgbClr val="F4B183"/>
                </a:solidFill>
                <a:latin typeface="Arial"/>
              </a:rPr>
              <a:t>when the story is complete</a:t>
            </a:r>
          </a:p>
          <a:p>
            <a:pPr marL="34290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知道故事什么时候算完成</a:t>
            </a:r>
          </a:p>
          <a:p>
            <a:pPr marL="8001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altLang="zh-CN" sz="1400" b="1" dirty="0">
                <a:solidFill>
                  <a:srgbClr val="FFFFFF"/>
                </a:solidFill>
                <a:latin typeface="Arial"/>
              </a:rPr>
              <a:t>help </a:t>
            </a:r>
            <a:r>
              <a:rPr lang="en-US" altLang="zh-CN" sz="1400" b="1" dirty="0">
                <a:solidFill>
                  <a:srgbClr val="F4B183"/>
                </a:solidFill>
                <a:latin typeface="Arial"/>
              </a:rPr>
              <a:t>verify</a:t>
            </a:r>
            <a:r>
              <a:rPr lang="en-US" altLang="zh-CN" sz="1400" b="1" dirty="0">
                <a:solidFill>
                  <a:srgbClr val="FFFFFF"/>
                </a:solidFill>
                <a:latin typeface="Arial"/>
              </a:rPr>
              <a:t> the expected behaviour via automated tests</a:t>
            </a:r>
          </a:p>
          <a:p>
            <a:pPr marL="34290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可以直接转成自动化测试用例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88136" y="384048"/>
            <a:ext cx="8229600" cy="86868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3000" b="1" dirty="0">
                <a:solidFill>
                  <a:srgbClr val="FFFFFF"/>
                </a:solidFill>
                <a:latin typeface="Arial"/>
              </a:rPr>
              <a:t>Acceptance Criteria (cont’d)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altLang="zh-CN" sz="1600" b="0" dirty="0">
                <a:solidFill>
                  <a:srgbClr val="BDD7EE"/>
                </a:solidFill>
                <a:latin typeface="Arial"/>
              </a:rPr>
              <a:t>验收标准：该写什么 + 例子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" y="1371600"/>
            <a:ext cx="4572000" cy="475488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342900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b="1" dirty="0">
                <a:solidFill>
                  <a:srgbClr val="FFFFFF"/>
                </a:solidFill>
                <a:latin typeface="Arial"/>
              </a:rPr>
              <a:t>Acceptance criteria should include: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验收标准应包含：</a:t>
            </a:r>
          </a:p>
          <a:p>
            <a:pPr marL="8001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altLang="zh-CN" sz="1300" b="1" dirty="0">
                <a:solidFill>
                  <a:srgbClr val="F4B183"/>
                </a:solidFill>
                <a:latin typeface="Arial"/>
              </a:rPr>
              <a:t>Negative</a:t>
            </a:r>
            <a:r>
              <a:rPr lang="en-US" altLang="zh-CN" sz="1300" b="1" dirty="0">
                <a:solidFill>
                  <a:srgbClr val="FFFFFF"/>
                </a:solidFill>
                <a:latin typeface="Arial"/>
              </a:rPr>
              <a:t> scenarios of the functionality</a:t>
            </a:r>
          </a:p>
          <a:p>
            <a:pPr marL="342900" indent="0">
              <a:spcBef>
                <a:spcPts val="100"/>
              </a:spcBef>
              <a:buNone/>
            </a:pPr>
            <a:r>
              <a:rPr lang="en-US" altLang="zh-CN" sz="1100" b="0" dirty="0">
                <a:solidFill>
                  <a:srgbClr val="BDD7EE"/>
                </a:solidFill>
                <a:latin typeface="Arial"/>
              </a:rPr>
              <a:t>反面场景：输错（该输数字却输了字符串）、没网、没权限时怎么办</a:t>
            </a:r>
          </a:p>
          <a:p>
            <a:pPr marL="8001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altLang="zh-CN" sz="1300" b="1" dirty="0">
                <a:solidFill>
                  <a:srgbClr val="F4B183"/>
                </a:solidFill>
                <a:latin typeface="Arial"/>
              </a:rPr>
              <a:t>Functional</a:t>
            </a:r>
            <a:r>
              <a:rPr lang="en-US" altLang="zh-CN" sz="1300" b="1" dirty="0">
                <a:solidFill>
                  <a:srgbClr val="FFFFFF"/>
                </a:solidFill>
                <a:latin typeface="Arial"/>
              </a:rPr>
              <a:t> and </a:t>
            </a:r>
            <a:r>
              <a:rPr lang="en-US" altLang="zh-CN" sz="1300" b="1" dirty="0">
                <a:solidFill>
                  <a:srgbClr val="F4B183"/>
                </a:solidFill>
                <a:latin typeface="Arial"/>
              </a:rPr>
              <a:t>non-functional</a:t>
            </a:r>
            <a:r>
              <a:rPr lang="en-US" altLang="zh-CN" sz="1300" b="1" dirty="0">
                <a:solidFill>
                  <a:srgbClr val="FFFFFF"/>
                </a:solidFill>
                <a:latin typeface="Arial"/>
              </a:rPr>
              <a:t> use cases</a:t>
            </a:r>
          </a:p>
          <a:p>
            <a:pPr marL="342900" indent="0">
              <a:spcBef>
                <a:spcPts val="100"/>
              </a:spcBef>
              <a:buNone/>
            </a:pPr>
            <a:r>
              <a:rPr lang="en-US" altLang="zh-CN" sz="1100" b="0" dirty="0">
                <a:solidFill>
                  <a:srgbClr val="BDD7EE"/>
                </a:solidFill>
                <a:latin typeface="Arial"/>
              </a:rPr>
              <a:t>功能性和非功能性用例——例：能登录但花了 3 分钟，不算完成</a:t>
            </a:r>
          </a:p>
          <a:p>
            <a:pPr marL="8001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altLang="zh-CN" sz="1300" b="1" dirty="0">
                <a:solidFill>
                  <a:srgbClr val="F4B183"/>
                </a:solidFill>
                <a:latin typeface="Arial"/>
              </a:rPr>
              <a:t>Performance</a:t>
            </a:r>
            <a:r>
              <a:rPr lang="en-US" altLang="zh-CN" sz="1300" b="1" dirty="0">
                <a:solidFill>
                  <a:srgbClr val="FFFFFF"/>
                </a:solidFill>
                <a:latin typeface="Arial"/>
              </a:rPr>
              <a:t> concerns and guidelines</a:t>
            </a:r>
          </a:p>
          <a:p>
            <a:pPr marL="342900" indent="0">
              <a:spcBef>
                <a:spcPts val="100"/>
              </a:spcBef>
              <a:buNone/>
            </a:pPr>
            <a:r>
              <a:rPr lang="en-US" altLang="zh-CN" sz="1100" b="0" dirty="0">
                <a:solidFill>
                  <a:srgbClr val="BDD7EE"/>
                </a:solidFill>
                <a:latin typeface="Arial"/>
              </a:rPr>
              <a:t>性能要求（如响应时间）</a:t>
            </a:r>
          </a:p>
          <a:p>
            <a:pPr marL="8001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altLang="zh-CN" sz="1300" b="1" dirty="0">
                <a:solidFill>
                  <a:srgbClr val="FFFFFF"/>
                </a:solidFill>
                <a:latin typeface="Arial"/>
              </a:rPr>
              <a:t>What the system/feature intends to do</a:t>
            </a:r>
          </a:p>
          <a:p>
            <a:pPr marL="342900" indent="0">
              <a:spcBef>
                <a:spcPts val="100"/>
              </a:spcBef>
              <a:buNone/>
            </a:pPr>
            <a:r>
              <a:rPr lang="en-US" altLang="zh-CN" sz="1100" b="0" dirty="0">
                <a:solidFill>
                  <a:srgbClr val="BDD7EE"/>
                </a:solidFill>
                <a:latin typeface="Arial"/>
              </a:rPr>
              <a:t>系统 / 功能到底要做什么</a:t>
            </a:r>
          </a:p>
          <a:p>
            <a:pPr marL="8001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altLang="zh-CN" sz="1300" b="1" dirty="0">
                <a:solidFill>
                  <a:srgbClr val="F4B183"/>
                </a:solidFill>
                <a:latin typeface="Arial"/>
              </a:rPr>
              <a:t>User experience</a:t>
            </a:r>
            <a:r>
              <a:rPr lang="en-US" altLang="zh-CN" sz="1300" b="1" dirty="0">
                <a:solidFill>
                  <a:srgbClr val="FFFFFF"/>
                </a:solidFill>
                <a:latin typeface="Arial"/>
              </a:rPr>
              <a:t> aspects</a:t>
            </a:r>
          </a:p>
          <a:p>
            <a:pPr marL="342900" indent="0">
              <a:spcBef>
                <a:spcPts val="100"/>
              </a:spcBef>
              <a:buNone/>
            </a:pPr>
            <a:r>
              <a:rPr lang="en-US" altLang="zh-CN" sz="1100" b="0" dirty="0">
                <a:solidFill>
                  <a:srgbClr val="BDD7EE"/>
                </a:solidFill>
                <a:latin typeface="Arial"/>
              </a:rPr>
              <a:t>用户体验方面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34455" y="1371600"/>
            <a:ext cx="5852159" cy="475488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342900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b="1" dirty="0">
                <a:solidFill>
                  <a:srgbClr val="F4B183"/>
                </a:solidFill>
                <a:latin typeface="Arial"/>
              </a:rPr>
              <a:t>Example</a:t>
            </a:r>
            <a:r>
              <a:rPr lang="en-US" altLang="zh-CN" sz="1600" b="1" dirty="0">
                <a:solidFill>
                  <a:srgbClr val="FFFFFF"/>
                </a:solidFill>
                <a:latin typeface="Arial"/>
              </a:rPr>
              <a:t>: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例子：</a:t>
            </a:r>
          </a:p>
          <a:p>
            <a:pPr marL="8001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altLang="zh-CN" sz="1300" b="1" dirty="0">
                <a:solidFill>
                  <a:srgbClr val="FFFFFF"/>
                </a:solidFill>
                <a:latin typeface="Arial"/>
              </a:rPr>
              <a:t>As an online banking customer, I want a strong password, so that my credit card information is secure</a:t>
            </a:r>
          </a:p>
          <a:p>
            <a:pPr marL="342900" indent="0">
              <a:spcBef>
                <a:spcPts val="100"/>
              </a:spcBef>
              <a:buNone/>
            </a:pPr>
            <a:r>
              <a:rPr lang="en-US" altLang="zh-CN" sz="1100" b="0" dirty="0">
                <a:solidFill>
                  <a:srgbClr val="BDD7EE"/>
                </a:solidFill>
                <a:latin typeface="Arial"/>
              </a:rPr>
              <a:t>作为网银用户，我想要强密码，以便信用卡信息安全</a:t>
            </a:r>
          </a:p>
          <a:p>
            <a:pPr marL="342900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b="1" dirty="0">
                <a:solidFill>
                  <a:srgbClr val="FFFFFF"/>
                </a:solidFill>
                <a:latin typeface="Arial"/>
              </a:rPr>
              <a:t>Acceptance Criteria: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对应的验收标准：</a:t>
            </a:r>
          </a:p>
          <a:p>
            <a:pPr marL="8001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altLang="zh-CN" sz="1300" b="1" dirty="0">
                <a:solidFill>
                  <a:srgbClr val="FFFFFF"/>
                </a:solidFill>
                <a:latin typeface="Arial"/>
              </a:rPr>
              <a:t>The password must be at least eight (8) characters</a:t>
            </a:r>
          </a:p>
          <a:p>
            <a:pPr marL="342900" indent="0">
              <a:spcBef>
                <a:spcPts val="100"/>
              </a:spcBef>
              <a:buNone/>
            </a:pPr>
            <a:r>
              <a:rPr lang="en-US" altLang="zh-CN" sz="1100" b="0" dirty="0">
                <a:solidFill>
                  <a:srgbClr val="BDD7EE"/>
                </a:solidFill>
                <a:latin typeface="Arial"/>
              </a:rPr>
              <a:t>至少 8 位</a:t>
            </a:r>
          </a:p>
          <a:p>
            <a:pPr marL="8001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altLang="zh-CN" sz="1300" b="1" dirty="0">
                <a:solidFill>
                  <a:srgbClr val="FFFFFF"/>
                </a:solidFill>
                <a:latin typeface="Arial"/>
              </a:rPr>
              <a:t>The password must contain at least one character from each of the following groups:</a:t>
            </a:r>
          </a:p>
          <a:p>
            <a:pPr marL="342900" indent="0">
              <a:spcBef>
                <a:spcPts val="100"/>
              </a:spcBef>
              <a:buNone/>
            </a:pPr>
            <a:r>
              <a:rPr lang="en-US" altLang="zh-CN" sz="1100" b="0" dirty="0">
                <a:solidFill>
                  <a:srgbClr val="BDD7EE"/>
                </a:solidFill>
                <a:latin typeface="Arial"/>
              </a:rPr>
              <a:t>以下每组至少各含一个字符：</a:t>
            </a:r>
          </a:p>
          <a:p>
            <a:pPr marL="12000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altLang="zh-CN" sz="1300" b="1" dirty="0">
                <a:solidFill>
                  <a:srgbClr val="FFFFFF"/>
                </a:solidFill>
                <a:latin typeface="Arial"/>
              </a:rPr>
              <a:t>lower case alphabet · upper case alphabet · digit · special characters (!, @, #, $, %, ^, &amp;, *)</a:t>
            </a:r>
          </a:p>
          <a:p>
            <a:pPr marL="800100" indent="0">
              <a:spcBef>
                <a:spcPts val="100"/>
              </a:spcBef>
              <a:buNone/>
            </a:pPr>
            <a:r>
              <a:rPr lang="en-US" altLang="zh-CN" sz="1100" b="0" dirty="0">
                <a:solidFill>
                  <a:srgbClr val="BDD7EE"/>
                </a:solidFill>
                <a:latin typeface="Arial"/>
              </a:rPr>
              <a:t>小写字母、大写字母、数字、特殊字符——每一条都能直接写成测试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88136" y="384048"/>
            <a:ext cx="8229600" cy="86868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3000" b="1" dirty="0">
                <a:solidFill>
                  <a:srgbClr val="FFFFFF"/>
                </a:solidFill>
                <a:latin typeface="Arial"/>
              </a:rPr>
              <a:t>User Stories – Tips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altLang="zh-CN" sz="1600" b="0" dirty="0">
                <a:solidFill>
                  <a:srgbClr val="BDD7EE"/>
                </a:solidFill>
                <a:latin typeface="Arial"/>
              </a:rPr>
              <a:t>写用户故事的小贴士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" y="1325880"/>
            <a:ext cx="9966960" cy="484632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altLang="zh-CN" sz="1900" b="1" dirty="0">
                <a:solidFill>
                  <a:srgbClr val="FFFFFF"/>
                </a:solidFill>
                <a:latin typeface="Arial"/>
              </a:rPr>
              <a:t>Keep them short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500" b="0" dirty="0">
                <a:solidFill>
                  <a:srgbClr val="BDD7EE"/>
                </a:solidFill>
                <a:latin typeface="Arial"/>
              </a:rPr>
              <a:t>短</a:t>
            </a:r>
          </a:p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altLang="zh-CN" sz="1900" b="1" dirty="0">
                <a:solidFill>
                  <a:srgbClr val="FFFFFF"/>
                </a:solidFill>
                <a:latin typeface="Arial"/>
              </a:rPr>
              <a:t>Keep them simple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500" b="0" dirty="0">
                <a:solidFill>
                  <a:srgbClr val="BDD7EE"/>
                </a:solidFill>
                <a:latin typeface="Arial"/>
              </a:rPr>
              <a:t>简单</a:t>
            </a:r>
          </a:p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altLang="zh-CN" sz="1900" b="1" dirty="0">
                <a:solidFill>
                  <a:srgbClr val="FFFFFF"/>
                </a:solidFill>
                <a:latin typeface="Arial"/>
              </a:rPr>
              <a:t>Write them from the </a:t>
            </a:r>
            <a:r>
              <a:rPr lang="en-US" altLang="zh-CN" sz="1900" b="1" dirty="0">
                <a:solidFill>
                  <a:srgbClr val="F4B183"/>
                </a:solidFill>
                <a:latin typeface="Arial"/>
              </a:rPr>
              <a:t>user perspective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500" b="0" dirty="0">
                <a:solidFill>
                  <a:srgbClr val="BDD7EE"/>
                </a:solidFill>
                <a:latin typeface="Arial"/>
              </a:rPr>
              <a:t>从用户角度写，不是从开发者角度</a:t>
            </a:r>
          </a:p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altLang="zh-CN" sz="1900" b="1" dirty="0">
                <a:solidFill>
                  <a:srgbClr val="FFFFFF"/>
                </a:solidFill>
                <a:latin typeface="Arial"/>
              </a:rPr>
              <a:t>Make the </a:t>
            </a:r>
            <a:r>
              <a:rPr lang="en-US" altLang="zh-CN" sz="1900" b="1" dirty="0">
                <a:solidFill>
                  <a:srgbClr val="F4B183"/>
                </a:solidFill>
                <a:latin typeface="Arial"/>
              </a:rPr>
              <a:t>value/benefit</a:t>
            </a:r>
            <a:r>
              <a:rPr lang="en-US" altLang="zh-CN" sz="1900" b="1" dirty="0">
                <a:solidFill>
                  <a:srgbClr val="FFFFFF"/>
                </a:solidFill>
                <a:latin typeface="Arial"/>
              </a:rPr>
              <a:t> of the story clear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500" b="0" dirty="0">
                <a:solidFill>
                  <a:srgbClr val="BDD7EE"/>
                </a:solidFill>
                <a:latin typeface="Arial"/>
              </a:rPr>
              <a:t>价值写清楚（so that …）</a:t>
            </a:r>
          </a:p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altLang="zh-CN" sz="1900" b="1" dirty="0">
                <a:solidFill>
                  <a:srgbClr val="FFFFFF"/>
                </a:solidFill>
                <a:latin typeface="Arial"/>
              </a:rPr>
              <a:t>Describe only </a:t>
            </a:r>
            <a:r>
              <a:rPr lang="en-US" altLang="zh-CN" sz="1900" b="1" dirty="0">
                <a:solidFill>
                  <a:srgbClr val="F4B183"/>
                </a:solidFill>
                <a:latin typeface="Arial"/>
              </a:rPr>
              <a:t>one piece of functionality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500" b="0" dirty="0">
                <a:solidFill>
                  <a:srgbClr val="BDD7EE"/>
                </a:solidFill>
                <a:latin typeface="Arial"/>
              </a:rPr>
              <a:t>一条故事只描述一个功能——"登录并修改资料"要拆成两条</a:t>
            </a:r>
          </a:p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altLang="zh-CN" sz="1900" b="1" dirty="0">
                <a:solidFill>
                  <a:srgbClr val="FFFFFF"/>
                </a:solidFill>
                <a:latin typeface="Arial"/>
              </a:rPr>
              <a:t>Write stories as a </a:t>
            </a:r>
            <a:r>
              <a:rPr lang="en-US" altLang="zh-CN" sz="1900" b="1" dirty="0">
                <a:solidFill>
                  <a:srgbClr val="F4B183"/>
                </a:solidFill>
                <a:latin typeface="Arial"/>
              </a:rPr>
              <a:t>team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500" b="0" dirty="0">
                <a:solidFill>
                  <a:srgbClr val="BDD7EE"/>
                </a:solidFill>
                <a:latin typeface="Arial"/>
              </a:rPr>
              <a:t>团队一起写，不是一个人闷头写</a:t>
            </a:r>
          </a:p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altLang="zh-CN" sz="1900" b="1" dirty="0">
                <a:solidFill>
                  <a:srgbClr val="FFFFFF"/>
                </a:solidFill>
                <a:latin typeface="Arial"/>
              </a:rPr>
              <a:t>Use </a:t>
            </a:r>
            <a:r>
              <a:rPr lang="en-US" altLang="zh-CN" sz="1900" b="1" dirty="0">
                <a:solidFill>
                  <a:srgbClr val="F4B183"/>
                </a:solidFill>
                <a:latin typeface="Arial"/>
              </a:rPr>
              <a:t>acceptance criteria</a:t>
            </a:r>
            <a:r>
              <a:rPr lang="en-US" altLang="zh-CN" sz="1900" b="1" dirty="0">
                <a:solidFill>
                  <a:srgbClr val="FFFFFF"/>
                </a:solidFill>
                <a:latin typeface="Arial"/>
              </a:rPr>
              <a:t> to show a </a:t>
            </a:r>
            <a:r>
              <a:rPr lang="en-US" altLang="zh-CN" sz="1900" b="1" dirty="0">
                <a:solidFill>
                  <a:srgbClr val="F4B183"/>
                </a:solidFill>
                <a:latin typeface="Arial"/>
              </a:rPr>
              <a:t>Minimum Viable Product (MVP)</a:t>
            </a:r>
            <a:r>
              <a:rPr lang="en-US" altLang="zh-CN" sz="1900" b="1" dirty="0">
                <a:solidFill>
                  <a:srgbClr val="FFFFFF"/>
                </a:solidFill>
                <a:latin typeface="Arial"/>
              </a:rPr>
              <a:t>, that is, is a </a:t>
            </a:r>
            <a:r>
              <a:rPr lang="en-US" altLang="zh-CN" sz="1900" b="1" dirty="0">
                <a:solidFill>
                  <a:srgbClr val="F4B183"/>
                </a:solidFill>
                <a:latin typeface="Arial"/>
              </a:rPr>
              <a:t>working</a:t>
            </a:r>
            <a:r>
              <a:rPr lang="en-US" altLang="zh-CN" sz="1900" b="1" dirty="0">
                <a:solidFill>
                  <a:srgbClr val="FFFFFF"/>
                </a:solidFill>
                <a:latin typeface="Arial"/>
              </a:rPr>
              <a:t> and </a:t>
            </a:r>
            <a:r>
              <a:rPr lang="en-US" altLang="zh-CN" sz="1900" b="1" dirty="0">
                <a:solidFill>
                  <a:srgbClr val="F4B183"/>
                </a:solidFill>
                <a:latin typeface="Arial"/>
              </a:rPr>
              <a:t>usable</a:t>
            </a:r>
            <a:r>
              <a:rPr lang="en-US" altLang="zh-CN" sz="1900" b="1" dirty="0">
                <a:solidFill>
                  <a:srgbClr val="FFFFFF"/>
                </a:solidFill>
                <a:latin typeface="Arial"/>
              </a:rPr>
              <a:t> product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500" b="0" dirty="0">
                <a:solidFill>
                  <a:srgbClr val="BDD7EE"/>
                </a:solidFill>
                <a:latin typeface="Arial"/>
              </a:rPr>
              <a:t>用验收标准界定 MVP（最小可用产品）：能跑、能用就行，不求一步到位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80160" y="2377440"/>
            <a:ext cx="9692640" cy="201168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4000" b="1" dirty="0">
                <a:solidFill>
                  <a:srgbClr val="FFFFFF"/>
                </a:solidFill>
                <a:latin typeface="Arial"/>
              </a:rPr>
              <a:t>Scrum – Planning, Estimation, and Monitoring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altLang="zh-CN" sz="2600" b="0" dirty="0">
                <a:solidFill>
                  <a:srgbClr val="BDD7EE"/>
                </a:solidFill>
                <a:latin typeface="Arial"/>
              </a:rPr>
              <a:t>Scrum：计划、估算与监控</a:t>
            </a:r>
          </a:p>
          <a:p>
            <a:pPr marL="0" indent="0">
              <a:spcBef>
                <a:spcPts val="1400"/>
              </a:spcBef>
              <a:buNone/>
            </a:pPr>
            <a:r>
              <a:rPr lang="en-US" altLang="zh-CN" sz="1600" b="0" dirty="0">
                <a:solidFill>
                  <a:srgbClr val="BDD7EE"/>
                </a:solidFill>
                <a:latin typeface="Arial"/>
              </a:rPr>
              <a:t>怎么估每个故事多大、一个 Sprint 塞多少——GitLab Issue 上要打 size 标签，就是这里讲的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88136" y="384048"/>
            <a:ext cx="8229600" cy="86868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2600" b="1" dirty="0">
                <a:solidFill>
                  <a:srgbClr val="FFFFFF"/>
                </a:solidFill>
                <a:latin typeface="Arial"/>
              </a:rPr>
              <a:t>Scrum – Planning and Iteration Estimation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altLang="zh-CN" sz="1600" b="0" dirty="0">
                <a:solidFill>
                  <a:srgbClr val="BDD7EE"/>
                </a:solidFill>
                <a:latin typeface="Arial"/>
              </a:rPr>
              <a:t>计划与迭代估算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" y="1325880"/>
            <a:ext cx="9966960" cy="484632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PO works with the customer to set the </a:t>
            </a:r>
            <a:r>
              <a:rPr lang="en-US" altLang="zh-CN" sz="1800" b="1" dirty="0">
                <a:solidFill>
                  <a:srgbClr val="F4B183"/>
                </a:solidFill>
                <a:latin typeface="Arial"/>
              </a:rPr>
              <a:t>priority of PB items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PO 和客户一起给 Product Backlog 排优先级</a:t>
            </a:r>
          </a:p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In an iteration, the team divides the PB items into </a:t>
            </a:r>
            <a:r>
              <a:rPr lang="en-US" altLang="zh-CN" sz="1800" b="1" dirty="0">
                <a:solidFill>
                  <a:srgbClr val="F4B183"/>
                </a:solidFill>
                <a:latin typeface="Arial"/>
              </a:rPr>
              <a:t>individual tasks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每轮迭代里，团队把条目拆成一个个任务</a:t>
            </a:r>
          </a:p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The dev. team </a:t>
            </a:r>
            <a:r>
              <a:rPr lang="en-US" altLang="zh-CN" sz="1800" b="1" dirty="0">
                <a:solidFill>
                  <a:srgbClr val="F4B183"/>
                </a:solidFill>
                <a:latin typeface="Arial"/>
              </a:rPr>
              <a:t>defines tasks and estimates the size/effort</a:t>
            </a: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 for each item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开发团队定义任务并估算每项的大小 / 工作量</a:t>
            </a:r>
          </a:p>
          <a:p>
            <a:pPr marL="8001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altLang="zh-CN" sz="1500" b="1" dirty="0">
                <a:solidFill>
                  <a:srgbClr val="FFFFFF"/>
                </a:solidFill>
                <a:latin typeface="Arial"/>
              </a:rPr>
              <a:t>Product Owner/customers are not allowed to change the estimates</a:t>
            </a:r>
          </a:p>
          <a:p>
            <a:pPr marL="34290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PO 和客户不能改估算——估算是干活的人说了算</a:t>
            </a:r>
          </a:p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The list of tasks is flexible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任务列表是灵活的，可增可减</a:t>
            </a:r>
          </a:p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Dev. team tracks all “tasks” on a </a:t>
            </a:r>
            <a:r>
              <a:rPr lang="en-US" altLang="zh-CN" sz="1800" b="1" dirty="0">
                <a:solidFill>
                  <a:srgbClr val="F4B183"/>
                </a:solidFill>
                <a:latin typeface="Arial"/>
              </a:rPr>
              <a:t>Task Board</a:t>
            </a: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 (To Do, in-progress, Done)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所有任务放在任务板上跟踪（待做 / 进行中 / 完成）</a:t>
            </a:r>
          </a:p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Dev. team tracks progress with a </a:t>
            </a:r>
            <a:r>
              <a:rPr lang="en-US" altLang="zh-CN" sz="1800" b="1" dirty="0">
                <a:solidFill>
                  <a:srgbClr val="F4B183"/>
                </a:solidFill>
                <a:latin typeface="Arial"/>
              </a:rPr>
              <a:t>burn-down chart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用燃尽图跟踪进度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88136" y="384048"/>
            <a:ext cx="8229600" cy="86868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3000" b="1" dirty="0">
                <a:solidFill>
                  <a:srgbClr val="FFFFFF"/>
                </a:solidFill>
                <a:latin typeface="Arial"/>
              </a:rPr>
              <a:t>Estimation – Size of User Story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altLang="zh-CN" sz="1600" b="0" dirty="0">
                <a:solidFill>
                  <a:srgbClr val="BDD7EE"/>
                </a:solidFill>
                <a:latin typeface="Arial"/>
              </a:rPr>
              <a:t>估算：用户故事有多大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" y="1325880"/>
            <a:ext cx="9966960" cy="484632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700" b="1" dirty="0">
                <a:solidFill>
                  <a:srgbClr val="F4B183"/>
                </a:solidFill>
                <a:latin typeface="Arial"/>
              </a:rPr>
              <a:t>Ideal days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方法一：理想天数</a:t>
            </a:r>
          </a:p>
          <a:p>
            <a:pPr marL="8001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altLang="zh-CN" sz="1400" b="1" dirty="0">
                <a:solidFill>
                  <a:srgbClr val="FFFFFF"/>
                </a:solidFill>
                <a:latin typeface="Arial"/>
              </a:rPr>
              <a:t>The amount of time a user story will take to develop</a:t>
            </a:r>
          </a:p>
          <a:p>
            <a:pPr marL="34290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在不被打扰、全力投入的情况下需要几天——"要两天"很含糊：10 小时？24？48？午餐和被打断的时间都不算，所以用"理想天"</a:t>
            </a:r>
          </a:p>
          <a:p>
            <a:pPr marL="8001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altLang="zh-CN" sz="1400" b="1" dirty="0">
                <a:solidFill>
                  <a:srgbClr val="FFFFFF"/>
                </a:solidFill>
                <a:latin typeface="Arial"/>
              </a:rPr>
              <a:t>Express the estimate as a whole (i.e., 2 ideal days)</a:t>
            </a:r>
          </a:p>
          <a:p>
            <a:pPr marL="34290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用整数表示，如 2 个理想天——讲师不建议用天，用小时或故事点，每人估自己被分配的任务即可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700" b="1" dirty="0">
                <a:solidFill>
                  <a:srgbClr val="F4B183"/>
                </a:solidFill>
                <a:latin typeface="Arial"/>
              </a:rPr>
              <a:t>Story points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方法二：故事点（更常用）</a:t>
            </a:r>
          </a:p>
          <a:p>
            <a:pPr marL="8001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altLang="zh-CN" sz="1400" b="1" dirty="0">
                <a:solidFill>
                  <a:srgbClr val="FFFFFF"/>
                </a:solidFill>
                <a:latin typeface="Arial"/>
              </a:rPr>
              <a:t>Metric for the size of a user story, feature, or other piece of work</a:t>
            </a:r>
          </a:p>
          <a:p>
            <a:pPr marL="34290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衡量故事 / 功能 / 工作"相对大小"的单位，不是小时；它是估算，永远不会 100% 准——燃尽图没按计划走不要觉得糟糕</a:t>
            </a:r>
          </a:p>
          <a:p>
            <a:pPr marL="8001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altLang="zh-CN" sz="1400" b="1" dirty="0">
                <a:solidFill>
                  <a:srgbClr val="FFFFFF"/>
                </a:solidFill>
                <a:latin typeface="Arial"/>
              </a:rPr>
              <a:t>A point value to each item is assigned</a:t>
            </a:r>
          </a:p>
          <a:p>
            <a:pPr marL="34290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每个条目分配一个点数</a:t>
            </a:r>
          </a:p>
          <a:p>
            <a:pPr marL="8001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altLang="zh-CN" sz="1400" b="1" dirty="0">
                <a:solidFill>
                  <a:srgbClr val="FFFFFF"/>
                </a:solidFill>
                <a:latin typeface="Arial"/>
              </a:rPr>
              <a:t>Estimation scale:</a:t>
            </a:r>
          </a:p>
          <a:p>
            <a:pPr marL="34290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常用刻度：</a:t>
            </a:r>
          </a:p>
          <a:p>
            <a:pPr marL="12000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altLang="zh-CN" sz="1400" b="1" dirty="0">
                <a:solidFill>
                  <a:srgbClr val="FFFFFF"/>
                </a:solidFill>
                <a:latin typeface="Arial"/>
              </a:rPr>
              <a:t>Fibonacci series; 1, 2, 3, 5, 8, …</a:t>
            </a:r>
          </a:p>
          <a:p>
            <a:pPr marL="80010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斐波那契数列——越大越不精确，所以间隔越大</a:t>
            </a:r>
          </a:p>
          <a:p>
            <a:pPr marL="12000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altLang="zh-CN" sz="1400" b="1" dirty="0">
                <a:solidFill>
                  <a:srgbClr val="FFFFFF"/>
                </a:solidFill>
                <a:latin typeface="Arial"/>
              </a:rPr>
              <a:t>Subsequent number as twice the number that precedes it: 1, 2, 4, 8, …</a:t>
            </a:r>
          </a:p>
          <a:p>
            <a:pPr marL="80010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或者每次翻倍。时间账：一周约 20 小时投入本课，有效约 12 小时；SM 估 2 小时的任务分配时给 4 小时；一人约 5 个小 task、两天做完比较合理，分太多完不成没意义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88136" y="384048"/>
            <a:ext cx="8229600" cy="86868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2600" b="1" dirty="0">
                <a:solidFill>
                  <a:srgbClr val="FFFFFF"/>
                </a:solidFill>
                <a:latin typeface="Arial"/>
              </a:rPr>
              <a:t>Estimation – Planning Poker &amp; Story Points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altLang="zh-CN" sz="1600" b="0" dirty="0">
                <a:solidFill>
                  <a:srgbClr val="BDD7EE"/>
                </a:solidFill>
                <a:latin typeface="Arial"/>
              </a:rPr>
              <a:t>估算技巧：计划扑克 与 用故事点排 Sprint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" y="1371600"/>
            <a:ext cx="4754880" cy="475488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600" b="1" dirty="0">
                <a:solidFill>
                  <a:srgbClr val="F4B183"/>
                </a:solidFill>
                <a:latin typeface="Arial"/>
              </a:rPr>
              <a:t>Estimation Technique – Planning Poker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计划扑克</a:t>
            </a:r>
          </a:p>
          <a:p>
            <a:pPr marL="8001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altLang="zh-CN" sz="1300" b="1" dirty="0">
                <a:solidFill>
                  <a:srgbClr val="FFFFFF"/>
                </a:solidFill>
                <a:latin typeface="Arial"/>
              </a:rPr>
              <a:t>Gamified technique to estimate </a:t>
            </a:r>
            <a:r>
              <a:rPr lang="en-US" altLang="zh-CN" sz="1300" b="1" dirty="0">
                <a:solidFill>
                  <a:srgbClr val="F4B183"/>
                </a:solidFill>
                <a:latin typeface="Arial"/>
              </a:rPr>
              <a:t>effort/relative size</a:t>
            </a:r>
            <a:r>
              <a:rPr lang="en-US" altLang="zh-CN" sz="1300" b="1" dirty="0">
                <a:solidFill>
                  <a:srgbClr val="FFFFFF"/>
                </a:solidFill>
                <a:latin typeface="Arial"/>
              </a:rPr>
              <a:t> of development in Agile development</a:t>
            </a:r>
          </a:p>
          <a:p>
            <a:pPr marL="342900" indent="0">
              <a:spcBef>
                <a:spcPts val="100"/>
              </a:spcBef>
              <a:buNone/>
            </a:pPr>
            <a:r>
              <a:rPr lang="en-US" altLang="zh-CN" sz="1100" b="0" dirty="0">
                <a:solidFill>
                  <a:srgbClr val="BDD7EE"/>
                </a:solidFill>
                <a:latin typeface="Arial"/>
              </a:rPr>
              <a:t>游戏化的估算方法：每人拿一副写着 1/2/3/5/8… 的牌</a:t>
            </a:r>
          </a:p>
          <a:p>
            <a:pPr marL="8001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altLang="zh-CN" sz="1300" b="1" dirty="0">
                <a:solidFill>
                  <a:srgbClr val="FFFFFF"/>
                </a:solidFill>
                <a:latin typeface="Arial"/>
              </a:rPr>
              <a:t>Agile teams to estimate is by playing planning poker</a:t>
            </a:r>
          </a:p>
          <a:p>
            <a:pPr marL="342900" indent="0">
              <a:spcBef>
                <a:spcPts val="100"/>
              </a:spcBef>
              <a:buNone/>
            </a:pPr>
            <a:r>
              <a:rPr lang="en-US" altLang="zh-CN" sz="1100" b="0" dirty="0">
                <a:solidFill>
                  <a:srgbClr val="BDD7EE"/>
                </a:solidFill>
                <a:latin typeface="Arial"/>
              </a:rPr>
              <a:t>大家同时亮牌，差距大的两人解释理由，再来一轮，直到基本一致——避免被"权威"带偏</a:t>
            </a:r>
          </a:p>
          <a:p>
            <a:pPr marL="8001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altLang="zh-CN" sz="1300" b="1" dirty="0">
                <a:solidFill>
                  <a:srgbClr val="FFFFFF"/>
                </a:solidFill>
                <a:latin typeface="Arial"/>
              </a:rPr>
              <a:t>Agile Estimating and Planning: Planning Poker - Mike Cohn</a:t>
            </a:r>
          </a:p>
          <a:p>
            <a:pPr marL="342900" indent="0">
              <a:spcBef>
                <a:spcPts val="100"/>
              </a:spcBef>
              <a:buNone/>
            </a:pPr>
            <a:r>
              <a:rPr lang="en-US" altLang="zh-CN" sz="1100" b="0" dirty="0">
                <a:solidFill>
                  <a:srgbClr val="BDD7EE"/>
                </a:solidFill>
                <a:latin typeface="Arial"/>
              </a:rPr>
              <a:t>参考：Mike Cohn 的 Planning Poker 视频——课上没时间讲，链接在原版讲义上（已放 Moodle），课后自己看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17336" y="1371600"/>
            <a:ext cx="5669279" cy="475488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600" b="1" dirty="0">
                <a:solidFill>
                  <a:srgbClr val="F4B183"/>
                </a:solidFill>
                <a:latin typeface="Arial"/>
              </a:rPr>
              <a:t>Sprint Planning – Story Points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用故事点填满一个 Sprint 的步骤</a:t>
            </a:r>
          </a:p>
          <a:p>
            <a:pPr marL="8001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altLang="zh-CN" sz="1300" b="1" dirty="0">
                <a:solidFill>
                  <a:srgbClr val="FFFFFF"/>
                </a:solidFill>
                <a:latin typeface="Arial"/>
              </a:rPr>
              <a:t>Start with the most valuable user stories from the product backlog</a:t>
            </a:r>
          </a:p>
          <a:p>
            <a:pPr marL="342900" indent="0">
              <a:spcBef>
                <a:spcPts val="100"/>
              </a:spcBef>
              <a:buNone/>
            </a:pPr>
            <a:r>
              <a:rPr lang="en-US" altLang="zh-CN" sz="1100" b="0" dirty="0">
                <a:solidFill>
                  <a:srgbClr val="BDD7EE"/>
                </a:solidFill>
                <a:latin typeface="Arial"/>
              </a:rPr>
              <a:t>从 Backlog 里最有价值的故事开始</a:t>
            </a:r>
          </a:p>
          <a:p>
            <a:pPr marL="8001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altLang="zh-CN" sz="1300" b="1" dirty="0">
                <a:solidFill>
                  <a:srgbClr val="FFFFFF"/>
                </a:solidFill>
                <a:latin typeface="Arial"/>
              </a:rPr>
              <a:t>Take a story in that list (ideally the smallest one)</a:t>
            </a:r>
          </a:p>
          <a:p>
            <a:pPr marL="342900" indent="0">
              <a:spcBef>
                <a:spcPts val="100"/>
              </a:spcBef>
              <a:buNone/>
            </a:pPr>
            <a:r>
              <a:rPr lang="en-US" altLang="zh-CN" sz="1100" b="0" dirty="0">
                <a:solidFill>
                  <a:srgbClr val="BDD7EE"/>
                </a:solidFill>
                <a:latin typeface="Arial"/>
              </a:rPr>
              <a:t>先拿一条（最好是最小的）作为基准</a:t>
            </a:r>
          </a:p>
          <a:p>
            <a:pPr marL="8001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altLang="zh-CN" sz="1300" b="1" dirty="0">
                <a:solidFill>
                  <a:srgbClr val="FFFFFF"/>
                </a:solidFill>
                <a:latin typeface="Arial"/>
              </a:rPr>
              <a:t>Discuss with the team whether that estimate is accurate</a:t>
            </a:r>
          </a:p>
          <a:p>
            <a:pPr marL="342900" indent="0">
              <a:spcBef>
                <a:spcPts val="100"/>
              </a:spcBef>
              <a:buNone/>
            </a:pPr>
            <a:r>
              <a:rPr lang="en-US" altLang="zh-CN" sz="1100" b="0" dirty="0">
                <a:solidFill>
                  <a:srgbClr val="BDD7EE"/>
                </a:solidFill>
                <a:latin typeface="Arial"/>
              </a:rPr>
              <a:t>团队讨论这个估算准不准</a:t>
            </a:r>
          </a:p>
          <a:p>
            <a:pPr marL="8001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altLang="zh-CN" sz="1300" b="1" dirty="0">
                <a:solidFill>
                  <a:srgbClr val="FFFFFF"/>
                </a:solidFill>
                <a:latin typeface="Arial"/>
              </a:rPr>
              <a:t>Keep going through the stories until the team have accumulated enough points to fill the Sprint</a:t>
            </a:r>
          </a:p>
          <a:p>
            <a:pPr marL="342900" indent="0">
              <a:spcBef>
                <a:spcPts val="100"/>
              </a:spcBef>
              <a:buNone/>
            </a:pPr>
            <a:r>
              <a:rPr lang="en-US" altLang="zh-CN" sz="1100" b="0" dirty="0">
                <a:solidFill>
                  <a:srgbClr val="BDD7EE"/>
                </a:solidFill>
                <a:latin typeface="Arial"/>
              </a:rPr>
              <a:t>一条条往下过，点数累计到团队一个 Sprint 的容量（velocity）为止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88136" y="384048"/>
            <a:ext cx="8229600" cy="86868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2600" b="1" dirty="0">
                <a:solidFill>
                  <a:srgbClr val="FFFFFF"/>
                </a:solidFill>
                <a:latin typeface="Arial"/>
              </a:rPr>
              <a:t>User Story Estimation – T-Shirt Sizing Method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altLang="zh-CN" sz="1600" b="0" dirty="0">
                <a:solidFill>
                  <a:srgbClr val="BDD7EE"/>
                </a:solidFill>
                <a:latin typeface="Arial"/>
              </a:rPr>
              <a:t>估算：T 恤尺码法（本课程标准方法）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" y="1325880"/>
            <a:ext cx="9966960" cy="484632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altLang="zh-CN" sz="1900" b="1" dirty="0">
                <a:solidFill>
                  <a:srgbClr val="FFFFFF"/>
                </a:solidFill>
                <a:latin typeface="Arial"/>
              </a:rPr>
              <a:t>Uses sizes: </a:t>
            </a:r>
            <a:r>
              <a:rPr lang="en-US" altLang="zh-CN" sz="1900" b="1" dirty="0">
                <a:solidFill>
                  <a:srgbClr val="F4B183"/>
                </a:solidFill>
                <a:latin typeface="Arial"/>
              </a:rPr>
              <a:t>XS, S, M, L, XL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500" b="0" dirty="0">
                <a:solidFill>
                  <a:srgbClr val="BDD7EE"/>
                </a:solidFill>
                <a:latin typeface="Arial"/>
              </a:rPr>
              <a:t>不用数字，用衣服尺码：特小 / 小 / 中 / 大 / 特大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altLang="zh-CN" sz="1900" b="1" dirty="0">
                <a:solidFill>
                  <a:srgbClr val="F4B183"/>
                </a:solidFill>
                <a:latin typeface="Arial"/>
              </a:rPr>
              <a:t>Simple, fast, and beginner-friendly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500" b="0" dirty="0">
                <a:solidFill>
                  <a:srgbClr val="BDD7EE"/>
                </a:solidFill>
                <a:latin typeface="Arial"/>
              </a:rPr>
              <a:t>简单、快、适合新手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altLang="zh-CN" sz="1900" b="1" dirty="0">
                <a:solidFill>
                  <a:srgbClr val="FFFFFF"/>
                </a:solidFill>
                <a:latin typeface="Arial"/>
              </a:rPr>
              <a:t>No false precision; good for early-stage teams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500" b="0" dirty="0">
                <a:solidFill>
                  <a:srgbClr val="BDD7EE"/>
                </a:solidFill>
                <a:latin typeface="Arial"/>
              </a:rPr>
              <a:t>不会给人"精确"的错觉——刚组队时估不准是正常的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altLang="zh-CN" sz="1900" b="1" dirty="0">
                <a:solidFill>
                  <a:srgbClr val="FFFFFF"/>
                </a:solidFill>
                <a:latin typeface="Arial"/>
              </a:rPr>
              <a:t>This course’s </a:t>
            </a:r>
            <a:r>
              <a:rPr lang="en-US" altLang="zh-CN" sz="1900" b="1" dirty="0">
                <a:solidFill>
                  <a:srgbClr val="F4B183"/>
                </a:solidFill>
                <a:latin typeface="Arial"/>
              </a:rPr>
              <a:t>standard method</a:t>
            </a:r>
            <a:r>
              <a:rPr lang="en-US" altLang="zh-CN" sz="1900" b="1" dirty="0">
                <a:solidFill>
                  <a:srgbClr val="FFFFFF"/>
                </a:solidFill>
                <a:latin typeface="Arial"/>
              </a:rPr>
              <a:t> for story point examples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500" b="0" dirty="0">
                <a:solidFill>
                  <a:srgbClr val="BDD7EE"/>
                </a:solidFill>
                <a:latin typeface="Arial"/>
              </a:rPr>
              <a:t>本课程的标准方法：GitLab Issue 打 size-S / size-M / size-L 标签。用优先级、size 或小时都行，都只是估算；觉得任务大就拆小；做完一个主动找 SM 接下一个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altLang="zh-CN" sz="1900" b="1" dirty="0">
                <a:solidFill>
                  <a:srgbClr val="FFFFFF"/>
                </a:solidFill>
                <a:latin typeface="Arial"/>
              </a:rPr>
              <a:t>atlassian.com/agile/project-management/estimation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500" b="0" dirty="0">
                <a:solidFill>
                  <a:srgbClr val="BDD7EE"/>
                </a:solidFill>
                <a:latin typeface="Arial"/>
              </a:rPr>
              <a:t>参考链接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88136" y="384048"/>
            <a:ext cx="8229600" cy="86868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3000" b="1" dirty="0">
                <a:solidFill>
                  <a:srgbClr val="FFFFFF"/>
                </a:solidFill>
                <a:latin typeface="Arial"/>
              </a:rPr>
              <a:t>Example: A Complete User Story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altLang="zh-CN" sz="1600" b="0" dirty="0">
                <a:solidFill>
                  <a:srgbClr val="BDD7EE"/>
                </a:solidFill>
                <a:latin typeface="Arial"/>
              </a:rPr>
              <a:t>一个完整用户故事的例子（照这个格式写 Issue）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" y="1325880"/>
            <a:ext cx="9966960" cy="484632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700" b="1" dirty="0">
                <a:solidFill>
                  <a:srgbClr val="F4B183"/>
                </a:solidFill>
                <a:latin typeface="Arial"/>
              </a:rPr>
              <a:t>Story</a:t>
            </a:r>
            <a:r>
              <a:rPr lang="en-US" altLang="zh-CN" sz="1700" b="1" dirty="0">
                <a:solidFill>
                  <a:srgbClr val="FFFFFF"/>
                </a:solidFill>
                <a:latin typeface="Arial"/>
              </a:rPr>
              <a:t>: As a group member, I want to record an expense with a payer, amount, and split, so that the group knows what everyone owes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故事：作为小组成员，我想记录一笔开销（付款人、金额、分摊方式），以便组里知道每人欠多少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700" b="1" dirty="0">
                <a:solidFill>
                  <a:srgbClr val="F4B183"/>
                </a:solidFill>
                <a:latin typeface="Arial"/>
              </a:rPr>
              <a:t>Acceptance criteria</a:t>
            </a:r>
            <a:r>
              <a:rPr lang="en-US" altLang="zh-CN" sz="1700" b="1" dirty="0">
                <a:solidFill>
                  <a:srgbClr val="FFFFFF"/>
                </a:solidFill>
                <a:latin typeface="Arial"/>
              </a:rPr>
              <a:t>: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验收标准（4 条）：</a:t>
            </a:r>
          </a:p>
          <a:p>
            <a:pPr marL="8001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altLang="zh-CN" sz="1400" b="1" dirty="0">
                <a:solidFill>
                  <a:srgbClr val="FFFFFF"/>
                </a:solidFill>
                <a:latin typeface="Arial"/>
              </a:rPr>
              <a:t>Expense has a payer, an amount, and a split method</a:t>
            </a:r>
          </a:p>
          <a:p>
            <a:pPr marL="34290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开销必须有付款人、金额、分摊方式</a:t>
            </a:r>
          </a:p>
          <a:p>
            <a:pPr marL="8001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altLang="zh-CN" sz="1400" b="1" dirty="0">
                <a:solidFill>
                  <a:srgbClr val="FFFFFF"/>
                </a:solidFill>
                <a:latin typeface="Arial"/>
              </a:rPr>
              <a:t>Equal split divides the amount evenly across all members</a:t>
            </a:r>
          </a:p>
          <a:p>
            <a:pPr marL="34290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均分：平均分给所有成员</a:t>
            </a:r>
          </a:p>
          <a:p>
            <a:pPr marL="8001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altLang="zh-CN" sz="1400" b="1" dirty="0">
                <a:solidFill>
                  <a:srgbClr val="FFFFFF"/>
                </a:solidFill>
                <a:latin typeface="Arial"/>
              </a:rPr>
              <a:t>Custom split allows entering each member’s share</a:t>
            </a:r>
          </a:p>
          <a:p>
            <a:pPr marL="34290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自定义分摊：可输入每人份额</a:t>
            </a:r>
          </a:p>
          <a:p>
            <a:pPr marL="8001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altLang="zh-CN" sz="1400" b="1" dirty="0">
                <a:solidFill>
                  <a:srgbClr val="FFFFFF"/>
                </a:solidFill>
                <a:latin typeface="Arial"/>
              </a:rPr>
              <a:t>Amounts that don’t divide evenly are handled without losing or gaining money</a:t>
            </a:r>
          </a:p>
          <a:p>
            <a:pPr marL="34290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除不尽的金额要处理好，总数不多不少（反面场景）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700" b="1" dirty="0">
                <a:solidFill>
                  <a:srgbClr val="F4B183"/>
                </a:solidFill>
                <a:latin typeface="Arial"/>
              </a:rPr>
              <a:t>Story point</a:t>
            </a:r>
            <a:r>
              <a:rPr lang="en-US" altLang="zh-CN" sz="1700" b="1" dirty="0">
                <a:solidFill>
                  <a:srgbClr val="FFFFFF"/>
                </a:solidFill>
                <a:latin typeface="Arial"/>
              </a:rPr>
              <a:t>: size-M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大小：M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700" b="1" dirty="0">
                <a:solidFill>
                  <a:srgbClr val="FFFFFF"/>
                </a:solidFill>
                <a:latin typeface="Arial"/>
              </a:rPr>
              <a:t>In </a:t>
            </a:r>
            <a:r>
              <a:rPr lang="en-US" altLang="zh-CN" sz="1700" b="1" dirty="0">
                <a:solidFill>
                  <a:srgbClr val="F4B183"/>
                </a:solidFill>
                <a:latin typeface="Arial"/>
              </a:rPr>
              <a:t>GitLab</a:t>
            </a:r>
            <a:r>
              <a:rPr lang="en-US" altLang="zh-CN" sz="1700" b="1" dirty="0">
                <a:solidFill>
                  <a:srgbClr val="FFFFFF"/>
                </a:solidFill>
                <a:latin typeface="Arial"/>
              </a:rPr>
              <a:t>: one Issue, four Tasks for the criteria, size-M label, assigned to the Sprint 1 milestone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在 GitLab 里：1 个 Issue，4 个 Task 对应 4 条验收标准，打 size-M 标签，挂到 Sprint 1 milestone；你们一个 Issue 大概 5–6 个 Task，尽量拆细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88136" y="384048"/>
            <a:ext cx="8229600" cy="86868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3000" b="1" dirty="0">
                <a:solidFill>
                  <a:srgbClr val="FFFFFF"/>
                </a:solidFill>
                <a:latin typeface="Arial"/>
              </a:rPr>
              <a:t>Summary of Scrum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altLang="zh-CN" sz="1600" b="0" dirty="0">
                <a:solidFill>
                  <a:srgbClr val="BDD7EE"/>
                </a:solidFill>
                <a:latin typeface="Arial"/>
              </a:rPr>
              <a:t>Scrum 全流程一张图</a:t>
            </a:r>
          </a:p>
        </p:txBody>
      </p:sp>
      <p:pic>
        <p:nvPicPr>
          <p:cNvPr id="3" name="Picture 2" descr="scrum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6741635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543800" y="1280160"/>
            <a:ext cx="4160520" cy="475488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342900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rgbClr val="F4B183"/>
                </a:solidFill>
                <a:latin typeface="Arial"/>
              </a:rPr>
              <a:t>Product backlog</a:t>
            </a:r>
            <a:r>
              <a:rPr lang="en-US" altLang="zh-CN" sz="1400" b="1" dirty="0">
                <a:solidFill>
                  <a:srgbClr val="FFFFFF"/>
                </a:solidFill>
                <a:latin typeface="Arial"/>
              </a:rPr>
              <a:t> → prioritized list of product features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左下：按优先级排好的产品功能列表（基于客户输入）</a:t>
            </a:r>
          </a:p>
          <a:p>
            <a:pPr marL="342900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rgbClr val="F4B183"/>
                </a:solidFill>
                <a:latin typeface="Arial"/>
              </a:rPr>
              <a:t>Backlog item(s) selected</a:t>
            </a:r>
            <a:r>
              <a:rPr lang="en-US" altLang="zh-CN" sz="1400" b="1" dirty="0">
                <a:solidFill>
                  <a:srgbClr val="FFFFFF"/>
                </a:solidFill>
                <a:latin typeface="Arial"/>
              </a:rPr>
              <a:t> for current Sprint → team defines and estimates the tasks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选出本轮要做的条目，团队拆任务、估工作量</a:t>
            </a:r>
          </a:p>
          <a:p>
            <a:pPr marL="342900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rgbClr val="F4B183"/>
                </a:solidFill>
                <a:latin typeface="Arial"/>
              </a:rPr>
              <a:t>Sprint</a:t>
            </a:r>
            <a:r>
              <a:rPr lang="en-US" altLang="zh-CN" sz="1400" b="1" dirty="0">
                <a:solidFill>
                  <a:srgbClr val="FFFFFF"/>
                </a:solidFill>
                <a:latin typeface="Arial"/>
              </a:rPr>
              <a:t>: 2 to 4 weeks; a 30-day iteration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大圈：一个 Sprint（2–4 周），交付可用的代码和模型</a:t>
            </a:r>
          </a:p>
          <a:p>
            <a:pPr marL="342900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rgbClr val="F4B183"/>
                </a:solidFill>
                <a:latin typeface="Arial"/>
              </a:rPr>
              <a:t>Scrum</a:t>
            </a:r>
            <a:r>
              <a:rPr lang="en-US" altLang="zh-CN" sz="1400" b="1" dirty="0">
                <a:solidFill>
                  <a:srgbClr val="FFFFFF"/>
                </a:solidFill>
                <a:latin typeface="Arial"/>
              </a:rPr>
              <a:t>: 15 minute daily meeting – three basic questions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小圈：每 24 小时一次 15 分钟站会，回答三个问题</a:t>
            </a:r>
          </a:p>
          <a:p>
            <a:pPr marL="342900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rgbClr val="FFFFFF"/>
                </a:solidFill>
                <a:latin typeface="Arial"/>
              </a:rPr>
              <a:t>New functionality demonstrated at the end of every Sprint – customers should give feedback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右下：每轮结束演示新功能，客户给反馈</a:t>
            </a:r>
          </a:p>
          <a:p>
            <a:pPr marL="342900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rgbClr val="FFFFFF"/>
                </a:solidFill>
                <a:latin typeface="Arial"/>
              </a:rPr>
              <a:t>Agile Software Development with Scrum, by Ken Schwaber and Mike Beedle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图片来源：Scrum 创始人的书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80160" y="2377440"/>
            <a:ext cx="9692640" cy="201168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4000" b="1" dirty="0">
                <a:solidFill>
                  <a:srgbClr val="FFFFFF"/>
                </a:solidFill>
                <a:latin typeface="Arial"/>
              </a:rPr>
              <a:t>Scrum – Tracking and Monitoring Progress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altLang="zh-CN" sz="2600" b="0" dirty="0">
                <a:solidFill>
                  <a:srgbClr val="BDD7EE"/>
                </a:solidFill>
                <a:latin typeface="Arial"/>
              </a:rPr>
              <a:t>Scrum：跟踪与监控进度</a:t>
            </a:r>
          </a:p>
          <a:p>
            <a:pPr marL="0" indent="0">
              <a:spcBef>
                <a:spcPts val="1400"/>
              </a:spcBef>
              <a:buNone/>
            </a:pPr>
            <a:r>
              <a:rPr lang="en-US" altLang="zh-CN" sz="1600" b="0" dirty="0">
                <a:solidFill>
                  <a:srgbClr val="BDD7EE"/>
                </a:solidFill>
                <a:latin typeface="Arial"/>
              </a:rPr>
              <a:t>Burndown chart, Velocity, The Sprint/Task board——三样工具，Jira / GitLab 都能自动画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88136" y="384048"/>
            <a:ext cx="8229600" cy="86868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2600" b="1" dirty="0">
                <a:solidFill>
                  <a:srgbClr val="FFFFFF"/>
                </a:solidFill>
                <a:latin typeface="Arial"/>
              </a:rPr>
              <a:t>Running a Sprint – SPs, Tasks, Task Board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altLang="zh-CN" sz="1600" b="0" dirty="0">
                <a:solidFill>
                  <a:srgbClr val="BDD7EE"/>
                </a:solidFill>
                <a:latin typeface="Arial"/>
              </a:rPr>
              <a:t>用故事点（SP）、任务和任务板跑一个 Sprint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" y="1325880"/>
            <a:ext cx="9966960" cy="484632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342900" indent="-3429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CN" sz="1800" b="1" dirty="0">
                <a:solidFill>
                  <a:srgbClr val="F4B183"/>
                </a:solidFill>
                <a:latin typeface="Arial"/>
              </a:rPr>
              <a:t>First half</a:t>
            </a: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 of the Sprint planning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计划会前半段：</a:t>
            </a:r>
          </a:p>
          <a:p>
            <a:pPr marL="8001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altLang="zh-CN" sz="1500" b="1" dirty="0">
                <a:solidFill>
                  <a:srgbClr val="FFFFFF"/>
                </a:solidFill>
                <a:latin typeface="Arial"/>
              </a:rPr>
              <a:t>Story points and </a:t>
            </a:r>
            <a:r>
              <a:rPr lang="en-US" altLang="zh-CN" sz="1500" b="1" dirty="0">
                <a:solidFill>
                  <a:srgbClr val="F4B183"/>
                </a:solidFill>
                <a:latin typeface="Arial"/>
              </a:rPr>
              <a:t>velocity</a:t>
            </a:r>
            <a:r>
              <a:rPr lang="en-US" altLang="zh-CN" sz="1500" b="1" dirty="0">
                <a:solidFill>
                  <a:srgbClr val="FFFFFF"/>
                </a:solidFill>
                <a:latin typeface="Arial"/>
              </a:rPr>
              <a:t> to figure out what will go into the Sprint</a:t>
            </a:r>
          </a:p>
          <a:p>
            <a:pPr marL="34290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用故事点 + 团队速度（velocity）决定这轮装多少东西</a:t>
            </a:r>
          </a:p>
          <a:p>
            <a:pPr marL="342900" indent="-3429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CN" sz="1800" b="1" dirty="0">
                <a:solidFill>
                  <a:srgbClr val="F4B183"/>
                </a:solidFill>
                <a:latin typeface="Arial"/>
              </a:rPr>
              <a:t>Second half</a:t>
            </a: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 of the Sprint planning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计划会后半段：</a:t>
            </a:r>
          </a:p>
          <a:p>
            <a:pPr marL="8001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altLang="zh-CN" sz="1500" b="1" dirty="0">
                <a:solidFill>
                  <a:srgbClr val="FFFFFF"/>
                </a:solidFill>
                <a:latin typeface="Arial"/>
              </a:rPr>
              <a:t>Plan out the actual work for the team is to add cards for individual tasks</a:t>
            </a:r>
          </a:p>
          <a:p>
            <a:pPr marL="34290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把每个故事拆成任务卡贴到任务板上</a:t>
            </a:r>
          </a:p>
          <a:p>
            <a:pPr marL="8001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altLang="zh-CN" sz="1500" b="1" dirty="0">
                <a:solidFill>
                  <a:srgbClr val="FFFFFF"/>
                </a:solidFill>
                <a:latin typeface="Arial"/>
              </a:rPr>
              <a:t>Tasks can be written code, create design and architecture, and all those other things that teams really do every day to build and release software</a:t>
            </a:r>
          </a:p>
          <a:p>
            <a:pPr marL="34290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任务可以是写代码、做设计和架构、以及团队每天为发布软件真正要干的所有事——调研、文档、会议纪要也算；组员摆烂时就让他做这些，板子上要体现每个人的工作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88136" y="384048"/>
            <a:ext cx="8229600" cy="86868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3000" b="1" dirty="0">
                <a:solidFill>
                  <a:srgbClr val="FFFFFF"/>
                </a:solidFill>
                <a:latin typeface="Arial"/>
              </a:rPr>
              <a:t>Burndown Charts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altLang="zh-CN" sz="1600" b="0" dirty="0">
                <a:solidFill>
                  <a:srgbClr val="BDD7EE"/>
                </a:solidFill>
                <a:latin typeface="Arial"/>
              </a:rPr>
              <a:t>燃尽图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" y="1371600"/>
            <a:ext cx="6583680" cy="475488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342900" indent="-342900"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US" altLang="zh-CN" sz="1600" b="1" dirty="0">
                <a:solidFill>
                  <a:srgbClr val="FFFFFF"/>
                </a:solidFill>
                <a:latin typeface="Arial"/>
              </a:rPr>
              <a:t>Tracks the </a:t>
            </a:r>
            <a:r>
              <a:rPr lang="en-US" altLang="zh-CN" sz="1600" b="1" dirty="0">
                <a:solidFill>
                  <a:srgbClr val="F4B183"/>
                </a:solidFill>
                <a:latin typeface="Arial"/>
              </a:rPr>
              <a:t>completion of development work</a:t>
            </a:r>
            <a:r>
              <a:rPr lang="en-US" altLang="zh-CN" sz="1600" b="1" dirty="0">
                <a:solidFill>
                  <a:srgbClr val="FFFFFF"/>
                </a:solidFill>
                <a:latin typeface="Arial"/>
              </a:rPr>
              <a:t> throughout the Sprint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跟踪整个 Sprint 里工作的完成情况：纵轴剩余故事点，横轴天数</a:t>
            </a:r>
          </a:p>
          <a:p>
            <a:pPr marL="342900" indent="-342900"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US" altLang="zh-CN" sz="1600" b="1" dirty="0">
                <a:solidFill>
                  <a:srgbClr val="FFFFFF"/>
                </a:solidFill>
                <a:latin typeface="Arial"/>
              </a:rPr>
              <a:t>Should be </a:t>
            </a:r>
            <a:r>
              <a:rPr lang="en-US" altLang="zh-CN" sz="1600" b="1" dirty="0">
                <a:solidFill>
                  <a:srgbClr val="F4B183"/>
                </a:solidFill>
                <a:latin typeface="Arial"/>
              </a:rPr>
              <a:t>visible to everyone</a:t>
            </a:r>
            <a:r>
              <a:rPr lang="en-US" altLang="zh-CN" sz="1600" b="1" dirty="0">
                <a:solidFill>
                  <a:srgbClr val="FFFFFF"/>
                </a:solidFill>
                <a:latin typeface="Arial"/>
              </a:rPr>
              <a:t> in the team (e.g., whiteboard, wall chart, online tool)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对团队所有人可见——白板、墙贴、在线工具都行</a:t>
            </a:r>
          </a:p>
          <a:p>
            <a:pPr marL="8001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altLang="zh-CN" sz="1300" b="1" dirty="0">
                <a:solidFill>
                  <a:srgbClr val="FFFFFF"/>
                </a:solidFill>
                <a:latin typeface="Arial"/>
              </a:rPr>
              <a:t>First half of the Sprint planning: story points and velocity to figure out what will go into the Sprint</a:t>
            </a:r>
          </a:p>
          <a:p>
            <a:pPr marL="34290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起点 = 计划会定下的总故事点</a:t>
            </a:r>
          </a:p>
          <a:p>
            <a:pPr marL="342900" indent="-342900"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US" altLang="zh-CN" sz="1600" b="1" dirty="0">
                <a:solidFill>
                  <a:srgbClr val="FFFFFF"/>
                </a:solidFill>
                <a:latin typeface="Arial"/>
              </a:rPr>
              <a:t>Good estimation and planning should help the team to </a:t>
            </a:r>
            <a:r>
              <a:rPr lang="en-US" altLang="zh-CN" sz="1600" b="1" dirty="0">
                <a:solidFill>
                  <a:srgbClr val="F4B183"/>
                </a:solidFill>
                <a:latin typeface="Arial"/>
              </a:rPr>
              <a:t>burn stories</a:t>
            </a:r>
            <a:r>
              <a:rPr lang="en-US" altLang="zh-CN" sz="1600" b="1" dirty="0">
                <a:solidFill>
                  <a:srgbClr val="FFFFFF"/>
                </a:solidFill>
                <a:latin typeface="Arial"/>
              </a:rPr>
              <a:t> relatively with similar pace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估算和计划做得好，实际曲线就贴近"理想燃尽线"匀速下降</a:t>
            </a:r>
          </a:p>
          <a:p>
            <a:pPr marL="342900" indent="-342900"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US" altLang="zh-CN" sz="1600" b="1" dirty="0">
                <a:solidFill>
                  <a:srgbClr val="F4B183"/>
                </a:solidFill>
                <a:latin typeface="Arial"/>
              </a:rPr>
              <a:t>Ideal burndown</a:t>
            </a:r>
            <a:r>
              <a:rPr lang="en-US" altLang="zh-CN" sz="1600" b="1" dirty="0">
                <a:solidFill>
                  <a:srgbClr val="FFFFFF"/>
                </a:solidFill>
                <a:latin typeface="Arial"/>
              </a:rPr>
              <a:t> / “Two stories worth 7 points burned off”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图中：24 点起步，第 5 天做完两个故事共 7 点，剩 17 点</a:t>
            </a:r>
          </a:p>
        </p:txBody>
      </p:sp>
      <p:pic>
        <p:nvPicPr>
          <p:cNvPr id="4" name="Picture 3" descr="burndown_s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7576" y="2218209"/>
            <a:ext cx="3758183" cy="2695901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88136" y="384048"/>
            <a:ext cx="8229600" cy="86868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3000" b="1" dirty="0">
                <a:solidFill>
                  <a:srgbClr val="FFFFFF"/>
                </a:solidFill>
                <a:latin typeface="Arial"/>
              </a:rPr>
              <a:t>Estimating Progress – Velocity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altLang="zh-CN" sz="1600" b="0" dirty="0">
                <a:solidFill>
                  <a:srgbClr val="BDD7EE"/>
                </a:solidFill>
                <a:latin typeface="Arial"/>
              </a:rPr>
              <a:t>进度估计：速度（Velocity）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" y="1371600"/>
            <a:ext cx="6400800" cy="475488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altLang="zh-CN" sz="1600" b="1" dirty="0">
                <a:solidFill>
                  <a:srgbClr val="FFFFFF"/>
                </a:solidFill>
                <a:latin typeface="Arial"/>
              </a:rPr>
              <a:t>A measure of a team’s </a:t>
            </a:r>
            <a:r>
              <a:rPr lang="en-US" altLang="zh-CN" sz="1600" b="1" dirty="0">
                <a:solidFill>
                  <a:srgbClr val="F4B183"/>
                </a:solidFill>
                <a:latin typeface="Arial"/>
              </a:rPr>
              <a:t>rate of progress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衡量团队推进速度的指标</a:t>
            </a:r>
          </a:p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altLang="zh-CN" sz="1600" b="1" dirty="0">
                <a:solidFill>
                  <a:srgbClr val="FFFFFF"/>
                </a:solidFill>
                <a:latin typeface="Arial"/>
              </a:rPr>
              <a:t>Sum the number of </a:t>
            </a:r>
            <a:r>
              <a:rPr lang="en-US" altLang="zh-CN" sz="1600" b="1" dirty="0">
                <a:solidFill>
                  <a:srgbClr val="F4B183"/>
                </a:solidFill>
                <a:latin typeface="Arial"/>
              </a:rPr>
              <a:t>story points</a:t>
            </a:r>
            <a:r>
              <a:rPr lang="en-US" altLang="zh-CN" sz="1600" b="1" dirty="0">
                <a:solidFill>
                  <a:srgbClr val="FFFFFF"/>
                </a:solidFill>
                <a:latin typeface="Arial"/>
              </a:rPr>
              <a:t> assigned to each user story that the team </a:t>
            </a:r>
            <a:r>
              <a:rPr lang="en-US" altLang="zh-CN" sz="1600" b="1" dirty="0">
                <a:solidFill>
                  <a:srgbClr val="F4B183"/>
                </a:solidFill>
                <a:latin typeface="Arial"/>
              </a:rPr>
              <a:t>completed</a:t>
            </a:r>
            <a:r>
              <a:rPr lang="en-US" altLang="zh-CN" sz="1600" b="1" dirty="0">
                <a:solidFill>
                  <a:srgbClr val="FFFFFF"/>
                </a:solidFill>
                <a:latin typeface="Arial"/>
              </a:rPr>
              <a:t> during the iteration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= 这一轮做完的所有故事的故事点之和（没做完的不算）</a:t>
            </a:r>
          </a:p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altLang="zh-CN" sz="1600" b="1" dirty="0">
                <a:solidFill>
                  <a:srgbClr val="FFFFFF"/>
                </a:solidFill>
                <a:latin typeface="Arial"/>
              </a:rPr>
              <a:t>Example: A team completed 3 stories, 5 SPs each → velocity = 15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例子：做完 3 个故事，每个 5 点 → 速度 = 15；下轮计划就按 15 点左右装</a:t>
            </a:r>
          </a:p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altLang="zh-CN" sz="1600" b="1" dirty="0">
                <a:solidFill>
                  <a:srgbClr val="F4B183"/>
                </a:solidFill>
                <a:latin typeface="Arial"/>
              </a:rPr>
              <a:t>Velocity Chart</a:t>
            </a:r>
            <a:r>
              <a:rPr lang="en-US" altLang="zh-CN" sz="1600" b="1" dirty="0">
                <a:solidFill>
                  <a:srgbClr val="FFFFFF"/>
                </a:solidFill>
                <a:latin typeface="Arial"/>
              </a:rPr>
              <a:t>: tracks the amount of work from Sprint to Sprint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右图：每个 Sprint 的承诺（Commitment）vs 实际完成（Work completed）</a:t>
            </a:r>
          </a:p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altLang="zh-CN" sz="1600" b="1" dirty="0">
                <a:solidFill>
                  <a:srgbClr val="FFFFFF"/>
                </a:solidFill>
                <a:latin typeface="Arial"/>
              </a:rPr>
              <a:t>https://confluence.atlassian.com/jirasoftwareserver/velocity-chart-938845700.html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几轮之后速度会稳定下来，估算也就越来越准。讲师：你们大多数情况不用盯燃尽图和速度图，只看 Backlog 里还剩多少任务</a:t>
            </a:r>
          </a:p>
        </p:txBody>
      </p:sp>
      <p:pic>
        <p:nvPicPr>
          <p:cNvPr id="4" name="Picture 3" descr="velocity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4696" y="2197772"/>
            <a:ext cx="3941064" cy="2736774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88136" y="384048"/>
            <a:ext cx="8229600" cy="86868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3000" b="1" dirty="0">
                <a:solidFill>
                  <a:srgbClr val="FFFFFF"/>
                </a:solidFill>
                <a:latin typeface="Arial"/>
              </a:rPr>
              <a:t>Tool Support for Agile SW Development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altLang="zh-CN" sz="1600" b="0" dirty="0">
                <a:solidFill>
                  <a:srgbClr val="BDD7EE"/>
                </a:solidFill>
                <a:latin typeface="Arial"/>
              </a:rPr>
              <a:t>工具支持：Jira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" y="1371600"/>
            <a:ext cx="5303520" cy="475488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342900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500" b="1" dirty="0">
                <a:solidFill>
                  <a:srgbClr val="F4B183"/>
                </a:solidFill>
                <a:latin typeface="Arial"/>
              </a:rPr>
              <a:t>JIRA</a:t>
            </a:r>
            <a:r>
              <a:rPr lang="en-US" altLang="zh-CN" sz="1500" b="1" dirty="0">
                <a:solidFill>
                  <a:srgbClr val="FFFFFF"/>
                </a:solidFill>
                <a:latin typeface="Arial"/>
              </a:rPr>
              <a:t> is a software tool for planning, tracking and managing software development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Jira：Atlassian 出的项目管理工具，业界最常用；本课程简化只用 GitLab，capstone 9900 才用 Jira；Jira 现在收费不便宜，课上不展开。GitLab Issue Board 是同类功能但不太好用，愿意的话可以自学 Jira</a:t>
            </a:r>
          </a:p>
          <a:p>
            <a:pPr marL="8001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altLang="zh-CN" sz="1200" b="1" dirty="0">
                <a:solidFill>
                  <a:srgbClr val="FFFFFF"/>
                </a:solidFill>
                <a:latin typeface="Arial"/>
              </a:rPr>
              <a:t>Supports different agile methodologies including Scrum and Kanban</a:t>
            </a:r>
          </a:p>
          <a:p>
            <a:pPr marL="342900" indent="0">
              <a:spcBef>
                <a:spcPts val="100"/>
              </a:spcBef>
              <a:buNone/>
            </a:pPr>
            <a:r>
              <a:rPr lang="en-US" altLang="zh-CN" sz="1100" b="0" dirty="0">
                <a:solidFill>
                  <a:srgbClr val="BDD7EE"/>
                </a:solidFill>
                <a:latin typeface="Arial"/>
              </a:rPr>
              <a:t>支持 Scrum 和看板（Kanban）</a:t>
            </a:r>
          </a:p>
          <a:p>
            <a:pPr marL="342900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500" b="1" dirty="0">
                <a:solidFill>
                  <a:srgbClr val="FFFFFF"/>
                </a:solidFill>
                <a:latin typeface="Arial"/>
              </a:rPr>
              <a:t>Jira supports Scrum </a:t>
            </a:r>
            <a:r>
              <a:rPr lang="en-US" altLang="zh-CN" sz="1500" b="1" dirty="0">
                <a:solidFill>
                  <a:srgbClr val="F4B183"/>
                </a:solidFill>
                <a:latin typeface="Arial"/>
              </a:rPr>
              <a:t>Sprint planning</a:t>
            </a:r>
            <a:r>
              <a:rPr lang="en-US" altLang="zh-CN" sz="1500" b="1" dirty="0">
                <a:solidFill>
                  <a:srgbClr val="FFFFFF"/>
                </a:solidFill>
                <a:latin typeface="Arial"/>
              </a:rPr>
              <a:t>, </a:t>
            </a:r>
            <a:r>
              <a:rPr lang="en-US" altLang="zh-CN" sz="1500" b="1" dirty="0">
                <a:solidFill>
                  <a:srgbClr val="F4B183"/>
                </a:solidFill>
                <a:latin typeface="Arial"/>
              </a:rPr>
              <a:t>stand ups</a:t>
            </a:r>
            <a:r>
              <a:rPr lang="en-US" altLang="zh-CN" sz="1500" b="1" dirty="0">
                <a:solidFill>
                  <a:srgbClr val="FFFFFF"/>
                </a:solidFill>
                <a:latin typeface="Arial"/>
              </a:rPr>
              <a:t> (daily scrums), Sprints and </a:t>
            </a:r>
            <a:r>
              <a:rPr lang="en-US" altLang="zh-CN" sz="1500" b="1" dirty="0">
                <a:solidFill>
                  <a:srgbClr val="F4B183"/>
                </a:solidFill>
                <a:latin typeface="Arial"/>
              </a:rPr>
              <a:t>retrospectives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覆盖 Scrum 全流程</a:t>
            </a:r>
          </a:p>
          <a:p>
            <a:pPr marL="342900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500" b="1" dirty="0">
                <a:solidFill>
                  <a:srgbClr val="FFFFFF"/>
                </a:solidFill>
                <a:latin typeface="Arial"/>
              </a:rPr>
              <a:t>Including backlog management, project and issue tracking, agile reporting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Backlog 管理、问题跟踪、敏捷报表</a:t>
            </a:r>
          </a:p>
          <a:p>
            <a:pPr marL="8001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altLang="zh-CN" sz="1200" b="1" dirty="0">
                <a:solidFill>
                  <a:srgbClr val="FFFFFF"/>
                </a:solidFill>
                <a:latin typeface="Arial"/>
              </a:rPr>
              <a:t>E.g., Burndown and velocity charts, Sprint report</a:t>
            </a:r>
          </a:p>
          <a:p>
            <a:pPr marL="342900" indent="0">
              <a:spcBef>
                <a:spcPts val="100"/>
              </a:spcBef>
              <a:buNone/>
            </a:pPr>
            <a:r>
              <a:rPr lang="en-US" altLang="zh-CN" sz="1100" b="0" dirty="0">
                <a:solidFill>
                  <a:srgbClr val="BDD7EE"/>
                </a:solidFill>
                <a:latin typeface="Arial"/>
              </a:rPr>
              <a:t>燃尽图、速度图、Sprint 报告都自动生成</a:t>
            </a:r>
          </a:p>
          <a:p>
            <a:pPr marL="342900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500" b="1" dirty="0">
                <a:solidFill>
                  <a:srgbClr val="F4B183"/>
                </a:solidFill>
                <a:latin typeface="Arial"/>
              </a:rPr>
              <a:t>Scrum boards</a:t>
            </a:r>
            <a:r>
              <a:rPr lang="en-US" altLang="zh-CN" sz="1500" b="1" dirty="0">
                <a:solidFill>
                  <a:srgbClr val="FFFFFF"/>
                </a:solidFill>
                <a:latin typeface="Arial"/>
              </a:rPr>
              <a:t> visualize all the work in a given Sprint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右图：Scrum Board 把本轮工作可视化——GitLab Issue Board 是同类功能；很多团队在 Done 前再加一列 Code Review（合并前必须有人审代码，业界最佳实践）</a:t>
            </a:r>
          </a:p>
          <a:p>
            <a:pPr marL="342900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500" b="1" dirty="0">
                <a:solidFill>
                  <a:srgbClr val="FFFFFF"/>
                </a:solidFill>
                <a:latin typeface="Arial"/>
              </a:rPr>
              <a:t>https://www.atlassian.com/software/jira/agile</a:t>
            </a:r>
          </a:p>
        </p:txBody>
      </p:sp>
      <p:pic>
        <p:nvPicPr>
          <p:cNvPr id="4" name="Picture 3" descr="jira_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7416" y="2146661"/>
            <a:ext cx="5038344" cy="2838997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88136" y="384048"/>
            <a:ext cx="8229600" cy="86868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3000" b="1" dirty="0">
                <a:solidFill>
                  <a:srgbClr val="FFFFFF"/>
                </a:solidFill>
                <a:latin typeface="Arial"/>
              </a:rPr>
              <a:t>Jira Agile – Sprint Planning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altLang="zh-CN" sz="1600" b="0" dirty="0">
                <a:solidFill>
                  <a:srgbClr val="BDD7EE"/>
                </a:solidFill>
                <a:latin typeface="Arial"/>
              </a:rPr>
              <a:t>Jira 里的 Sprint 计划界面</a:t>
            </a:r>
          </a:p>
        </p:txBody>
      </p:sp>
      <p:pic>
        <p:nvPicPr>
          <p:cNvPr id="3" name="Picture 2" descr="jira_plan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94858"/>
            <a:ext cx="6949440" cy="408540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26680" y="1280160"/>
            <a:ext cx="3977639" cy="475488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altLang="zh-CN" sz="1500" b="1" dirty="0">
                <a:solidFill>
                  <a:srgbClr val="F4B183"/>
                </a:solidFill>
                <a:latin typeface="Arial"/>
              </a:rPr>
              <a:t>Backlog</a:t>
            </a:r>
            <a:r>
              <a:rPr lang="en-US" altLang="zh-CN" sz="1500" b="1" dirty="0">
                <a:solidFill>
                  <a:srgbClr val="FFFFFF"/>
                </a:solidFill>
                <a:latin typeface="Arial"/>
              </a:rPr>
              <a:t> view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上半部分：当前 Sprint 的条目；下半部分：还没排进 Sprint 的 Backlog</a:t>
            </a:r>
          </a:p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altLang="zh-CN" sz="1500" b="1" dirty="0">
                <a:solidFill>
                  <a:srgbClr val="FFFFFF"/>
                </a:solidFill>
                <a:latin typeface="Arial"/>
              </a:rPr>
              <a:t>Drag items into a Sprint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把条目拖进 Sprint，就完成了"选本轮要做的"</a:t>
            </a:r>
          </a:p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altLang="zh-CN" sz="1500" b="1" dirty="0">
                <a:solidFill>
                  <a:srgbClr val="FFFFFF"/>
                </a:solidFill>
                <a:latin typeface="Arial"/>
              </a:rPr>
              <a:t>Each item: key, summary, status, story points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每条显示编号、标题、状态、故事点</a:t>
            </a:r>
          </a:p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altLang="zh-CN" sz="1500" b="1" dirty="0">
                <a:solidFill>
                  <a:srgbClr val="FFFFFF"/>
                </a:solidFill>
                <a:latin typeface="Arial"/>
              </a:rPr>
              <a:t>https://www.atlassian.com/software/jira/agile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你们在 GitLab 里的对应操作：给 Issue 指定 Milestone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88136" y="384048"/>
            <a:ext cx="8229600" cy="86868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3000" b="1" dirty="0">
                <a:solidFill>
                  <a:srgbClr val="FFFFFF"/>
                </a:solidFill>
                <a:latin typeface="Arial"/>
              </a:rPr>
              <a:t>Burndown Charts (in Jira)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altLang="zh-CN" sz="1600" b="0" dirty="0">
                <a:solidFill>
                  <a:srgbClr val="BDD7EE"/>
                </a:solidFill>
                <a:latin typeface="Arial"/>
              </a:rPr>
              <a:t>Jira 里的燃尽图</a:t>
            </a:r>
          </a:p>
        </p:txBody>
      </p:sp>
      <p:pic>
        <p:nvPicPr>
          <p:cNvPr id="3" name="Picture 2" descr="burndown_ji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49342"/>
            <a:ext cx="7498079" cy="247915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75320" y="1280160"/>
            <a:ext cx="3429000" cy="475488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342900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rgbClr val="FFFFFF"/>
                </a:solidFill>
                <a:latin typeface="Arial"/>
              </a:rPr>
              <a:t>“</a:t>
            </a:r>
            <a:r>
              <a:rPr lang="en-US" altLang="zh-CN" sz="1400" b="1" dirty="0">
                <a:solidFill>
                  <a:srgbClr val="F4B183"/>
                </a:solidFill>
                <a:latin typeface="Arial"/>
              </a:rPr>
              <a:t>Burndown</a:t>
            </a:r>
            <a:r>
              <a:rPr lang="en-US" altLang="zh-CN" sz="1400" b="1" dirty="0">
                <a:solidFill>
                  <a:srgbClr val="FFFFFF"/>
                </a:solidFill>
                <a:latin typeface="Arial"/>
              </a:rPr>
              <a:t>” chart tracks the amount of estimated effort remaining in a sprint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燃尽图跟踪 Sprint 里"剩余的估算工作量"</a:t>
            </a:r>
          </a:p>
          <a:p>
            <a:pPr marL="8001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altLang="zh-CN" sz="1100" b="1" dirty="0">
                <a:solidFill>
                  <a:srgbClr val="FFFFFF"/>
                </a:solidFill>
                <a:latin typeface="Arial"/>
              </a:rPr>
              <a:t>Maintained daily by the Scrum Master</a:t>
            </a:r>
          </a:p>
          <a:p>
            <a:pPr marL="342900" indent="0">
              <a:spcBef>
                <a:spcPts val="100"/>
              </a:spcBef>
              <a:buNone/>
            </a:pPr>
            <a:r>
              <a:rPr lang="en-US" altLang="zh-CN" sz="1100" b="0" dirty="0">
                <a:solidFill>
                  <a:srgbClr val="BDD7EE"/>
                </a:solidFill>
                <a:latin typeface="Arial"/>
              </a:rPr>
              <a:t>由 SM 每天维护（工具里自动更新）</a:t>
            </a:r>
          </a:p>
          <a:p>
            <a:pPr marL="342900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rgbClr val="FFFFFF"/>
                </a:solidFill>
                <a:latin typeface="Arial"/>
              </a:rPr>
              <a:t>1. estimation in story points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纵轴：故事点</a:t>
            </a:r>
          </a:p>
          <a:p>
            <a:pPr marL="342900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rgbClr val="FFFFFF"/>
                </a:solidFill>
                <a:latin typeface="Arial"/>
              </a:rPr>
              <a:t>2. amount of work left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红线：实际剩余工作量</a:t>
            </a:r>
          </a:p>
          <a:p>
            <a:pPr marL="342900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rgbClr val="FFFFFF"/>
                </a:solidFill>
                <a:latin typeface="Arial"/>
              </a:rPr>
              <a:t>3. Guideline; ideal progress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灰线：理想进度参考线</a:t>
            </a:r>
          </a:p>
          <a:p>
            <a:pPr marL="342900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rgbClr val="FFFFFF"/>
                </a:solidFill>
                <a:latin typeface="Arial"/>
              </a:rPr>
              <a:t>https://www.atlassian.com/agile/tutorials/burndown-charts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红线在灰线上方 = 落后；下方 = 超前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80160" y="2377440"/>
            <a:ext cx="9692640" cy="201168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4000" b="1" dirty="0">
                <a:solidFill>
                  <a:srgbClr val="FFFFFF"/>
                </a:solidFill>
                <a:latin typeface="Arial"/>
              </a:rPr>
              <a:t>Version Control – Remote Collaboration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altLang="zh-CN" sz="2600" b="0" dirty="0">
                <a:solidFill>
                  <a:srgbClr val="BDD7EE"/>
                </a:solidFill>
                <a:latin typeface="Arial"/>
              </a:rPr>
              <a:t>版本控制：远程协作</a:t>
            </a:r>
          </a:p>
          <a:p>
            <a:pPr marL="0" indent="0">
              <a:spcBef>
                <a:spcPts val="1400"/>
              </a:spcBef>
              <a:buNone/>
            </a:pPr>
            <a:r>
              <a:rPr lang="en-US" altLang="zh-CN" sz="1600" b="0" dirty="0">
                <a:solidFill>
                  <a:srgbClr val="BDD7EE"/>
                </a:solidFill>
                <a:latin typeface="Arial"/>
              </a:rPr>
              <a:t>Git / GitLab Collaboration (revisit)——回顾第 1 周讲的 Git，项目里每个人都要会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88136" y="384048"/>
            <a:ext cx="8229600" cy="86868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3000" b="1" dirty="0">
                <a:solidFill>
                  <a:srgbClr val="FFFFFF"/>
                </a:solidFill>
                <a:latin typeface="Arial"/>
              </a:rPr>
              <a:t>Version Control – Local and Remote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altLang="zh-CN" sz="1600" b="0" dirty="0">
                <a:solidFill>
                  <a:srgbClr val="BDD7EE"/>
                </a:solidFill>
                <a:latin typeface="Arial"/>
              </a:rPr>
              <a:t>本地与远程</a:t>
            </a:r>
          </a:p>
        </p:txBody>
      </p:sp>
      <p:pic>
        <p:nvPicPr>
          <p:cNvPr id="3" name="Picture 2" descr="vc_remo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22803"/>
            <a:ext cx="5303520" cy="40867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80759" y="1280160"/>
            <a:ext cx="5623560" cy="475488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342900" indent="-342900"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US" altLang="zh-CN" sz="1600" b="1" dirty="0">
                <a:solidFill>
                  <a:srgbClr val="F4B183"/>
                </a:solidFill>
                <a:latin typeface="Arial"/>
              </a:rPr>
              <a:t>YOUR MACHINE</a:t>
            </a:r>
            <a:r>
              <a:rPr lang="en-US" altLang="zh-CN" sz="1600" b="1" dirty="0">
                <a:solidFill>
                  <a:srgbClr val="FFFFFF"/>
                </a:solidFill>
                <a:latin typeface="Arial"/>
              </a:rPr>
              <a:t>: working directory → staging area → local repo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本地三个区域：工作目录 → 暂存区 → 本地仓库</a:t>
            </a:r>
          </a:p>
          <a:p>
            <a:pPr marL="8001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altLang="zh-CN" sz="1300" b="1" dirty="0">
                <a:solidFill>
                  <a:srgbClr val="F4B183"/>
                </a:solidFill>
                <a:latin typeface="Arial"/>
              </a:rPr>
              <a:t>git add</a:t>
            </a:r>
          </a:p>
          <a:p>
            <a:pPr marL="34290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把改动放进暂存区</a:t>
            </a:r>
          </a:p>
          <a:p>
            <a:pPr marL="8001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altLang="zh-CN" sz="1300" b="1" dirty="0">
                <a:solidFill>
                  <a:srgbClr val="F4B183"/>
                </a:solidFill>
                <a:latin typeface="Arial"/>
              </a:rPr>
              <a:t>git commit</a:t>
            </a:r>
          </a:p>
          <a:p>
            <a:pPr marL="34290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把暂存区内容存成一个提交，进本地仓库</a:t>
            </a:r>
          </a:p>
          <a:p>
            <a:pPr marL="342900" indent="-342900"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US" altLang="zh-CN" sz="1600" b="1" dirty="0">
                <a:solidFill>
                  <a:srgbClr val="F4B183"/>
                </a:solidFill>
                <a:latin typeface="Arial"/>
              </a:rPr>
              <a:t>GITLAB</a:t>
            </a:r>
            <a:r>
              <a:rPr lang="en-US" altLang="zh-CN" sz="1600" b="1" dirty="0">
                <a:solidFill>
                  <a:srgbClr val="FFFFFF"/>
                </a:solidFill>
                <a:latin typeface="Arial"/>
              </a:rPr>
              <a:t>: remote repo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远程仓库在 GitLab 上，全组共用</a:t>
            </a:r>
          </a:p>
          <a:p>
            <a:pPr marL="8001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altLang="zh-CN" sz="1300" b="1" dirty="0">
                <a:solidFill>
                  <a:srgbClr val="F4B183"/>
                </a:solidFill>
                <a:latin typeface="Arial"/>
              </a:rPr>
              <a:t>git push</a:t>
            </a:r>
          </a:p>
          <a:p>
            <a:pPr marL="34290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把本地提交推到远程——队友才看得到</a:t>
            </a:r>
          </a:p>
          <a:p>
            <a:pPr marL="8001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altLang="zh-CN" sz="1300" b="1" dirty="0">
                <a:solidFill>
                  <a:srgbClr val="F4B183"/>
                </a:solidFill>
                <a:latin typeface="Arial"/>
              </a:rPr>
              <a:t>git pull</a:t>
            </a:r>
          </a:p>
          <a:p>
            <a:pPr marL="34290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把远程的新提交拉到本地——开工前先 pull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88136" y="384048"/>
            <a:ext cx="8229600" cy="86868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3000" b="1" dirty="0">
                <a:solidFill>
                  <a:srgbClr val="FFFFFF"/>
                </a:solidFill>
                <a:latin typeface="Arial"/>
              </a:rPr>
              <a:t>Version Control – Branching and Merging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altLang="zh-CN" sz="1600" b="0" dirty="0">
                <a:solidFill>
                  <a:srgbClr val="BDD7EE"/>
                </a:solidFill>
                <a:latin typeface="Arial"/>
              </a:rPr>
              <a:t>分支与合并</a:t>
            </a:r>
          </a:p>
        </p:txBody>
      </p:sp>
      <p:pic>
        <p:nvPicPr>
          <p:cNvPr id="3" name="Picture 2" descr="branch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68902"/>
            <a:ext cx="6766559" cy="355443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543800" y="1280160"/>
            <a:ext cx="4160520" cy="475488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altLang="zh-CN" sz="1500" b="1" dirty="0">
                <a:solidFill>
                  <a:srgbClr val="FFFFFF"/>
                </a:solidFill>
                <a:latin typeface="Arial"/>
              </a:rPr>
              <a:t>A </a:t>
            </a:r>
            <a:r>
              <a:rPr lang="en-US" altLang="zh-CN" sz="1500" b="1" dirty="0">
                <a:solidFill>
                  <a:srgbClr val="F4B183"/>
                </a:solidFill>
                <a:latin typeface="Arial"/>
              </a:rPr>
              <a:t>branch</a:t>
            </a:r>
            <a:r>
              <a:rPr lang="en-US" altLang="zh-CN" sz="1500" b="1" dirty="0">
                <a:solidFill>
                  <a:srgbClr val="FFFFFF"/>
                </a:solidFill>
                <a:latin typeface="Arial"/>
              </a:rPr>
              <a:t> lets you work on the same files without disturbing each other.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分支让你和队友改同一批文件而互不干扰：各自在自己的分支上提交，最后合并回主线——每个 Issue 开一个分支</a:t>
            </a:r>
          </a:p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altLang="zh-CN" sz="1500" b="1" dirty="0">
                <a:solidFill>
                  <a:srgbClr val="F4B183"/>
                </a:solidFill>
                <a:latin typeface="Arial"/>
              </a:rPr>
              <a:t>Your Work</a:t>
            </a:r>
            <a:r>
              <a:rPr lang="en-US" altLang="zh-CN" sz="1500" b="1" dirty="0">
                <a:solidFill>
                  <a:srgbClr val="FFFFFF"/>
                </a:solidFill>
                <a:latin typeface="Arial"/>
              </a:rPr>
              <a:t> (blue) / </a:t>
            </a:r>
            <a:r>
              <a:rPr lang="en-US" altLang="zh-CN" sz="1500" b="1" dirty="0">
                <a:solidFill>
                  <a:srgbClr val="F4B183"/>
                </a:solidFill>
                <a:latin typeface="Arial"/>
              </a:rPr>
              <a:t>Someone Else’s Work</a:t>
            </a:r>
            <a:r>
              <a:rPr lang="en-US" altLang="zh-CN" sz="1500" b="1" dirty="0">
                <a:solidFill>
                  <a:srgbClr val="FFFFFF"/>
                </a:solidFill>
                <a:latin typeface="Arial"/>
              </a:rPr>
              <a:t> (orange) / </a:t>
            </a:r>
            <a:r>
              <a:rPr lang="en-US" altLang="zh-CN" sz="1500" b="1" dirty="0">
                <a:solidFill>
                  <a:srgbClr val="F4B183"/>
                </a:solidFill>
                <a:latin typeface="Arial"/>
              </a:rPr>
              <a:t>Master</a:t>
            </a:r>
            <a:r>
              <a:rPr lang="en-US" altLang="zh-CN" sz="1500" b="1" dirty="0">
                <a:solidFill>
                  <a:srgbClr val="FFFFFF"/>
                </a:solidFill>
                <a:latin typeface="Arial"/>
              </a:rPr>
              <a:t> (green)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蓝色：你的分支；橙色：队友的分支；绿色：主线</a:t>
            </a:r>
          </a:p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altLang="zh-CN" sz="1500" b="1" dirty="0">
                <a:solidFill>
                  <a:srgbClr val="FFFFFF"/>
                </a:solidFill>
                <a:latin typeface="Arial"/>
              </a:rPr>
              <a:t>(The diagram says Master; in our repositories, that branch is called main.)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注意：图里叫 Master，你们 GitLab 仓库里主分支叫 main</a:t>
            </a:r>
          </a:p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altLang="zh-CN" sz="1500" b="1" dirty="0">
                <a:solidFill>
                  <a:srgbClr val="FFFFFF"/>
                </a:solidFill>
                <a:latin typeface="Arial"/>
              </a:rPr>
              <a:t>Merge back via Merge Request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合并时在 GitLab 上发 Merge Request，让队友 review 再合——这是评分会看的团队实践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88136" y="384048"/>
            <a:ext cx="8229600" cy="86868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3000" b="1" dirty="0">
                <a:solidFill>
                  <a:srgbClr val="FFFFFF"/>
                </a:solidFill>
                <a:latin typeface="Arial"/>
              </a:rPr>
              <a:t>References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altLang="zh-CN" sz="1600" b="0" dirty="0">
                <a:solidFill>
                  <a:srgbClr val="BDD7EE"/>
                </a:solidFill>
                <a:latin typeface="Arial"/>
              </a:rPr>
              <a:t>参考资料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" y="1325880"/>
            <a:ext cx="9966960" cy="484632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342900" indent="-3429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CN" sz="1600" b="1" dirty="0">
                <a:solidFill>
                  <a:srgbClr val="FFFFFF"/>
                </a:solidFill>
                <a:latin typeface="Arial"/>
              </a:rPr>
              <a:t>Andrew Stellman, Margaret C. L. Greene 2014. Learning Agile: Understanding Scrum, XP, Lean and Kanban (1st Edition). O’Reilly, CA, USA.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《Learning Agile》：讲 Scrum / XP / Lean / Kanban，入门友好</a:t>
            </a:r>
          </a:p>
          <a:p>
            <a:pPr marL="342900" indent="-3429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CN" sz="1600" b="1" dirty="0">
                <a:solidFill>
                  <a:srgbClr val="FFFFFF"/>
                </a:solidFill>
                <a:latin typeface="Arial"/>
              </a:rPr>
              <a:t>Ian Sommerville. 2016. Software Engineering (10th ed.) Global Edition. Pearson, Essex England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软件工程经典教材</a:t>
            </a:r>
          </a:p>
          <a:p>
            <a:pPr marL="342900" indent="-3429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CN" sz="1600" b="1" dirty="0">
                <a:solidFill>
                  <a:srgbClr val="FFFFFF"/>
                </a:solidFill>
                <a:latin typeface="Arial"/>
              </a:rPr>
              <a:t>Agile Alliance. https://agilealliance.org/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INVEST、术语表都在这</a:t>
            </a:r>
          </a:p>
          <a:p>
            <a:pPr marL="342900" indent="-3429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CN" sz="1600" b="1" dirty="0">
                <a:solidFill>
                  <a:srgbClr val="FFFFFF"/>
                </a:solidFill>
                <a:latin typeface="Arial"/>
              </a:rPr>
              <a:t>Agile Manifesto: https://agilemanifesto.org/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敏捷宣言原文</a:t>
            </a:r>
          </a:p>
          <a:p>
            <a:pPr marL="342900" indent="-3429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CN" sz="1600" b="1" dirty="0">
                <a:solidFill>
                  <a:srgbClr val="FFFFFF"/>
                </a:solidFill>
                <a:latin typeface="Arial"/>
              </a:rPr>
              <a:t>Atlassian Tutorials. https://www.atlassian.com/agile/tutorials/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Jira 出品的敏捷教程，图多好懂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80160" y="1619250"/>
            <a:ext cx="9692640" cy="381000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4400" b="1" dirty="0">
                <a:solidFill>
                  <a:srgbClr val="FFFFFF"/>
                </a:solidFill>
                <a:latin typeface="Arial"/>
              </a:rPr>
              <a:t>Q &amp; A</a:t>
            </a:r>
          </a:p>
          <a:p>
            <a:pPr marL="0" indent="0">
              <a:spcBef>
                <a:spcPts val="1600"/>
              </a:spcBef>
              <a:buNone/>
            </a:pPr>
            <a:r>
              <a:rPr lang="en-US" altLang="zh-CN" sz="1800" b="0" dirty="0">
                <a:solidFill>
                  <a:srgbClr val="BDD7EE"/>
                </a:solidFill>
                <a:latin typeface="Arial"/>
              </a:rPr>
              <a:t>本周要做：把 Proposal 里的需求写成 User Story + Acceptance Criteria，录入 GitLab Issue，打 size 标签、挂 Sprint 1 milestone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1800" b="0" dirty="0">
                <a:solidFill>
                  <a:srgbClr val="BDD7EE"/>
                </a:solidFill>
                <a:latin typeface="Arial"/>
              </a:rPr>
              <a:t>定好组内的 PO / SM，开始每日站会并记录；每个 Sprint 结束按 4 列模板做回顾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1800" b="0" dirty="0">
                <a:solidFill>
                  <a:srgbClr val="BDD7EE"/>
                </a:solidFill>
                <a:latin typeface="Arial"/>
              </a:rPr>
              <a:t>本周必须完成组队（有空位的队伍 tutor 会直接分配）；作业细则正在修改，本周发布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1800" b="0" dirty="0">
                <a:solidFill>
                  <a:srgbClr val="BDD7EE"/>
                </a:solidFill>
                <a:latin typeface="Arial"/>
              </a:rPr>
              <a:t>课后问答：没有期末考试，全部是项目评估；Sprint 1 有脚手架，Sprint 2 起由团队自己主导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1600" b="0" dirty="0">
                <a:solidFill>
                  <a:srgbClr val="BDD7EE"/>
                </a:solidFill>
                <a:latin typeface="Arial"/>
              </a:rPr>
              <a:t>班课问答：Sprint 1 只做分组、分账，不用做登录——这门课重点是管理流程（user story、回顾会、人人参与、每日 / 每周记录），开发次要；站会每天必须开、可线上、15 分钟就能拿很多分；会议纪要全部放 GitLab 仓库里的一个目录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88136" y="384048"/>
            <a:ext cx="8229600" cy="86868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3000" b="1" dirty="0">
                <a:solidFill>
                  <a:srgbClr val="FFFFFF"/>
                </a:solidFill>
                <a:latin typeface="Arial"/>
              </a:rPr>
              <a:t>Git Worktree – Parallel Development with AI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altLang="zh-CN" sz="1600" b="0" dirty="0">
                <a:solidFill>
                  <a:srgbClr val="BDD7EE"/>
                </a:solidFill>
                <a:latin typeface="Arial"/>
              </a:rPr>
              <a:t>Git worktree：配合 AI 并行开发（讲师补充）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" y="1325880"/>
            <a:ext cx="9966960" cy="484632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342900" indent="-342900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One working directory can only have one branch checked out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一个目录同一时间只能停在一个分支上：三个 user story 三条分支，改哪个都得切换，AI 没法并行开发</a:t>
            </a:r>
          </a:p>
          <a:p>
            <a:pPr marL="342900" indent="-342900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git worktree add ../us-01 -b user-story-01  (one folder per story, all from main)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从 main 用 worktree 拉出多个独立目录，各对应一个 user story，互不影响</a:t>
            </a:r>
          </a:p>
          <a:p>
            <a:pPr marL="342900" indent="-342900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Develop in parallel, merge each finished story back into main, then remove the worktree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让 AI 在几个目录里同时开发；哪个先做完就合并回 main，合并后 git worktree remove 删掉</a:t>
            </a:r>
          </a:p>
          <a:p>
            <a:pPr marL="342900" indent="-342900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Tooling: VS Code has built-in worktree support; Orca creates one worktree per issue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VS Code 自带 worktree 支持；讲师推荐 Orca：免费、类 VS Code、按 issue 自动建 worktree、合并后自动删，支持 Claude 和 Codex</a:t>
            </a:r>
          </a:p>
          <a:p>
            <a:pPr marL="342900" indent="-342900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Why it matters: turns AI’s parallelism into real throughput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把 AI 的并行能力真正用起来，开发效率大幅提高——vibe coding 时代的分支用法；感兴趣的同学课后了解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11363</TotalTime>
  <Words>5643</Words>
  <Application>Microsoft Macintosh PowerPoint</Application>
  <PresentationFormat>Widescreen</PresentationFormat>
  <Paragraphs>709</Paragraphs>
  <Slides>56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56</vt:i4>
      </vt:variant>
    </vt:vector>
  </HeadingPairs>
  <TitlesOfParts>
    <vt:vector size="61" baseType="lpstr">
      <vt:lpstr>等线</vt:lpstr>
      <vt:lpstr>Microsoft YaHei UI</vt:lpstr>
      <vt:lpstr>Arial</vt:lpstr>
      <vt:lpstr>Custom Design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YU Jiehu</dc:creator>
  <cp:lastModifiedBy>Rui Mu</cp:lastModifiedBy>
  <cp:revision>81</cp:revision>
  <cp:lastPrinted>2021-09-07T11:02:50Z</cp:lastPrinted>
  <dcterms:created xsi:type="dcterms:W3CDTF">2020-12-24T11:31:06Z</dcterms:created>
  <dcterms:modified xsi:type="dcterms:W3CDTF">2026-09-27T02:26:21Z</dcterms:modified>
</cp:coreProperties>
</file>